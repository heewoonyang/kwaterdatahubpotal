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K-water DataHub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FC3F7"/>
                </a:solidFill>
                <a:latin typeface="맑은 고딕"/>
              </a:defRPr>
            </a:pPr>
            <a:r>
              <a:t>IA (Information Architecture) 재설계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맑은 고딕"/>
              </a:defRPr>
            </a:pPr>
            <a:r>
              <a:t>한국수자원공사 디지털플랫폼 구축사업 — 데이터허브 포털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3657600" cy="2743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v3.0  |  설계 단계  |  UI/UX 프로토타입</a:t>
            </a:r>
          </a:p>
          <a:p>
            <a:pPr>
              <a:spcAft>
                <a:spcPts val="200"/>
              </a:spcAft>
              <a:defRPr sz="8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300" b="0">
                <a:solidFill>
                  <a:srgbClr val="BBBBBB"/>
                </a:solidFill>
                <a:latin typeface="맑은 고딕"/>
              </a:defRPr>
            </a:pPr>
            <a:r>
              <a:t>2026.02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931920"/>
            <a:ext cx="4846320" cy="32004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DDFF"/>
                </a:solidFill>
                <a:latin typeface="맑은 고딕"/>
              </a:defRPr>
            </a:pPr>
            <a:r>
              <a:t>계측DB 4개  (RWIS · HDAPS · GIOS · 스마트미터링)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315968"/>
            <a:ext cx="4846320" cy="32004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DDFF"/>
                </a:solidFill>
                <a:latin typeface="맑은 고딕"/>
              </a:defRPr>
            </a:pPr>
            <a:r>
              <a:t>자산DB 6개  (자산 · 시설 · 수질 · 운영 · 관망통합 · 기상청)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700016"/>
            <a:ext cx="4846320" cy="32004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DDFF"/>
                </a:solidFill>
                <a:latin typeface="맑은 고딕"/>
              </a:defRPr>
            </a:pPr>
            <a:r>
              <a:t>Kafka 실시간 스트리밍  |  CDC 변경데이터 수집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5084064"/>
            <a:ext cx="4846320" cy="32004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DDFF"/>
                </a:solidFill>
                <a:latin typeface="맑은 고딕"/>
              </a:defRPr>
            </a:pPr>
            <a:r>
              <a:t>LLM/AI 질의응답  |  그래프DB 온톨로지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5468112"/>
            <a:ext cx="4846320" cy="320040"/>
          </a:xfrm>
          <a:prstGeom prst="roundRect">
            <a:avLst/>
          </a:prstGeom>
          <a:solidFill>
            <a:srgbClr val="25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CDDFF"/>
                </a:solidFill>
                <a:latin typeface="맑은 고딕"/>
              </a:defRPr>
            </a:pPr>
            <a:r>
              <a:t>DT 5종 API 데이터 연계 제공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40817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프로젝트 개요 및 아키텍처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764792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013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원천시스템 현황 (계측DB 4 + 자산DB 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157984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94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IA 전체 구조 (Top Nav + Sidebar)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551176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① 통합대시보드 상세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944368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98094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② 카탈로그·탐색 상세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337560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37413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③ 수집·정제 상세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730752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673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④ 유통·활용 상세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123944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160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⑤ 메타데이터 관리 상세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517136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55371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⑥ 시스템관리 상세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910328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9469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역할별 접근권한 매트릭스 (RBAC)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303520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3400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화면 플로우 / 네비게이션 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696712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7332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현재 대비 변경점 요약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6089904"/>
            <a:ext cx="50292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6126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744"/>
                </a:solidFill>
                <a:latin typeface="맑은 고딕"/>
              </a:defRPr>
            </a:pPr>
            <a:r>
              <a:t>향후 일정 및 Next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01  프로젝트 개요 및 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371600" cy="50292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사용자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097280"/>
            <a:ext cx="6858000" cy="502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2744"/>
                </a:solidFill>
                <a:latin typeface="맑은 고딕"/>
              </a:defRPr>
            </a:pPr>
            <a:r>
              <a:t>모바일 사용자  |  웹 사용자  |  웹 관리자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371600" cy="502920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서비스계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828800"/>
            <a:ext cx="6858000" cy="502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2744"/>
                </a:solidFill>
                <a:latin typeface="맑은 고딕"/>
              </a:defRPr>
            </a:pPr>
            <a:r>
              <a:t>WEB서버 VM(x4)  |  WAS서버 VM(x4)  |  모니터링서버 VM(x4)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37160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분석계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560320"/>
            <a:ext cx="6858000" cy="502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2744"/>
                </a:solidFill>
                <a:latin typeface="맑은 고딕"/>
              </a:defRPr>
            </a:pPr>
            <a:r>
              <a:t>ODSDB PM(x3)  |  분석DB PM(x4)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371600" cy="5029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온톨로지/AI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291840"/>
            <a:ext cx="6858000" cy="502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2744"/>
                </a:solidFill>
                <a:latin typeface="맑은 고딕"/>
              </a:defRPr>
            </a:pPr>
            <a:r>
              <a:t>LLM GM(x1) GPU:B300  |  그래프DB PM(x1)  |  마인즈DB VM(x4)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1371600" cy="5029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연계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023360"/>
            <a:ext cx="6858000" cy="502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2744"/>
                </a:solidFill>
                <a:latin typeface="맑은 고딕"/>
              </a:defRPr>
            </a:pPr>
            <a:r>
              <a:t>MCP서버 VM(x4)  |  API서버 VM(x4)  →  DT 5종 (정수장/관로/댐/발전/스마트)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137160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수집계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754880"/>
            <a:ext cx="6858000" cy="502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A2744"/>
                </a:solidFill>
                <a:latin typeface="맑은 고딕"/>
              </a:defRPr>
            </a:pPr>
            <a:r>
              <a:t>수집DB PM(x3)  |  카프카 VM(x6)  |  CDC서버 VM(x4)  |  수집Agent VM(x5)  |  프로듀서 VM(x4)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744"/>
                </a:solidFill>
                <a:latin typeface="맑은 고딕"/>
              </a:defRPr>
            </a:pPr>
            <a:r>
              <a:t>원천시스템 (10개 DB)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234440"/>
            <a:ext cx="1371600" cy="2743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맑은 고딕"/>
              </a:defRPr>
            </a:pPr>
            <a:r>
              <a:t>계측DB (4개) — 실시간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737360"/>
            <a:ext cx="2286000" cy="2743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C62828"/>
                </a:solidFill>
                <a:latin typeface="맑은 고딕"/>
              </a:defRPr>
            </a:pPr>
            <a:r>
              <a:t>RWIS (원격수위정보)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057400"/>
            <a:ext cx="2286000" cy="2743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C62828"/>
                </a:solidFill>
                <a:latin typeface="맑은 고딕"/>
              </a:defRPr>
            </a:pPr>
            <a:r>
              <a:t>HDAPS (수력발전자동화)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377440"/>
            <a:ext cx="2286000" cy="2743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C62828"/>
                </a:solidFill>
                <a:latin typeface="맑은 고딕"/>
              </a:defRPr>
            </a:pPr>
            <a:r>
              <a:t>GIOS (지하수관측)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697480"/>
            <a:ext cx="2286000" cy="2743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C62828"/>
                </a:solidFill>
                <a:latin typeface="맑은 고딕"/>
              </a:defRPr>
            </a:pPr>
            <a:r>
              <a:t>스마트미터링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A"/>
                </a:solidFill>
                <a:latin typeface="맑은 고딕"/>
              </a:defRPr>
            </a:pPr>
            <a:r>
              <a:t>자산DB (6개) — CDC/배치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3429000"/>
            <a:ext cx="22860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05BAA"/>
                </a:solidFill>
                <a:latin typeface="맑은 고딕"/>
              </a:defRPr>
            </a:pPr>
            <a:r>
              <a:t>자산DB (SAP)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3749040"/>
            <a:ext cx="22860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05BAA"/>
                </a:solidFill>
                <a:latin typeface="맑은 고딕"/>
              </a:defRPr>
            </a:pPr>
            <a:r>
              <a:t>시설DB (SAP)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4069080"/>
            <a:ext cx="22860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05BAA"/>
                </a:solidFill>
                <a:latin typeface="맑은 고딕"/>
              </a:defRPr>
            </a:pPr>
            <a:r>
              <a:t>수질DB (ORACLE)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4389120"/>
            <a:ext cx="22860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05BAA"/>
                </a:solidFill>
                <a:latin typeface="맑은 고딕"/>
              </a:defRPr>
            </a:pPr>
            <a:r>
              <a:t>운영DB (SAP)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4709160"/>
            <a:ext cx="22860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05BAA"/>
                </a:solidFill>
                <a:latin typeface="맑은 고딕"/>
              </a:defRPr>
            </a:pPr>
            <a:r>
              <a:t>관망통합DB (ORACLE)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5029200"/>
            <a:ext cx="2286000" cy="2743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005BAA"/>
                </a:solidFill>
                <a:latin typeface="맑은 고딕"/>
              </a:defRPr>
            </a:pPr>
            <a:r>
              <a:t>기상청DB (외부 API)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02  원천시스템 현황 — 계측DB 4개 + 자산DB 6개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맑은 고딕"/>
              </a:defRPr>
            </a:pPr>
            <a:r>
              <a:t>실시간 계측DB (4개)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단방향전송장치 / 프로듀서 VM(x4) → 카프카 VM(x6) → 수집DB PM(x3)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664208"/>
            <a:ext cx="2615184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RWIS — 원격수위정보시스템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전국 관측소 수위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실시간 CDC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데이터량: 1,234,567건/일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066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수집주기: 상시 (1분 간격)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64592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8728" y="1664208"/>
            <a:ext cx="2615184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7007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HDAPS — 수력발전자동화시스템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1031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수력발전소 운영 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3042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발전량/수위/유량 통합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054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데이터량: 856,000건/일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066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수집주기: 상시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64592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1664208"/>
            <a:ext cx="2615184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7007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GIOS — 지하수관측시스템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1031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전국 지하수 관정 데이터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042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지하수위/수온/수질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5054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데이터량: 432,000건/일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7066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수집주기: 10분 간격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64592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16568" y="1664208"/>
            <a:ext cx="2615184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7007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스마트미터링 — 원격검침시스템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1031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스마트 수도미터 검침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3042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가정/산업용 사용량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5054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데이터량: 2,800,000건/일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7066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수집주기: 상시 (실시간)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BAA"/>
                </a:solidFill>
                <a:latin typeface="맑은 고딕"/>
              </a:defRPr>
            </a:pPr>
            <a:r>
              <a:t>운영 자산DB (6개)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0690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CDC서버 VM(x4) / 수집Agent VM(x5) → 수집DB PM(x3)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38912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" y="4407408"/>
            <a:ext cx="1746504" cy="36576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4439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자산DB (SAP)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8463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시설물 자산 마스터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취득/처분/감가상각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248656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CDC 배치수집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06039" y="438912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24327" y="4407408"/>
            <a:ext cx="1746504" cy="36576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199" y="44439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시설DB (SAP)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199" y="48463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정수장/관로/펌프장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199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시설물 제원/점검이력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199" y="5248656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CDC 배치수집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80558" y="438912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98846" y="4407408"/>
            <a:ext cx="1746504" cy="36576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7718" y="44439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수질DB (ORACLE)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18" y="48463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수질검사 결과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18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pH/탁도/잔류염소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18" y="5248656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CDC 배치수집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77" y="438912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73365" y="4407408"/>
            <a:ext cx="1746504" cy="36576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37" y="44439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운영DB (SAP)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37" y="48463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일일 운영실적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37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생산량/송수량/배수량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37" y="5248656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CDC 배치수집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596" y="438912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47884" y="4407408"/>
            <a:ext cx="1746504" cy="36576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66756" y="44439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관망통합DB (ORACLE)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56" y="48463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관로 네트워크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56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배관/밸브/소화전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56" y="5248656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CDC 배치수집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104115" y="4389120"/>
            <a:ext cx="17830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122403" y="4407408"/>
            <a:ext cx="1746504" cy="36576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41275" y="44439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기상청DB (외부 API)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75" y="48463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기상 관측 데이터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75" y="50474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온도/강수/풍속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75" y="5248656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REST API 연계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03  IA 전체 구조 — Top Navigation + Sidebar 메뉴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DataHub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05156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FC3F7"/>
                </a:solidFill>
                <a:latin typeface="맑은 고딕"/>
              </a:defRPr>
            </a:pPr>
            <a:r>
              <a:t>①통합대시보드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05156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②카탈로그·탐색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05156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③수집·정제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05156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④유통·활용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05156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⑤메타데이터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05156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⑥시스템관리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1828800" cy="34747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① 통합대시보드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488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1.1 업무중심홈 (개인화)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500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1.2 데이터활용 업무프로세스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5117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1.3 데이터 품질현황 종합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5234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1.4 원천시스템 모니터링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535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맑은 고딕"/>
              </a:defRPr>
            </a:pPr>
            <a:r>
              <a:t>    ├ 계측DB 대시보드 (4개)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1546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맑은 고딕"/>
              </a:defRPr>
            </a:pPr>
            <a:r>
              <a:t>    └ 자산DB 대시보드 (6개)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5584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1.5 AI 검색 및 질의응답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5701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1.6 시각화·차트 갤러리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5818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1.7 메인화면(위젯) 설정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59152" y="1691640"/>
            <a:ext cx="1828800" cy="34747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② 카탈로그·탐색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21488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2.1 통합데이터 검색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4872" y="23500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2.2 데이터셋 상세정보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4872" y="255117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2.3 지식그래프·온톨로지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4872" y="275234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2.4 데이터 리니지(계보)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04872" y="29535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2.5 내 보관함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4872" y="31546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2.6 데이터 요청·피드백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61104" y="1691640"/>
            <a:ext cx="1828800" cy="347472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③ 수집·정제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6824" y="21488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3.1 파이프라인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6824" y="23500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3.2 파이프라인 등록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6824" y="255117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3.3 원천시스템 연계관리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6824" y="275234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맑은 고딕"/>
              </a:defRPr>
            </a:pPr>
            <a:r>
              <a:t>    ├ CDC 연계현황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6824" y="29535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맑은 고딕"/>
              </a:defRPr>
            </a:pPr>
            <a:r>
              <a:t>    ├ Kafka 스트리밍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6824" y="31546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맑은 고딕"/>
              </a:defRPr>
            </a:pPr>
            <a:r>
              <a:t>    ├ 외부연계 (기상청/제타7)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6824" y="335584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맑은 고딕"/>
              </a:defRPr>
            </a:pPr>
            <a:r>
              <a:t>    └ 단방향전송 모니터링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6824" y="355701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3.4 연계아키텍처 구조도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6824" y="375818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3.5 수집현황·모니터링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06824" y="395935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3.6 실시간 로그·알림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06824" y="416052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3.7 정제·변환 관리 (dbt)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63056" y="1691640"/>
            <a:ext cx="1828800" cy="34747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④ 유통·활용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1488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4.1 Data Product 구성·관리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3500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4.2 비식별화·가명처리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8776" y="255117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4.3 데이터 신청·승인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8776" y="275234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4.4 유통 API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8776" y="29535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4.5 외부시스템 데이터 제공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08776" y="31546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4.6 데이터 유통통계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65008" y="1691640"/>
            <a:ext cx="1828800" cy="347472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⑤ 메타데이터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0728" y="21488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5.1 표준용어·코드관리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0728" y="23500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5.2 분류체계·태그관리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10728" y="255117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5.3 데이터모델관리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0728" y="275234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5.4 DQ 검증·프로파일링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0728" y="29535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5.5 온톨로지 관리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66960" y="1691640"/>
            <a:ext cx="1828800" cy="347472"/>
          </a:xfrm>
          <a:prstGeom prst="round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⑥ 시스템관리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14884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6.1 조직 및 사용자관리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2680" y="23500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6.2 권한 및 역할관리 (RBAC)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12680" y="255117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6.3 데이터등급·보안정책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275234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6.4 인프라 현황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2680" y="295351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맑은 고딕"/>
              </a:defRPr>
            </a:pPr>
            <a:r>
              <a:t>    ├ 수집계 / 분석계 / 서비스계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12680" y="315468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6.5 LLM·AI 엔진관리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12680" y="335584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6.6 연계인터페이스 모니터링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355701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2744"/>
                </a:solidFill>
                <a:latin typeface="맑은 고딕"/>
              </a:defRPr>
            </a:pPr>
            <a:r>
              <a:t>6.7 접속통계·감사로그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2744"/>
                </a:solidFill>
                <a:latin typeface="맑은 고딕"/>
              </a:defRPr>
            </a:pPr>
            <a:r>
              <a:t>총 38개 화면 + 14개 서브뷰  |  Top Nav 6개 대메뉴  |  Sidebar 2Depth 아코디언  |  역할별 RBAC 메뉴 필터링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04  ① 통합대시보드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115568"/>
            <a:ext cx="2615184" cy="36576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1.1 업무중심홈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AI 퀵서치 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KPI 4종 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568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나의 업무현황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5798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품질 요약 (4대 지표)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최근활동 / 공지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원천시스템 10개 DB 미니 상태 [신규]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09728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8728" y="1115568"/>
            <a:ext cx="2615184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1521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1.2 업무프로세스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554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5단계 프로세스 플로우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7556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(탐색→신청→승인→활용→환류)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9568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단계별 업무 목록 테이블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15798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워크플로우 상세 드로어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09728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1115568"/>
            <a:ext cx="2615184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1521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1.3 품질현황 종합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554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전사 품질 점수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7556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(완전성/정합성/유효성/적시성)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9568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원천시스템별 품질 점수 [신규]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15798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계측DB 4 + 자산DB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359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품질 추이 차트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560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품질 이슈 목록 / 조치현황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09728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16568" y="1115568"/>
            <a:ext cx="2615184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1521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1.5 AI 검색·질의응답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5544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대화형 채팅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17556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사고과정(Thinking) 시각화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19568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인라인 차트/테이블 응답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15798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역할별 추천 질문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3591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LLM 엔진상태 표시 [신규]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611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맑은 고딕"/>
              </a:defRPr>
            </a:pPr>
            <a:r>
              <a:t>1.4 원천시스템 모니터링 (핵심 신규 화면)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023360"/>
            <a:ext cx="5303520" cy="2286000"/>
          </a:xfrm>
          <a:prstGeom prst="rect">
            <a:avLst/>
          </a:prstGeom>
          <a:solidFill>
            <a:srgbClr val="FFF8F0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62828"/>
                </a:solidFill>
                <a:latin typeface="맑은 고딕"/>
              </a:defRPr>
            </a:pPr>
            <a:r>
              <a:t>1.4.1 계측DB 대시보드 (4개 DB)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434840"/>
            <a:ext cx="1371600" cy="3200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RWIS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4480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관측소 맵 / 시계열차트 / 임계치 현황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4846320"/>
            <a:ext cx="1371600" cy="3200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HDAPS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4892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발전소별 현황 / 발전량 추이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257800"/>
            <a:ext cx="1371600" cy="3200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GIOS [신규]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303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관정별 지하수위 / 수질 현황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5669280"/>
            <a:ext cx="1371600" cy="3200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스마트미터링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5715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검침현황 / 사용량분석 / 이상탐지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023360"/>
            <a:ext cx="5303520" cy="2286000"/>
          </a:xfrm>
          <a:prstGeom prst="rect">
            <a:avLst/>
          </a:prstGeom>
          <a:solidFill>
            <a:srgbClr val="F0F4FF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BAA"/>
                </a:solidFill>
                <a:latin typeface="맑은 고딕"/>
              </a:defRPr>
            </a:pPr>
            <a:r>
              <a:t>1.4.2 자산DB 대시보드 (6개 DB) [완전 신규]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434840"/>
            <a:ext cx="1371600" cy="25603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자산DB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445312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자산 등록/변경 현황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4754880"/>
            <a:ext cx="1371600" cy="25603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시설DB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47731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시설물 현황/점검이력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5074920"/>
            <a:ext cx="1371600" cy="25603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수질DB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509320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수질검사 결과 현황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5394960"/>
            <a:ext cx="1371600" cy="25603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운영DB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541324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운영 실적 현황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5715000"/>
            <a:ext cx="1371600" cy="25603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관망통합DB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57332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관로/배관 현황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6035040"/>
            <a:ext cx="1371600" cy="256032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기상청DB [신규]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605332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기상 관측 데이터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05  ② 카탈로그·탐색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828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115568"/>
            <a:ext cx="1792224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2.1 통합데이터 검색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통합 검색바 (도메인/태그/표준용어)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원천시스템 필터 10개 DB 명시 [개선]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계측: RWIS | HDAPS | GIOS | 스마트미터링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57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자산: 자산 | 시설 | 수질 | 운영 | 관망통합 | 기상청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필터 (보안등급/수집방식/데이터유형)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태그 필터 (도메인별 태그 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614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검색결과 카드 목록 + 정렬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59152" y="1097280"/>
            <a:ext cx="1828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1115568"/>
            <a:ext cx="1792224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2.2 데이터셋 상세정보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기본정보 (명칭/설명/원천/수집방식/등급)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스키마·컬럼 정보 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샘플 데이터 미리보기 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6312" y="2157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품질 정보 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23591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변경이력 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25603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원천시스템 정보 표시 [신규]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6312" y="27614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액션: 보관함/리니지/신청/API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1097280"/>
            <a:ext cx="1828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1115568"/>
            <a:ext cx="1792224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98264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2.3 지식그래프·온톨로지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전사 데이터 관계 그래프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노드 검색/필터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노드 클릭 상세 패널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8264" y="2157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그래프DB(Neo4j) 기반 시각화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1097280"/>
            <a:ext cx="1828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1344" y="1115568"/>
            <a:ext cx="1792224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2.4 데이터 리니지(계보)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리니지 대상 선택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계층별 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Source→Staging→Mart→Serving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2157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전사 데이터 흐름도 [신규]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23591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계측DB(4) → 카프카/CDC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25603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수집DB → ODS → 분석DB → API/DT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27614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노드 상세 사이드 패널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296265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영향분석 모드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65008" y="1097280"/>
            <a:ext cx="1828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83296" y="1115568"/>
            <a:ext cx="1792224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02168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2.5 내 보관함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02168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즐겨찾기 데이터셋 목록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2168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최근 조회 이력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2168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구독 알림 설정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66960" y="1097280"/>
            <a:ext cx="1828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85248" y="1115568"/>
            <a:ext cx="1792224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04120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2.6 데이터 요청·피드백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20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신규 데이터 요청 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4120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요청 현황 / 처리 이력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4120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피드백 (평점/의견)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06  ③ 수집·정제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27432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024128"/>
            <a:ext cx="2706624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607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3.1 파이프라인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전체 파이프라인 목록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필터 (수집방식/상태/원천)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537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상태별 카운트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상세 드릴다운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005840"/>
            <a:ext cx="27432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024128"/>
            <a:ext cx="2706624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0607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3.2 파이프라인 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4630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Step1: 원천시스템 선택 (10개 DB)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6642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Step2: 수집방식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86537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Step3: 스케줄/트리거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Step4: 타겟 (수집→ODS→분석) [신규]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26771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Step5: 검증 및 등록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005840"/>
            <a:ext cx="27432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024128"/>
            <a:ext cx="2706624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0607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3.4 아키텍처 구조도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4630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전체 아키텍처 인터랙티브 [개선]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642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실시간 상태 오버레이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86537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계층별 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1005840"/>
            <a:ext cx="27432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79408" y="1024128"/>
            <a:ext cx="2706624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10607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3.5 수집현황 모니터링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4630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전체 수집 통계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16642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원천시스템별 수집량 (10개)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186537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수집DB PM(x3) 용량/성능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오류/지연 알림 목록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063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맑은 고딕"/>
              </a:defRPr>
            </a:pPr>
            <a:r>
              <a:t>3.3 원천시스템 연계관리 (핵심 신규)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74720"/>
            <a:ext cx="2743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488" y="3493008"/>
            <a:ext cx="2706624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529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3.3.a CDC 연계현황 [신규]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319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CDC서버 4대 상태 모니터링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1330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SAP/ORACLE 동기화 현황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33425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(자산/시설/수질/운영/관망통합)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53542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Lag 현황 / 지연 알림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73659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테이블별 동기화 이력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1840" y="3474720"/>
            <a:ext cx="2743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10128" y="3493008"/>
            <a:ext cx="2706624" cy="3657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9000" y="3529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3.3.b Kafka 스트리밍 [신규]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39319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카프카 클러스터(6대) 상태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41330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토픽 목록 / 파티션 현황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433425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프로듀서(4대) 상태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453542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(RWIS/HDAPS/GIOS/스마트미터링)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473659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컨슈머 그룹 Lag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49377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처리량(Throughput) 차트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0" y="3474720"/>
            <a:ext cx="2743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44768" y="3493008"/>
            <a:ext cx="2706624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3529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3.3.c 외부연계 [신규]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319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기상청 API 연계 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1330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티베로(제타7) 보정데이터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33425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호출 이력 / 성공률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453542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데이터 수신 현황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20" y="3474720"/>
            <a:ext cx="2743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79408" y="3493008"/>
            <a:ext cx="2706624" cy="3657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8280" y="3529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3.3.d 단방향전송 [신규]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39319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단방향전송장치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41330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RWIS 전송 현황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433425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HDAPS 전송 현황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98280" y="453542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GIOS 전송 현황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5760720"/>
            <a:ext cx="2743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5488" y="5779008"/>
            <a:ext cx="2706624" cy="36576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5815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3.6 실시간 로그·알림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62179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실시간 로그 스트림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" y="64190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심각도 필터 (ERROR/WARN/INFO)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91840" y="5760720"/>
            <a:ext cx="2743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310128" y="5779008"/>
            <a:ext cx="2706624" cy="36576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29000" y="58155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3.7 정제·변환 (dbt)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29000" y="62179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dbt 모델 목록 / DAG 시각화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29000" y="641908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ODS→분석DB 변환현황 [신규]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07  ④ 유통·활용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115568"/>
            <a:ext cx="1792224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4.1 Data Product</a:t>
            </a:r>
            <a:br/>
            <a:r>
              <a:t>구성·관리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Data Product 목록 (도메인별)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등록 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상세 (구성정보/SLA/이력)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57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상태 변경 (활성/중지/제한/폐기)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" y="109728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1115568"/>
            <a:ext cx="1792224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4.2 비식별화·</a:t>
            </a:r>
            <a:br/>
            <a:r>
              <a:t>가명처리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비식별화 규칙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처리 대상 데이터셋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처리 결과 미리보기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157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처리 이력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1104" y="109728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115568"/>
            <a:ext cx="1792224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4.3 데이터</a:t>
            </a:r>
            <a:br/>
            <a:r>
              <a:t>신청·승인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신청 목록 / 내 신청현황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신청서 작성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(데이터셋/사유/기간/용도)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2157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승인 워크플로우 (다단계)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23591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이용 약관 / 동의 관리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109728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1115568"/>
            <a:ext cx="1792224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4.4 유통 API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API 목록 (REST/Kafka/파일)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API 문서 (Swagger/OpenAPI)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API Key 발급/관리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2157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호출 통계 / Rate Limit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23591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API 테스트 콘솔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109728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3296" y="1115568"/>
            <a:ext cx="1792224" cy="3657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2168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4.5 외부시스템</a:t>
            </a:r>
            <a:br/>
            <a:r>
              <a:t>데이터 제공 [신규]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DT 연계 API 현황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정수장DT / 관로DT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02168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댐DT / 발전DT / 스마트DT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8" y="2157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제공 데이터셋 목록 / 포맷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02168" y="23591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호출 이력 / SLA 충족률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2168" y="25603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API서버 VM(x4) 상태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109728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85248" y="1115568"/>
            <a:ext cx="1792224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1152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4.6 데이터</a:t>
            </a:r>
            <a:br/>
            <a:r>
              <a:t>유통통계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15544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전체 유통량 추이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17556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도메인별 / 소비자별 통계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195681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Top 데이터셋 랭킹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04120" y="21579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활용 목적별 분석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657600"/>
            <a:ext cx="11247120" cy="1097280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3749039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5100"/>
                </a:solidFill>
                <a:latin typeface="맑은 고딕"/>
              </a:defRPr>
            </a:pPr>
            <a:r>
              <a:t>4.5 외부시스템 데이터 제공 — 역할 범위 정의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069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2744"/>
                </a:solidFill>
                <a:latin typeface="맑은 고딕"/>
              </a:defRPr>
            </a:pPr>
            <a:r>
              <a:t>우리의 롤: 디지털트윈(DT) 5종에 API 또는 데이터를 제공하는 것까지가 범위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DT 시스템 자체 개발/운영은 별도 팀 담당 → 포털에서는 "어떤 데이터를 어떤 DT에 어떤 API로 제공 중인지" 모니터링 화면만 구성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대상 DT: 정수장DT  |  관로DT  |  댐DT  |  발전DT  |  스마트DT  →  MCP서버 VM(x4) + API서버 VM(x4) 경유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08  ⑤ 메타데이터 관리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1945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115568"/>
            <a:ext cx="2157984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521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5.1 표준용어·코드관리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표준용어 사전 (CRUD)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도메인별 필터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승인 워크플로우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579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(등록→검토→승인)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코드 값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(코드그룹/코드항목)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097280"/>
            <a:ext cx="21945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1488" y="1115568"/>
            <a:ext cx="2157984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11521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5.2 분류체계·태그관리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5544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분류체계 트리 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7556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태그 관리 (생성/병합/삭제)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19568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태그-데이터셋 매핑 현황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097280"/>
            <a:ext cx="21945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115568"/>
            <a:ext cx="2157984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11521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5.3 데이터모델관리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15544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논리 모델 목록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17556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물리 모델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19568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ERD 시각화 [개선]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1579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원천시스템별 ERD (10개 DB)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3591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모델 상세 (테이블/컬럼/관계)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25603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변경이력 관리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1097280"/>
            <a:ext cx="21945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33488" y="1115568"/>
            <a:ext cx="2157984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11521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5.4 DQ 검증·프로파일링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15544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품질 규칙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17556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프로파일링 실행/결과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19568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원천시스템별 DQ 현황 [신규]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1579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10개 DB별 품질 대시보드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3591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이상 탐지 알림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1097280"/>
            <a:ext cx="21945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19488" y="1115568"/>
            <a:ext cx="2157984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11521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5.5 온톨로지 관리 [신규]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15544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그래프DB 스키마 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17556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클래스/속성 탐색 (트리 뷰)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19568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마인즈DB 메타데이터 현황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21579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온톨로지 매핑 규칙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23591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9738360" y="25603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* 기존 카탈로그 ②에서 분리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27614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관리 기능은 ⑤에 배치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29626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탐색 기능은 ②에 유지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09  ⑥ 시스템관리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024128"/>
            <a:ext cx="3438144" cy="36576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607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6.1 조직 및 사용자관리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사용자 목록 (CRUD)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부서/조직 트리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53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신규 가입 승인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665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외부사용자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00584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3088" y="1024128"/>
            <a:ext cx="3438144" cy="36576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0607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6.2 권한 및 역할관리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463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역할 정의 매트릭스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6642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역할별 메뉴 접근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8653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데이터 접근 등급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0665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역할 할당 이력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00584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024128"/>
            <a:ext cx="3438144" cy="36576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10607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6.3 데이터등급·보안정책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1463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4단계 등급 정의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16642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(비밀/대외비/업무/공개)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18653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등급별 정책 (암호화/접근/로깅)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0665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데이터셋-등급 매핑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2677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보안 감사 현황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063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5A64"/>
                </a:solidFill>
                <a:latin typeface="맑은 고딕"/>
              </a:defRPr>
            </a:pPr>
            <a:r>
              <a:t>6.4 인프라 현황 [완전 신규] — 아키텍처 기반 서버 모니터링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4747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" y="3493008"/>
            <a:ext cx="3438144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529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수집계 인프라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931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수집DB PM(x3)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133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CPU/메모리/디스크/커넥션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3342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카프카서버 VM(x6)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53542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브로커 상태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7365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CDC서버 VM(x4)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9377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수집Agent VM(x5)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0" y="34747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33088" y="3493008"/>
            <a:ext cx="3438144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51960" y="3529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분석계 인프라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931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ODSDB PM(x3)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4133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상태/용량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43342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분석DB PM(x4)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453542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상태/용량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34747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90688" y="3493008"/>
            <a:ext cx="3438144" cy="36576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60" y="3529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서비스계 인프라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3931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WEB서버 VM(x4)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4133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WAS서버 VM(x4)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43342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모니터링서버 VM(x4)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76072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5488" y="5779008"/>
            <a:ext cx="3438144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815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6.5 LLM·AI 엔진관리 [신규]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217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LLM GM(x1) GPU B300 사용률  |  모델 버전  |  질의 이력  |  그래프DB PM(x1)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0" y="5760720"/>
            <a:ext cx="3474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33088" y="5779008"/>
            <a:ext cx="3438144" cy="36576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5815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6.6 연계인터페이스 모니터링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1960" y="62179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★ MCP서버 VM(x4) [신규]  |  API서버 VM(x4)  |  DT 연계 5종  |  외부연계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0" y="5760720"/>
            <a:ext cx="39319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90688" y="5779008"/>
            <a:ext cx="3895344" cy="365760"/>
          </a:xfrm>
          <a:prstGeom prst="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09560" y="58155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6.7 접속통계·감사로그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62179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일별/월별 접속통계  |  역할별 접속  |  데이터접근 감사로그  |  이상접근 탐지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10  역할별 접근권한 매트릭스 (RBAC)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●: 전체권한    △: 제한적(읽기)    ○: 접근불가    ◈: 본인건만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28600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맑은 고딕"/>
              </a:defRPr>
            </a:pPr>
            <a:r>
              <a:t>메뉴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97280"/>
            <a:ext cx="82296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맑은 고딕"/>
              </a:defRPr>
            </a:pPr>
            <a:r>
              <a:t>수공직원</a:t>
            </a:r>
            <a:br/>
            <a:r>
              <a:t>(일반)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097280"/>
            <a:ext cx="82296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맑은 고딕"/>
              </a:defRPr>
            </a:pPr>
            <a:r>
              <a:t>부서</a:t>
            </a:r>
            <a:br/>
            <a:r>
              <a:t>관리자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82296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맑은 고딕"/>
              </a:defRPr>
            </a:pPr>
            <a:r>
              <a:t>데이터</a:t>
            </a:r>
            <a:br/>
            <a:r>
              <a:t>스튜어드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097280"/>
            <a:ext cx="82296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맑은 고딕"/>
              </a:defRPr>
            </a:pPr>
            <a:r>
              <a:t>데이터</a:t>
            </a:r>
            <a:br/>
            <a:r>
              <a:t>엔지니어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82296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맑은 고딕"/>
              </a:defRPr>
            </a:pPr>
            <a:r>
              <a:t>협력</a:t>
            </a:r>
            <a:br/>
            <a:r>
              <a:t>직원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097280"/>
            <a:ext cx="82296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맑은 고딕"/>
              </a:defRPr>
            </a:pPr>
            <a:r>
              <a:t>외부</a:t>
            </a:r>
            <a:br/>
            <a:r>
              <a:t>사용자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097280"/>
            <a:ext cx="822960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맑은 고딕"/>
              </a:defRPr>
            </a:pPr>
            <a:r>
              <a:t>시스템</a:t>
            </a:r>
            <a:br/>
            <a:r>
              <a:t>관리자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508760"/>
            <a:ext cx="228600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1">
                <a:solidFill>
                  <a:srgbClr val="1A2744"/>
                </a:solidFill>
                <a:latin typeface="맑은 고딕"/>
              </a:defRPr>
            </a:pPr>
            <a:r>
              <a:t>① 통합대시보드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50876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3840480" y="150876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4663440" y="150876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5486400" y="150876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309360" y="150876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7132320" y="150876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7955280" y="150876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731520" y="176479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1.1~1.2 홈/프로세스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76479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176479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76479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176479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76479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76479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176479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020824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1.3 품질현황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202082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202082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02082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202082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02082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202082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202082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227685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1.4 원천시스템 모니터링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227685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227685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227685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227685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27685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227685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0" y="227685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253288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1.5 AI 검색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253288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253288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253288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253288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253288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253288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253288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2788920"/>
            <a:ext cx="228600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1">
                <a:solidFill>
                  <a:srgbClr val="1A2744"/>
                </a:solidFill>
                <a:latin typeface="맑은 고딕"/>
              </a:defRPr>
            </a:pPr>
            <a:r>
              <a:t>② 카탈로그·탐색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278892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56" name="Rectangle 55"/>
          <p:cNvSpPr/>
          <p:nvPr/>
        </p:nvSpPr>
        <p:spPr>
          <a:xfrm>
            <a:off x="3840480" y="278892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57" name="Rectangle 56"/>
          <p:cNvSpPr/>
          <p:nvPr/>
        </p:nvSpPr>
        <p:spPr>
          <a:xfrm>
            <a:off x="4663440" y="278892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58" name="Rectangle 57"/>
          <p:cNvSpPr/>
          <p:nvPr/>
        </p:nvSpPr>
        <p:spPr>
          <a:xfrm>
            <a:off x="5486400" y="278892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59" name="Rectangle 58"/>
          <p:cNvSpPr/>
          <p:nvPr/>
        </p:nvSpPr>
        <p:spPr>
          <a:xfrm>
            <a:off x="6309360" y="278892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60" name="Rectangle 59"/>
          <p:cNvSpPr/>
          <p:nvPr/>
        </p:nvSpPr>
        <p:spPr>
          <a:xfrm>
            <a:off x="7132320" y="278892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7955280" y="278892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62" name="Rectangle 61"/>
          <p:cNvSpPr/>
          <p:nvPr/>
        </p:nvSpPr>
        <p:spPr>
          <a:xfrm>
            <a:off x="731520" y="304495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2.1~2.2 검색/상세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17520" y="304495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0" y="304495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304495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0" y="304495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304495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0" y="304495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55280" y="304495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" y="3300984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2.3~2.4 그래프/리니지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17520" y="330098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0" y="330098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330098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0" y="330098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09360" y="330098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0" y="330098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80" y="330098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3557016"/>
            <a:ext cx="228600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1">
                <a:solidFill>
                  <a:srgbClr val="1A2744"/>
                </a:solidFill>
                <a:latin typeface="맑은 고딕"/>
              </a:defRPr>
            </a:pPr>
            <a:r>
              <a:t>③ 수집·정제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3557016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80" name="Rectangle 79"/>
          <p:cNvSpPr/>
          <p:nvPr/>
        </p:nvSpPr>
        <p:spPr>
          <a:xfrm>
            <a:off x="3840480" y="3557016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81" name="Rectangle 80"/>
          <p:cNvSpPr/>
          <p:nvPr/>
        </p:nvSpPr>
        <p:spPr>
          <a:xfrm>
            <a:off x="4663440" y="3557016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82" name="Rectangle 81"/>
          <p:cNvSpPr/>
          <p:nvPr/>
        </p:nvSpPr>
        <p:spPr>
          <a:xfrm>
            <a:off x="5486400" y="3557016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83" name="Rectangle 82"/>
          <p:cNvSpPr/>
          <p:nvPr/>
        </p:nvSpPr>
        <p:spPr>
          <a:xfrm>
            <a:off x="6309360" y="3557016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84" name="Rectangle 83"/>
          <p:cNvSpPr/>
          <p:nvPr/>
        </p:nvSpPr>
        <p:spPr>
          <a:xfrm>
            <a:off x="7132320" y="3557016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85" name="Rectangle 84"/>
          <p:cNvSpPr/>
          <p:nvPr/>
        </p:nvSpPr>
        <p:spPr>
          <a:xfrm>
            <a:off x="7955280" y="3557016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86" name="Rectangle 85"/>
          <p:cNvSpPr/>
          <p:nvPr/>
        </p:nvSpPr>
        <p:spPr>
          <a:xfrm>
            <a:off x="731520" y="381304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3.1~3.7 전체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017520" y="381304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40480" y="381304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63440" y="381304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0" y="381304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09360" y="381304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32320" y="381304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955280" y="381304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4069080"/>
            <a:ext cx="228600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1">
                <a:solidFill>
                  <a:srgbClr val="1A2744"/>
                </a:solidFill>
                <a:latin typeface="맑은 고딕"/>
              </a:defRPr>
            </a:pPr>
            <a:r>
              <a:t>④ 유통·활용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017520" y="406908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96" name="Rectangle 95"/>
          <p:cNvSpPr/>
          <p:nvPr/>
        </p:nvSpPr>
        <p:spPr>
          <a:xfrm>
            <a:off x="3840480" y="406908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97" name="Rectangle 96"/>
          <p:cNvSpPr/>
          <p:nvPr/>
        </p:nvSpPr>
        <p:spPr>
          <a:xfrm>
            <a:off x="4663440" y="406908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98" name="Rectangle 97"/>
          <p:cNvSpPr/>
          <p:nvPr/>
        </p:nvSpPr>
        <p:spPr>
          <a:xfrm>
            <a:off x="5486400" y="406908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99" name="Rectangle 98"/>
          <p:cNvSpPr/>
          <p:nvPr/>
        </p:nvSpPr>
        <p:spPr>
          <a:xfrm>
            <a:off x="6309360" y="406908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00" name="Rectangle 99"/>
          <p:cNvSpPr/>
          <p:nvPr/>
        </p:nvSpPr>
        <p:spPr>
          <a:xfrm>
            <a:off x="7132320" y="406908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01" name="Rectangle 100"/>
          <p:cNvSpPr/>
          <p:nvPr/>
        </p:nvSpPr>
        <p:spPr>
          <a:xfrm>
            <a:off x="7955280" y="4069080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02" name="Rectangle 101"/>
          <p:cNvSpPr/>
          <p:nvPr/>
        </p:nvSpPr>
        <p:spPr>
          <a:xfrm>
            <a:off x="731520" y="432511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4.1~4.2 상품/비식별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017520" y="432511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40480" y="432511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63440" y="432511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86400" y="432511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432511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132320" y="432511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55280" y="432511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" y="4581144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4.3 신청·승인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017520" y="458114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840480" y="458114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63440" y="458114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0" y="458114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309360" y="458114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132320" y="458114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955280" y="458114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1520" y="483717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4.5 외부시스템 제공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017520" y="483717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840480" y="483717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63440" y="483717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0" y="483717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309360" y="483717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132320" y="483717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955280" y="483717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31520" y="5093208"/>
            <a:ext cx="228600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1">
                <a:solidFill>
                  <a:srgbClr val="1A2744"/>
                </a:solidFill>
                <a:latin typeface="맑은 고딕"/>
              </a:defRPr>
            </a:pPr>
            <a:r>
              <a:t>⑤ 메타데이터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017520" y="5093208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28" name="Rectangle 127"/>
          <p:cNvSpPr/>
          <p:nvPr/>
        </p:nvSpPr>
        <p:spPr>
          <a:xfrm>
            <a:off x="3840480" y="5093208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29" name="Rectangle 128"/>
          <p:cNvSpPr/>
          <p:nvPr/>
        </p:nvSpPr>
        <p:spPr>
          <a:xfrm>
            <a:off x="4663440" y="5093208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30" name="Rectangle 129"/>
          <p:cNvSpPr/>
          <p:nvPr/>
        </p:nvSpPr>
        <p:spPr>
          <a:xfrm>
            <a:off x="5486400" y="5093208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31" name="Rectangle 130"/>
          <p:cNvSpPr/>
          <p:nvPr/>
        </p:nvSpPr>
        <p:spPr>
          <a:xfrm>
            <a:off x="6309360" y="5093208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32" name="Rectangle 131"/>
          <p:cNvSpPr/>
          <p:nvPr/>
        </p:nvSpPr>
        <p:spPr>
          <a:xfrm>
            <a:off x="7132320" y="5093208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33" name="Rectangle 132"/>
          <p:cNvSpPr/>
          <p:nvPr/>
        </p:nvSpPr>
        <p:spPr>
          <a:xfrm>
            <a:off x="7955280" y="5093208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34" name="Rectangle 133"/>
          <p:cNvSpPr/>
          <p:nvPr/>
        </p:nvSpPr>
        <p:spPr>
          <a:xfrm>
            <a:off x="731520" y="5349240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5.1~5.5 전체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017520" y="5349240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840480" y="5349240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663440" y="5349240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86400" y="5349240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09360" y="5349240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132320" y="5349240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955280" y="5349240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31520" y="5605272"/>
            <a:ext cx="228600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1">
                <a:solidFill>
                  <a:srgbClr val="1A2744"/>
                </a:solidFill>
                <a:latin typeface="맑은 고딕"/>
              </a:defRPr>
            </a:pPr>
            <a:r>
              <a:t>⑥ 시스템관리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017520" y="5605272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44" name="Rectangle 143"/>
          <p:cNvSpPr/>
          <p:nvPr/>
        </p:nvSpPr>
        <p:spPr>
          <a:xfrm>
            <a:off x="3840480" y="5605272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45" name="Rectangle 144"/>
          <p:cNvSpPr/>
          <p:nvPr/>
        </p:nvSpPr>
        <p:spPr>
          <a:xfrm>
            <a:off x="4663440" y="5605272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46" name="Rectangle 145"/>
          <p:cNvSpPr/>
          <p:nvPr/>
        </p:nvSpPr>
        <p:spPr>
          <a:xfrm>
            <a:off x="5486400" y="5605272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47" name="Rectangle 146"/>
          <p:cNvSpPr/>
          <p:nvPr/>
        </p:nvSpPr>
        <p:spPr>
          <a:xfrm>
            <a:off x="6309360" y="5605272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48" name="Rectangle 147"/>
          <p:cNvSpPr/>
          <p:nvPr/>
        </p:nvSpPr>
        <p:spPr>
          <a:xfrm>
            <a:off x="7132320" y="5605272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49" name="Rectangle 148"/>
          <p:cNvSpPr/>
          <p:nvPr/>
        </p:nvSpPr>
        <p:spPr>
          <a:xfrm>
            <a:off x="7955280" y="5605272"/>
            <a:ext cx="822960" cy="256032"/>
          </a:xfrm>
          <a:prstGeom prst="rect">
            <a:avLst/>
          </a:prstGeom>
          <a:solidFill>
            <a:srgbClr val="E8F0F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005BAA"/>
                </a:solidFill>
                <a:latin typeface="맑은 고딕"/>
              </a:defRPr>
            </a:pPr>
          </a:p>
        </p:txBody>
      </p:sp>
      <p:sp>
        <p:nvSpPr>
          <p:cNvPr id="150" name="Rectangle 149"/>
          <p:cNvSpPr/>
          <p:nvPr/>
        </p:nvSpPr>
        <p:spPr>
          <a:xfrm>
            <a:off x="731520" y="5861304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00" b="0">
                <a:solidFill>
                  <a:srgbClr val="1A2744"/>
                </a:solidFill>
                <a:latin typeface="맑은 고딕"/>
              </a:defRPr>
            </a:pPr>
            <a:r>
              <a:t>  6.1~6.7 전체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017520" y="586130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840480" y="586130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663440" y="586130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486400" y="586130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F9800"/>
                </a:solidFill>
                <a:latin typeface="맑은 고딕"/>
              </a:defRPr>
            </a:pPr>
            <a:r>
              <a:t>△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09360" y="586130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132320" y="586130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44336"/>
                </a:solidFill>
                <a:latin typeface="맑은 고딕"/>
              </a:defRPr>
            </a:pPr>
            <a:r>
              <a:t>○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955280" y="586130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4CAF50"/>
                </a:solidFill>
                <a:latin typeface="맑은 고딕"/>
              </a:defRPr>
            </a:pPr>
            <a:r>
              <a:t>●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11  화면 플로우 / 네비게이션 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0" y="1005840"/>
            <a:ext cx="2103120" cy="457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로그인 (역할 선택)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630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5BAA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737360"/>
            <a:ext cx="3931920" cy="822960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1.1 업무중심홈 (랜딩)</a:t>
            </a:r>
          </a:p>
          <a:p>
            <a:pPr algn="ctr">
              <a:defRPr sz="800">
                <a:solidFill>
                  <a:srgbClr val="CCDDFF"/>
                </a:solidFill>
                <a:latin typeface="맑은 고딕"/>
              </a:defRPr>
            </a:pPr>
            <a:r>
              <a:t>AI퀵서치 | KPI | 업무현황 | 품질요약 | DB상태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926080"/>
            <a:ext cx="1737360" cy="411480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① 통합대시보드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926080"/>
            <a:ext cx="173736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② 카탈로그·탐색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926080"/>
            <a:ext cx="173736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③ 수집·정제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926080"/>
            <a:ext cx="1737360" cy="4114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④ 유통·활용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926080"/>
            <a:ext cx="173736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⑤ 메타데이터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2926080"/>
            <a:ext cx="1737360" cy="411480"/>
          </a:xfrm>
          <a:prstGeom prst="round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⑥ 시스템관리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744"/>
                </a:solidFill>
                <a:latin typeface="맑은 고딕"/>
              </a:defRPr>
            </a:pPr>
            <a:r>
              <a:t>주요 크로스 네비게이션 (Cross Navigation)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2560320" cy="274320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카탈로그 검색 → 상세정보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10565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맑은 고딕"/>
              </a:defRPr>
            </a:pPr>
            <a:r>
              <a:t>→ 리니지 보기 / 데이터 신청(④) / 품질 보기(⑤) / 표준용어(⑤)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16552"/>
            <a:ext cx="2560320" cy="2743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원천시스템 필터 클릭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45312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맑은 고딕"/>
              </a:defRPr>
            </a:pPr>
            <a:r>
              <a:t>→ 계측DB: RWIS|HDAPS|GIOS|스마트미터링 → 1.4.1 대시보드로 이동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64024"/>
            <a:ext cx="2560320" cy="274320"/>
          </a:xfrm>
          <a:prstGeom prst="round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원천시스템 필터 클릭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800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맑은 고딕"/>
              </a:defRPr>
            </a:pPr>
            <a:r>
              <a:t>→ 자산DB: 자산|시설|수질|운영|관망통합|기상청 → 1.4.2 대시보드로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11496"/>
            <a:ext cx="2560320" cy="274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리니지 노드 클릭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14807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맑은 고딕"/>
              </a:defRPr>
            </a:pPr>
            <a:r>
              <a:t>→ 파이프라인 상세(③) / dbt 모델(③) / API 연계(④)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58968"/>
            <a:ext cx="2560320" cy="2743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파이프라인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49554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맑은 고딕"/>
              </a:defRPr>
            </a:pPr>
            <a:r>
              <a:t>→ CDC 현황(③3.3a) / Kafka 현황(③3.3b) / 외부연계(③3.3c)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06440"/>
            <a:ext cx="2560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Data Product 상세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84301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맑은 고딕"/>
              </a:defRPr>
            </a:pPr>
            <a:r>
              <a:t>→ API 문서(④4.4) / DT 연계 현황(④4.5) / 유통통계(④4.6)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153912"/>
            <a:ext cx="2560320" cy="27432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AI 검색 결과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619048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66666"/>
                </a:solidFill>
                <a:latin typeface="맑은 고딕"/>
              </a:defRPr>
            </a:pPr>
            <a:r>
              <a:t>→ 데이터셋 상세(②) / 품질 대시보드(①) / 리니지(②)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744"/>
                </a:solidFill>
                <a:latin typeface="맑은 고딕"/>
              </a:defRPr>
            </a:pPr>
            <a:r>
              <a:t>12  현재 대비 변경점 요약 및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85800"/>
            <a:ext cx="1828800" cy="36576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맑은 고딕"/>
              </a:defRPr>
            </a:pPr>
            <a:r>
              <a:t>화면 수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2011680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80160"/>
            <a:ext cx="914400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현재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280160"/>
            <a:ext cx="914400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재설계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280160"/>
            <a:ext cx="2286000" cy="256032"/>
          </a:xfrm>
          <a:prstGeom prst="rect">
            <a:avLst/>
          </a:prstGeom>
          <a:solidFill>
            <a:srgbClr val="1A2744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변경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36192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① 통합대시보드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536192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7개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536192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7+10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53619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계측4+자산6 추가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792224"/>
            <a:ext cx="201168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② 카탈로그·탐색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792224"/>
            <a:ext cx="9144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7개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792224"/>
            <a:ext cx="9144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6개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792224"/>
            <a:ext cx="22860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온톨로지→⑤이동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048256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③ 수집·정제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048256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8개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048256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7+4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04825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CDC/Kafka/외부연계 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304288"/>
            <a:ext cx="201168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④ 유통·활용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304288"/>
            <a:ext cx="9144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5개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2304288"/>
            <a:ext cx="9144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6개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304288"/>
            <a:ext cx="22860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외부시스템제공 추가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560320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⑤ 메타데이터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560320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4개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2560320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5개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560320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온톨로지관리 추가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816352"/>
            <a:ext cx="201168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⑥ 시스템관리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2816352"/>
            <a:ext cx="9144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6개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2816352"/>
            <a:ext cx="9144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7+3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816352"/>
            <a:ext cx="2286000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인프라/LLM 추가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072384"/>
            <a:ext cx="20116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합계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072384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37개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3072384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  <a:r>
              <a:t>38+17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3072384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2744"/>
                </a:solidFill>
                <a:latin typeface="맑은 고딕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73152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맑은 고딕"/>
              </a:defRPr>
            </a:pPr>
            <a:r>
              <a:t>주요 변경 14건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8404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B1FA2"/>
                </a:solidFill>
                <a:latin typeface="맑은 고딕"/>
              </a:defRPr>
            </a:pPr>
            <a:r>
              <a:t>1. ('[신규] 1.4.2 자산DB 대시보드 — 6개 DB 전용 화면', '[개편] 1.4.1 계측DB — GIOS 추가, 명칭 통일', '[신규] 3.3.a CDC 연계현황 (서버 4대)', '[신규] 3.3.b Kafka 스트리밍 모니터링 (서버 6대)', '[신규] 3.3.c 외부연계 (기상청 API + 티베로)', '[신규] 3.3.d 단방향전송 모니터링', '[신규] 4.5 외부시스템 데이터 제공 (DT 5종)', '[분리] 5.5 온톨로지 관리 (②→⑤ 이동)', '[신규] 6.4 인프라 현황 (수집/분석/서비스)', '[신규] 6.5 LLM·AI 엔진관리 (GPU B300)', '[강화] 6.6 연계 모니터링 — MCP서버 4대', '[개선] 전체 검색 필터에 10개 원천시스템 명시', '[삭제] 온톨로지 클래스탐색 → 5.5 통합', '[삭제] dbt 모델 상세 → 3.7 통합')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744"/>
                </a:solidFill>
                <a:latin typeface="맑은 고딕"/>
              </a:defRPr>
            </a:pPr>
            <a:r>
              <a:t>Next Steps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2744"/>
                </a:solidFill>
                <a:latin typeface="맑은 고딕"/>
              </a:defRPr>
            </a:pPr>
            <a:r>
              <a:t>Phase 1: 사이드바 메뉴 구조 변경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IA 기준 메뉴 재구성 (코드 반영)</a:t>
            </a:r>
          </a:p>
          <a:p>
            <a:pPr>
              <a:spcAft>
                <a:spcPts val="200"/>
              </a:spcAft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A2744"/>
                </a:solidFill>
                <a:latin typeface="맑은 고딕"/>
              </a:defRPr>
            </a:pPr>
            <a:r>
              <a:t>Phase 2: 신규 화면 프로토타입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1.4.2 자산DB 대시보드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3.3 원천시스템 연계관리 (CDC/Kafka)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4.5 외부시스템 데이터 제공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6.4 인프라 현황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6.5 LLM·AI 엔진관리</a:t>
            </a:r>
          </a:p>
          <a:p>
            <a:pPr>
              <a:spcAft>
                <a:spcPts val="200"/>
              </a:spcAft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A2744"/>
                </a:solidFill>
                <a:latin typeface="맑은 고딕"/>
              </a:defRPr>
            </a:pPr>
            <a:r>
              <a:t>Phase 3: 기존 화면 개선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검색 필터 10개 DB 반영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계측DB 명칭 통일 (GIOS 추가)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다크모드 인라인 색상 수정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역할별 RBAC 메뉴 필터링</a:t>
            </a:r>
          </a:p>
          <a:p>
            <a:pPr>
              <a:spcAft>
                <a:spcPts val="200"/>
              </a:spcAft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1A2744"/>
                </a:solidFill>
                <a:latin typeface="맑은 고딕"/>
              </a:defRPr>
            </a:pPr>
            <a:r>
              <a:t>Phase 4: UX 고도화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알림 시스템, 페이지네이션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반응형 레이아웃</a:t>
            </a:r>
          </a:p>
          <a:p>
            <a:pPr>
              <a:spcAft>
                <a:spcPts val="2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  → 접근성 개선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맑은 고딕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