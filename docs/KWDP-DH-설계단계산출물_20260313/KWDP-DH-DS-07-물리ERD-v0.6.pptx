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4512" r:id="rId6"/>
  </p:sldMasterIdLst>
  <p:notesMasterIdLst>
    <p:notesMasterId r:id="rId18"/>
  </p:notesMasterIdLst>
  <p:sldIdLst>
    <p:sldId id="359" r:id="rId7"/>
    <p:sldId id="355" r:id="rId8"/>
    <p:sldId id="419" r:id="rId9"/>
    <p:sldId id="426" r:id="rId10"/>
    <p:sldId id="425" r:id="rId11"/>
    <p:sldId id="420" r:id="rId12"/>
    <p:sldId id="421" r:id="rId13"/>
    <p:sldId id="414" r:id="rId14"/>
    <p:sldId id="422" r:id="rId15"/>
    <p:sldId id="423" r:id="rId16"/>
    <p:sldId id="424" r:id="rId17"/>
  </p:sldIdLst>
  <p:sldSz cx="9906000" cy="6858000" type="A4"/>
  <p:notesSz cx="6805613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3120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7EBB"/>
    <a:srgbClr val="203864"/>
    <a:srgbClr val="CDD7DD"/>
    <a:srgbClr val="D0CECE"/>
    <a:srgbClr val="7198C6"/>
    <a:srgbClr val="D9D9D9"/>
    <a:srgbClr val="7F7F7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70" autoAdjust="0"/>
    <p:restoredTop sz="80023" autoAdjust="0"/>
  </p:normalViewPr>
  <p:slideViewPr>
    <p:cSldViewPr showGuides="1">
      <p:cViewPr varScale="1">
        <p:scale>
          <a:sx n="70" d="100"/>
          <a:sy n="70" d="100"/>
        </p:scale>
        <p:origin x="1372" y="48"/>
      </p:cViewPr>
      <p:guideLst>
        <p:guide pos="3120"/>
        <p:guide orient="horz"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2" d="100"/>
          <a:sy n="72" d="100"/>
        </p:scale>
        <p:origin x="4086" y="84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5" Type="http://schemas.openxmlformats.org/officeDocument/2006/relationships/customXml" Target="../customXml/item5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1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D2AFEE28-24C4-4AD4-AB1F-6A29DEB3856B}" type="datetimeFigureOut">
              <a:rPr lang="ko-KR" altLang="en-US"/>
              <a:pPr>
                <a:defRPr/>
              </a:pPr>
              <a:t>2026-03-12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6125"/>
            <a:ext cx="5380037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7"/>
            <a:ext cx="2949099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85FE88A9-9F00-438F-B56A-9586458E968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8754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12788" y="746125"/>
            <a:ext cx="5380037" cy="372586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</a:pPr>
            <a:fld id="{72741EBC-B597-4D85-AA10-4934E2480FF2}" type="slidenum">
              <a:rPr lang="ko-KR" altLang="en-US" smtClean="0">
                <a:solidFill>
                  <a:srgbClr val="000000"/>
                </a:solidFill>
                <a:latin typeface="굴림" charset="-127"/>
                <a:ea typeface="굴림" charset="-127"/>
              </a:rPr>
              <a:pPr eaLnBrk="1" hangingPunct="1">
                <a:spcBef>
                  <a:spcPct val="0"/>
                </a:spcBef>
              </a:pPr>
              <a:t>0</a:t>
            </a:fld>
            <a:endParaRPr lang="ko-KR" altLang="en-US">
              <a:solidFill>
                <a:srgbClr val="000000"/>
              </a:solidFill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4537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6125"/>
            <a:ext cx="5380037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FE88A9-9F00-438F-B56A-9586458E9681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7677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90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 userDrawn="1">
          <p15:clr>
            <a:srgbClr val="FBAE40"/>
          </p15:clr>
        </p15:guide>
        <p15:guide id="2" orient="horz" pos="255" userDrawn="1">
          <p15:clr>
            <a:srgbClr val="FBAE40"/>
          </p15:clr>
        </p15:guide>
        <p15:guide id="3" pos="353" userDrawn="1">
          <p15:clr>
            <a:srgbClr val="FBAE40"/>
          </p15:clr>
        </p15:guide>
        <p15:guide id="4" pos="588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06085" y="389283"/>
            <a:ext cx="9083990" cy="331787"/>
          </a:xfrm>
        </p:spPr>
        <p:txBody>
          <a:bodyPr/>
          <a:lstStyle>
            <a:lvl1pPr>
              <a:defRPr sz="2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1253BB96-C43E-4347-BA7C-8654BB871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4550" y="6491289"/>
            <a:ext cx="3136900" cy="306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3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바닥글 개체 틀 3">
            <a:extLst>
              <a:ext uri="{FF2B5EF4-FFF2-40B4-BE49-F238E27FC236}">
                <a16:creationId xmlns:a16="http://schemas.microsoft.com/office/drawing/2014/main" id="{DA3BF6D2-8572-46FB-ABD3-334A9B3C20D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81794" y="6453337"/>
            <a:ext cx="9142413" cy="387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defRPr/>
            </a:pPr>
            <a:fld id="{D88DE2CC-46C9-4BB4-BD10-F21D4DE0FDA2}" type="slidenum">
              <a:rPr kumimoji="0" lang="ko-KR" altLang="en-US" sz="975" smtClean="0">
                <a:solidFill>
                  <a:srgbClr val="595959"/>
                </a:solidFill>
                <a:latin typeface="맑은 고딕" pitchFamily="50" charset="-127"/>
                <a:ea typeface="맑은 고딕" pitchFamily="50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975" dirty="0">
              <a:solidFill>
                <a:srgbClr val="595959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BBA4C3C-F68B-857F-2C82-2B535E73E7C8}"/>
              </a:ext>
            </a:extLst>
          </p:cNvPr>
          <p:cNvSpPr/>
          <p:nvPr userDrawn="1"/>
        </p:nvSpPr>
        <p:spPr>
          <a:xfrm>
            <a:off x="403688" y="44624"/>
            <a:ext cx="3325176" cy="33615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000" b="0" dirty="0">
                <a:solidFill>
                  <a:schemeClr val="tx1"/>
                </a:solidFill>
                <a:latin typeface="+mn-ea"/>
                <a:ea typeface="+mn-ea"/>
              </a:rPr>
              <a:t>OOOOO OOOO </a:t>
            </a:r>
            <a:r>
              <a:rPr lang="en-US" altLang="ko-KR" sz="1000" b="0" dirty="0" err="1">
                <a:solidFill>
                  <a:schemeClr val="tx1"/>
                </a:solidFill>
                <a:latin typeface="+mn-ea"/>
                <a:ea typeface="+mn-ea"/>
              </a:rPr>
              <a:t>OOOO</a:t>
            </a:r>
            <a:r>
              <a:rPr lang="en-US" altLang="ko-KR" sz="1000" b="0" dirty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ko-KR" altLang="en-US" sz="1000" b="0" dirty="0">
                <a:solidFill>
                  <a:schemeClr val="tx1"/>
                </a:solidFill>
                <a:latin typeface="+mn-ea"/>
                <a:ea typeface="+mn-ea"/>
              </a:rPr>
              <a:t>사업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5029A1-1C23-EFB0-C968-27EE7CFB894E}"/>
              </a:ext>
            </a:extLst>
          </p:cNvPr>
          <p:cNvSpPr/>
          <p:nvPr userDrawn="1"/>
        </p:nvSpPr>
        <p:spPr>
          <a:xfrm>
            <a:off x="6142751" y="44624"/>
            <a:ext cx="3325176" cy="33615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000" b="0" dirty="0">
                <a:solidFill>
                  <a:schemeClr val="tx1"/>
                </a:solidFill>
                <a:latin typeface="+mn-ea"/>
                <a:ea typeface="+mn-ea"/>
              </a:rPr>
              <a:t>물리</a:t>
            </a:r>
            <a:r>
              <a:rPr lang="en-US" altLang="ko-KR" sz="1000" b="0" dirty="0">
                <a:solidFill>
                  <a:schemeClr val="tx1"/>
                </a:solidFill>
                <a:latin typeface="+mn-ea"/>
                <a:ea typeface="+mn-ea"/>
              </a:rPr>
              <a:t>ERD</a:t>
            </a:r>
            <a:endParaRPr lang="ko-KR" altLang="en-US" sz="10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AFFEEBB-6FD5-24F4-71B5-E7E4B22970C9}"/>
              </a:ext>
            </a:extLst>
          </p:cNvPr>
          <p:cNvSpPr/>
          <p:nvPr userDrawn="1"/>
        </p:nvSpPr>
        <p:spPr>
          <a:xfrm>
            <a:off x="403688" y="6491542"/>
            <a:ext cx="3325176" cy="33615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000" b="0" dirty="0">
                <a:solidFill>
                  <a:schemeClr val="tx1"/>
                </a:solidFill>
                <a:latin typeface="+mn-ea"/>
                <a:ea typeface="+mn-ea"/>
              </a:rPr>
              <a:t>고객사명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B26B3CB-6BA0-E3A2-9BBC-5DCBC75A296D}"/>
              </a:ext>
            </a:extLst>
          </p:cNvPr>
          <p:cNvSpPr/>
          <p:nvPr userDrawn="1"/>
        </p:nvSpPr>
        <p:spPr>
          <a:xfrm>
            <a:off x="6142751" y="6491542"/>
            <a:ext cx="3325176" cy="33615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000" b="0" dirty="0">
                <a:solidFill>
                  <a:schemeClr val="tx1"/>
                </a:solidFill>
                <a:latin typeface="+mn-ea"/>
                <a:ea typeface="+mn-ea"/>
              </a:rPr>
              <a:t>KT</a:t>
            </a:r>
            <a:r>
              <a:rPr lang="ko-KR" altLang="en-US" sz="1000" b="0" dirty="0">
                <a:solidFill>
                  <a:schemeClr val="tx1"/>
                </a:solidFill>
                <a:latin typeface="+mn-ea"/>
                <a:ea typeface="+mn-ea"/>
              </a:rPr>
              <a:t>컨소시엄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4987AE0-02CC-6DFD-1FA4-409F469F7D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15925" y="308767"/>
            <a:ext cx="907415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27D22A1-9561-D0FD-0FC2-F70548786FD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15925" y="6525344"/>
            <a:ext cx="907415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433822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0" userDrawn="1">
          <p15:clr>
            <a:srgbClr val="FBAE40"/>
          </p15:clr>
        </p15:guide>
        <p15:guide id="2" pos="262" userDrawn="1">
          <p15:clr>
            <a:srgbClr val="FBAE40"/>
          </p15:clr>
        </p15:guide>
        <p15:guide id="3" pos="5978" userDrawn="1">
          <p15:clr>
            <a:srgbClr val="FBAE40"/>
          </p15:clr>
        </p15:guide>
        <p15:guide id="4" orient="horz" pos="40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06085" y="389283"/>
            <a:ext cx="9083990" cy="331787"/>
          </a:xfrm>
        </p:spPr>
        <p:txBody>
          <a:bodyPr/>
          <a:lstStyle>
            <a:lvl1pPr>
              <a:defRPr sz="2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텍스트 개체 틀 14">
            <a:extLst>
              <a:ext uri="{FF2B5EF4-FFF2-40B4-BE49-F238E27FC236}">
                <a16:creationId xmlns:a16="http://schemas.microsoft.com/office/drawing/2014/main" id="{DCBDDFB4-396D-4EFE-8B1D-9A9CBB2C4E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5925" y="864964"/>
            <a:ext cx="9074151" cy="331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spc="-60" baseline="0">
                <a:solidFill>
                  <a:srgbClr val="000000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마스터 헤드라인</a:t>
            </a:r>
            <a:r>
              <a:rPr lang="en-US" altLang="ko-KR" dirty="0"/>
              <a:t> (</a:t>
            </a:r>
            <a:r>
              <a:rPr lang="ko-KR" altLang="en-US" dirty="0" err="1"/>
              <a:t>맑은고딕</a:t>
            </a:r>
            <a:r>
              <a:rPr lang="en-US" altLang="ko-KR" dirty="0"/>
              <a:t>, 16pt)</a:t>
            </a:r>
            <a:endParaRPr lang="ko-KR" altLang="en-US" dirty="0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1253BB96-C43E-4347-BA7C-8654BB871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4550" y="6491289"/>
            <a:ext cx="3136900" cy="306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3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바닥글 개체 틀 3">
            <a:extLst>
              <a:ext uri="{FF2B5EF4-FFF2-40B4-BE49-F238E27FC236}">
                <a16:creationId xmlns:a16="http://schemas.microsoft.com/office/drawing/2014/main" id="{DA3BF6D2-8572-46FB-ABD3-334A9B3C20D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81794" y="6453337"/>
            <a:ext cx="9142413" cy="387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defRPr/>
            </a:pPr>
            <a:fld id="{D88DE2CC-46C9-4BB4-BD10-F21D4DE0FDA2}" type="slidenum">
              <a:rPr kumimoji="0" lang="ko-KR" altLang="en-US" sz="975" smtClean="0">
                <a:solidFill>
                  <a:srgbClr val="595959"/>
                </a:solidFill>
                <a:latin typeface="맑은 고딕" pitchFamily="50" charset="-127"/>
                <a:ea typeface="맑은 고딕" pitchFamily="50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975" dirty="0">
              <a:solidFill>
                <a:srgbClr val="595959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BBA4C3C-F68B-857F-2C82-2B535E73E7C8}"/>
              </a:ext>
            </a:extLst>
          </p:cNvPr>
          <p:cNvSpPr/>
          <p:nvPr userDrawn="1"/>
        </p:nvSpPr>
        <p:spPr>
          <a:xfrm>
            <a:off x="403688" y="44624"/>
            <a:ext cx="3325176" cy="33615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000" b="0" dirty="0">
                <a:solidFill>
                  <a:schemeClr val="tx1"/>
                </a:solidFill>
                <a:latin typeface="+mn-ea"/>
                <a:ea typeface="+mn-ea"/>
              </a:rPr>
              <a:t>OOOOO OOOO </a:t>
            </a:r>
            <a:r>
              <a:rPr lang="en-US" altLang="ko-KR" sz="1000" b="0" dirty="0" err="1">
                <a:solidFill>
                  <a:schemeClr val="tx1"/>
                </a:solidFill>
                <a:latin typeface="+mn-ea"/>
                <a:ea typeface="+mn-ea"/>
              </a:rPr>
              <a:t>OOOO</a:t>
            </a:r>
            <a:r>
              <a:rPr lang="en-US" altLang="ko-KR" sz="1000" b="0" dirty="0">
                <a:solidFill>
                  <a:schemeClr val="tx1"/>
                </a:solidFill>
                <a:latin typeface="+mn-ea"/>
                <a:ea typeface="+mn-ea"/>
              </a:rPr>
              <a:t>  </a:t>
            </a:r>
            <a:r>
              <a:rPr lang="ko-KR" altLang="en-US" sz="1000" b="0" dirty="0">
                <a:solidFill>
                  <a:schemeClr val="tx1"/>
                </a:solidFill>
                <a:latin typeface="+mn-ea"/>
                <a:ea typeface="+mn-ea"/>
              </a:rPr>
              <a:t>사업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5029A1-1C23-EFB0-C968-27EE7CFB894E}"/>
              </a:ext>
            </a:extLst>
          </p:cNvPr>
          <p:cNvSpPr/>
          <p:nvPr userDrawn="1"/>
        </p:nvSpPr>
        <p:spPr>
          <a:xfrm>
            <a:off x="6142751" y="44624"/>
            <a:ext cx="3325176" cy="33615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1000" b="0" dirty="0">
                <a:solidFill>
                  <a:schemeClr val="tx1"/>
                </a:solidFill>
                <a:latin typeface="+mn-ea"/>
                <a:ea typeface="+mn-ea"/>
              </a:rPr>
              <a:t>물리</a:t>
            </a:r>
            <a:r>
              <a:rPr lang="en-US" altLang="ko-KR" sz="1000" b="0" dirty="0">
                <a:solidFill>
                  <a:schemeClr val="tx1"/>
                </a:solidFill>
                <a:latin typeface="+mn-ea"/>
                <a:ea typeface="+mn-ea"/>
              </a:rPr>
              <a:t>ERD</a:t>
            </a:r>
            <a:endParaRPr lang="ko-KR" altLang="en-US" sz="1000" b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AFFEEBB-6FD5-24F4-71B5-E7E4B22970C9}"/>
              </a:ext>
            </a:extLst>
          </p:cNvPr>
          <p:cNvSpPr/>
          <p:nvPr userDrawn="1"/>
        </p:nvSpPr>
        <p:spPr>
          <a:xfrm>
            <a:off x="403688" y="6491542"/>
            <a:ext cx="3325176" cy="33615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000" b="0" dirty="0">
                <a:solidFill>
                  <a:schemeClr val="tx1"/>
                </a:solidFill>
                <a:latin typeface="+mn-ea"/>
                <a:ea typeface="+mn-ea"/>
              </a:rPr>
              <a:t>고객사명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B26B3CB-6BA0-E3A2-9BBC-5DCBC75A296D}"/>
              </a:ext>
            </a:extLst>
          </p:cNvPr>
          <p:cNvSpPr/>
          <p:nvPr userDrawn="1"/>
        </p:nvSpPr>
        <p:spPr>
          <a:xfrm>
            <a:off x="6142751" y="6491542"/>
            <a:ext cx="3325176" cy="33615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000" b="0" dirty="0">
                <a:solidFill>
                  <a:schemeClr val="tx1"/>
                </a:solidFill>
                <a:latin typeface="+mn-ea"/>
                <a:ea typeface="+mn-ea"/>
              </a:rPr>
              <a:t>KT</a:t>
            </a:r>
            <a:r>
              <a:rPr lang="ko-KR" altLang="en-US" sz="1000" b="0" dirty="0">
                <a:solidFill>
                  <a:schemeClr val="tx1"/>
                </a:solidFill>
                <a:latin typeface="+mn-ea"/>
                <a:ea typeface="+mn-ea"/>
              </a:rPr>
              <a:t>컨소시엄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4987AE0-02CC-6DFD-1FA4-409F469F7D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15925" y="308767"/>
            <a:ext cx="907415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27D22A1-9561-D0FD-0FC2-F70548786FD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15925" y="6525344"/>
            <a:ext cx="907415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84910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0">
          <p15:clr>
            <a:srgbClr val="FBAE40"/>
          </p15:clr>
        </p15:guide>
        <p15:guide id="2" pos="262">
          <p15:clr>
            <a:srgbClr val="FBAE40"/>
          </p15:clr>
        </p15:guide>
        <p15:guide id="3" orient="horz" pos="4020" userDrawn="1">
          <p15:clr>
            <a:srgbClr val="FBAE40"/>
          </p15:clr>
        </p15:guide>
        <p15:guide id="4" pos="5978" userDrawn="1">
          <p15:clr>
            <a:srgbClr val="FBAE40"/>
          </p15:clr>
        </p15:guide>
        <p15:guide id="5" orient="horz" pos="75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06085" y="144464"/>
            <a:ext cx="9083990" cy="331787"/>
          </a:xfrm>
        </p:spPr>
        <p:txBody>
          <a:bodyPr/>
          <a:lstStyle>
            <a:lvl1pPr>
              <a:defRPr sz="2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1253BB96-C43E-4347-BA7C-8654BB871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4550" y="6491289"/>
            <a:ext cx="3136900" cy="306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3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바닥글 개체 틀 3">
            <a:extLst>
              <a:ext uri="{FF2B5EF4-FFF2-40B4-BE49-F238E27FC236}">
                <a16:creationId xmlns:a16="http://schemas.microsoft.com/office/drawing/2014/main" id="{DA3BF6D2-8572-46FB-ABD3-334A9B3C20D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81794" y="6453337"/>
            <a:ext cx="9142413" cy="387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ctr" eaLnBrk="1" hangingPunct="1">
              <a:defRPr/>
            </a:pPr>
            <a:fld id="{D88DE2CC-46C9-4BB4-BD10-F21D4DE0FDA2}" type="slidenum">
              <a:rPr kumimoji="0" lang="ko-KR" altLang="en-US" sz="975" smtClean="0">
                <a:solidFill>
                  <a:srgbClr val="595959"/>
                </a:solidFill>
                <a:latin typeface="맑은 고딕" pitchFamily="50" charset="-127"/>
                <a:ea typeface="맑은 고딕" pitchFamily="50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975" dirty="0">
              <a:solidFill>
                <a:srgbClr val="595959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0D9F9CA-DBD3-4B2B-A36A-E037D831DAD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15925" y="549275"/>
            <a:ext cx="907415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835FAD6B-430F-8397-8C3B-1A14136036A4}"/>
              </a:ext>
            </a:extLst>
          </p:cNvPr>
          <p:cNvSpPr/>
          <p:nvPr userDrawn="1"/>
        </p:nvSpPr>
        <p:spPr>
          <a:xfrm>
            <a:off x="403688" y="6491542"/>
            <a:ext cx="3325176" cy="33615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000" b="0" dirty="0">
                <a:solidFill>
                  <a:schemeClr val="tx1"/>
                </a:solidFill>
                <a:latin typeface="+mn-ea"/>
                <a:ea typeface="+mn-ea"/>
              </a:rPr>
              <a:t>고객사명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A5694DA-F606-DB84-4A02-38BB580B19B7}"/>
              </a:ext>
            </a:extLst>
          </p:cNvPr>
          <p:cNvSpPr/>
          <p:nvPr userDrawn="1"/>
        </p:nvSpPr>
        <p:spPr>
          <a:xfrm>
            <a:off x="6142751" y="6491542"/>
            <a:ext cx="3325176" cy="33615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000" b="0" dirty="0">
                <a:solidFill>
                  <a:schemeClr val="tx1"/>
                </a:solidFill>
                <a:latin typeface="+mn-ea"/>
                <a:ea typeface="+mn-ea"/>
              </a:rPr>
              <a:t>KT</a:t>
            </a:r>
            <a:r>
              <a:rPr lang="ko-KR" altLang="en-US" sz="1000" b="0" dirty="0">
                <a:solidFill>
                  <a:schemeClr val="tx1"/>
                </a:solidFill>
                <a:latin typeface="+mn-ea"/>
                <a:ea typeface="+mn-ea"/>
              </a:rPr>
              <a:t>컨소시엄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5675652-B4B0-8E56-0C62-B1022111E20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15925" y="6525344"/>
            <a:ext cx="907415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636514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0">
          <p15:clr>
            <a:srgbClr val="FBAE40"/>
          </p15:clr>
        </p15:guide>
        <p15:guide id="2" pos="26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템플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BF5AADF-94CF-2130-827B-AEF6D88F61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193" t="13708" r="3125" b="11772"/>
          <a:stretch/>
        </p:blipFill>
        <p:spPr>
          <a:xfrm>
            <a:off x="3800872" y="3171787"/>
            <a:ext cx="2464207" cy="5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434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템플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830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15925" y="144464"/>
            <a:ext cx="9074150" cy="33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제목 </a:t>
            </a:r>
            <a:r>
              <a:rPr lang="en-US" altLang="ko-KR" dirty="0"/>
              <a:t>[</a:t>
            </a:r>
            <a:r>
              <a:rPr lang="ko-KR" altLang="en-US" dirty="0"/>
              <a:t>맑은 고딕 </a:t>
            </a:r>
            <a:r>
              <a:rPr lang="en-US" altLang="ko-KR" dirty="0"/>
              <a:t>bold, 16pt]</a:t>
            </a:r>
            <a:endParaRPr lang="ko-KR" altLang="en-US" dirty="0"/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15925" y="692695"/>
            <a:ext cx="9074150" cy="5725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소제목 </a:t>
            </a:r>
            <a:r>
              <a:rPr lang="en-US" altLang="ko-KR" dirty="0"/>
              <a:t>[</a:t>
            </a:r>
            <a:r>
              <a:rPr lang="ko-KR" altLang="en-US" dirty="0"/>
              <a:t>맑은 고딕 </a:t>
            </a:r>
            <a:r>
              <a:rPr lang="en-US" altLang="ko-KR" dirty="0"/>
              <a:t>bold, 14pt]</a:t>
            </a:r>
            <a:endParaRPr lang="ko-KR" altLang="en-US" dirty="0"/>
          </a:p>
          <a:p>
            <a:pPr lvl="1"/>
            <a:r>
              <a:rPr lang="ko-KR" altLang="en-US" dirty="0"/>
              <a:t>본문 </a:t>
            </a:r>
            <a:r>
              <a:rPr lang="en-US" altLang="ko-KR" dirty="0"/>
              <a:t>1</a:t>
            </a:r>
            <a:r>
              <a:rPr lang="ko-KR" altLang="en-US" dirty="0"/>
              <a:t>단계 </a:t>
            </a:r>
            <a:r>
              <a:rPr lang="en-US" altLang="ko-KR" dirty="0"/>
              <a:t>[</a:t>
            </a:r>
            <a:r>
              <a:rPr lang="ko-KR" altLang="en-US" dirty="0"/>
              <a:t>맑은 고딕</a:t>
            </a:r>
            <a:r>
              <a:rPr lang="en-US" altLang="ko-KR" dirty="0"/>
              <a:t>, 12pt]</a:t>
            </a:r>
            <a:endParaRPr lang="ko-KR" altLang="en-US" dirty="0"/>
          </a:p>
          <a:p>
            <a:pPr lvl="2"/>
            <a:r>
              <a:rPr lang="ko-KR" altLang="en-US" dirty="0"/>
              <a:t>본문 </a:t>
            </a:r>
            <a:r>
              <a:rPr lang="en-US" altLang="ko-KR" dirty="0"/>
              <a:t>2</a:t>
            </a:r>
            <a:r>
              <a:rPr lang="ko-KR" altLang="en-US" dirty="0"/>
              <a:t>단계 </a:t>
            </a:r>
            <a:r>
              <a:rPr lang="en-US" altLang="ko-KR" dirty="0"/>
              <a:t>[</a:t>
            </a:r>
            <a:r>
              <a:rPr lang="ko-KR" altLang="en-US" dirty="0"/>
              <a:t>맑은 고딕</a:t>
            </a:r>
            <a:r>
              <a:rPr lang="en-US" altLang="ko-KR" dirty="0"/>
              <a:t>, 12pt]</a:t>
            </a:r>
          </a:p>
          <a:p>
            <a:pPr lvl="3"/>
            <a:r>
              <a:rPr lang="ko-KR" altLang="en-US" dirty="0"/>
              <a:t>본문 </a:t>
            </a:r>
            <a:r>
              <a:rPr lang="en-US" altLang="ko-KR" dirty="0"/>
              <a:t>3</a:t>
            </a:r>
            <a:r>
              <a:rPr lang="ko-KR" altLang="en-US" dirty="0"/>
              <a:t>단계 </a:t>
            </a:r>
            <a:r>
              <a:rPr lang="en-US" altLang="ko-KR" dirty="0"/>
              <a:t>[</a:t>
            </a:r>
            <a:r>
              <a:rPr lang="ko-KR" altLang="en-US" dirty="0"/>
              <a:t>맑은 고딕</a:t>
            </a:r>
            <a:r>
              <a:rPr lang="en-US" altLang="ko-KR" dirty="0"/>
              <a:t>, 12pt]</a:t>
            </a:r>
          </a:p>
          <a:p>
            <a:pPr lvl="4"/>
            <a:endParaRPr lang="en-US" altLang="ko-KR" dirty="0"/>
          </a:p>
          <a:p>
            <a:pPr lvl="4"/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915" r:id="rId1"/>
    <p:sldLayoutId id="2147485906" r:id="rId2"/>
    <p:sldLayoutId id="2147485914" r:id="rId3"/>
    <p:sldLayoutId id="2147485913" r:id="rId4"/>
    <p:sldLayoutId id="2147485911" r:id="rId5"/>
    <p:sldLayoutId id="2147485912" r:id="rId6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lang="ko-KR" altLang="en-US" sz="1733" b="1" kern="1200" dirty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1733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1733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1733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1733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95285" algn="l" rtl="0" fontAlgn="base" latinLnBrk="1">
        <a:spcBef>
          <a:spcPct val="0"/>
        </a:spcBef>
        <a:spcAft>
          <a:spcPct val="0"/>
        </a:spcAft>
        <a:defRPr sz="1517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90570" algn="l" rtl="0" fontAlgn="base" latinLnBrk="1">
        <a:spcBef>
          <a:spcPct val="0"/>
        </a:spcBef>
        <a:spcAft>
          <a:spcPct val="0"/>
        </a:spcAft>
        <a:defRPr sz="1517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485854" algn="l" rtl="0" fontAlgn="base" latinLnBrk="1">
        <a:spcBef>
          <a:spcPct val="0"/>
        </a:spcBef>
        <a:spcAft>
          <a:spcPct val="0"/>
        </a:spcAft>
        <a:defRPr sz="1517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981139" algn="l" rtl="0" fontAlgn="base" latinLnBrk="1">
        <a:spcBef>
          <a:spcPct val="0"/>
        </a:spcBef>
        <a:spcAft>
          <a:spcPct val="0"/>
        </a:spcAft>
        <a:defRPr sz="1517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245923" indent="-245923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Wingdings" pitchFamily="2" charset="2"/>
        <a:buChar char=""/>
        <a:defRPr sz="1517" b="1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454011" indent="-199490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Wingdings" pitchFamily="2" charset="2"/>
        <a:buChar char=""/>
        <a:defRPr sz="13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636303" indent="-135860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맑은 고딕" pitchFamily="50" charset="-127"/>
        <a:buChar char="-"/>
        <a:defRPr sz="13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827195" indent="-154776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Wingdings" pitchFamily="2" charset="2"/>
        <a:buChar char="§"/>
        <a:tabLst>
          <a:tab pos="780761" algn="l"/>
        </a:tabLst>
        <a:defRPr sz="13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1289804" indent="-127261" algn="l" rtl="0" eaLnBrk="0" fontAlgn="base" latinLnBrk="1" hangingPunct="0">
        <a:lnSpc>
          <a:spcPct val="150000"/>
        </a:lnSpc>
        <a:spcBef>
          <a:spcPct val="20000"/>
        </a:spcBef>
        <a:spcAft>
          <a:spcPct val="0"/>
        </a:spcAft>
        <a:buFont typeface="Arial" charset="0"/>
        <a:defRPr sz="13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72406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7">
            <a:extLst>
              <a:ext uri="{FF2B5EF4-FFF2-40B4-BE49-F238E27FC236}">
                <a16:creationId xmlns:a16="http://schemas.microsoft.com/office/drawing/2014/main" id="{4F4CAF71-6718-A108-5DD6-1489963ED5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20711"/>
              </p:ext>
            </p:extLst>
          </p:nvPr>
        </p:nvGraphicFramePr>
        <p:xfrm>
          <a:off x="579000" y="1393920"/>
          <a:ext cx="8748000" cy="208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8000">
                  <a:extLst>
                    <a:ext uri="{9D8B030D-6E8A-4147-A177-3AD203B41FA5}">
                      <a16:colId xmlns:a16="http://schemas.microsoft.com/office/drawing/2014/main" val="2959953029"/>
                    </a:ext>
                  </a:extLst>
                </a:gridCol>
              </a:tblGrid>
              <a:tr h="756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맑은 고딕"/>
                        </a:rPr>
                        <a:t>K-water 데이터허브 ODS 구축</a:t>
                      </a:r>
                    </a:p>
                  </a:txBody>
                  <a:tcPr marL="27000" marR="27000" marT="9000" marB="9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9917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000000"/>
                          </a:solidFill>
                          <a:latin typeface="맑은 고딕"/>
                        </a:rPr>
                        <a:t>물리 ERD</a:t>
                      </a:r>
                    </a:p>
                  </a:txBody>
                  <a:tcPr marL="27000" marR="27000" marT="9000" marB="9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09957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endParaRPr sz="1400" b="0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27000" marR="27000" marT="9000" marB="9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23661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문서번호 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: </a:t>
                      </a:r>
                      <a:r>
                        <a:rPr lang="en-US" altLang="ko-KR" sz="1000" b="0" dirty="0" smtClean="0">
                          <a:solidFill>
                            <a:srgbClr val="000000"/>
                          </a:solidFill>
                          <a:latin typeface="+mn-lt"/>
                        </a:rPr>
                        <a:t>KWDP-DH-DS-07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
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시스템명 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: RWIS ODS / HDAPS ODS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
주 제 명 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: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수자원정보 </a:t>
                      </a:r>
                      <a:r>
                        <a:rPr lang="en-US" altLang="ko-KR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/ </a:t>
                      </a:r>
                      <a:r>
                        <a:rPr lang="ko-KR" altLang="en-US" sz="1000" b="0" dirty="0">
                          <a:solidFill>
                            <a:srgbClr val="000000"/>
                          </a:solidFill>
                          <a:latin typeface="+mn-lt"/>
                        </a:rPr>
                        <a:t>수문정보</a:t>
                      </a:r>
                    </a:p>
                  </a:txBody>
                  <a:tcPr marL="27000" marR="27000" marT="9000" marB="9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107659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95D10D08-2078-E9C4-4C81-260A1473A1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93" t="13708" r="3125" b="11772"/>
          <a:stretch/>
        </p:blipFill>
        <p:spPr>
          <a:xfrm>
            <a:off x="7965904" y="6174000"/>
            <a:ext cx="1379584" cy="288000"/>
          </a:xfrm>
          <a:prstGeom prst="rect">
            <a:avLst/>
          </a:prstGeom>
          <a:ln>
            <a:noFill/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9FEB21C-013D-B7FB-489F-454F19463E44}"/>
              </a:ext>
            </a:extLst>
          </p:cNvPr>
          <p:cNvSpPr/>
          <p:nvPr/>
        </p:nvSpPr>
        <p:spPr>
          <a:xfrm>
            <a:off x="557819" y="404813"/>
            <a:ext cx="1378800" cy="28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고객사 로고</a:t>
            </a:r>
          </a:p>
        </p:txBody>
      </p:sp>
    </p:spTree>
    <p:extLst>
      <p:ext uri="{BB962C8B-B14F-4D97-AF65-F5344CB8AC3E}">
        <p14:creationId xmlns:p14="http://schemas.microsoft.com/office/powerpoint/2010/main" val="421559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987659F-0357-469C-8A8F-F58DD4D6F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개정이력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C2BEAE3-2125-6877-6E73-6269EE3D4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692220"/>
              </p:ext>
            </p:extLst>
          </p:nvPr>
        </p:nvGraphicFramePr>
        <p:xfrm>
          <a:off x="415925" y="764704"/>
          <a:ext cx="9074150" cy="5594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9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1025">
                  <a:extLst>
                    <a:ext uri="{9D8B030D-6E8A-4147-A177-3AD203B41FA5}">
                      <a16:colId xmlns:a16="http://schemas.microsoft.com/office/drawing/2014/main" val="2703352228"/>
                    </a:ext>
                  </a:extLst>
                </a:gridCol>
                <a:gridCol w="4724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80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1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버전</a:t>
                      </a:r>
                    </a:p>
                  </a:txBody>
                  <a:tcPr marL="99056" marR="99056" marT="49511" marB="4951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4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</a:t>
                      </a:r>
                    </a:p>
                  </a:txBody>
                  <a:tcPr marL="99056" marR="99056" marT="49511" marB="4951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내용</a:t>
                      </a:r>
                    </a:p>
                  </a:txBody>
                  <a:tcPr marL="99056" marR="99056" marT="49511" marB="4951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작성자</a:t>
                      </a:r>
                    </a:p>
                  </a:txBody>
                  <a:tcPr marL="99056" marR="99056" marT="49511" marB="4951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검토</a:t>
                      </a:r>
                      <a:r>
                        <a:rPr lang="en-US" altLang="ko-KR" sz="14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400" b="1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승인자</a:t>
                      </a:r>
                    </a:p>
                  </a:txBody>
                  <a:tcPr marL="99056" marR="99056" marT="49511" marB="49511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spc="-10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0.6</a:t>
                      </a:r>
                      <a:endParaRPr lang="en-US" altLang="ko-KR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2026.03.13</a:t>
                      </a: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작성자 작성완료</a:t>
                      </a: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spc="-100" noProof="0" dirty="0" err="1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황해동</a:t>
                      </a:r>
                      <a:r>
                        <a:rPr lang="ko-KR" altLang="en-US" sz="1400" b="0" kern="1200" spc="-100" noProof="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spc="-100" dirty="0">
                          <a:ln>
                            <a:solidFill>
                              <a:srgbClr val="0C376A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noProof="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noProof="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noProof="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noProof="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2015726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7041899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98174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973607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703713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170804"/>
                  </a:ext>
                </a:extLst>
              </a:tr>
              <a:tr h="372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kern="1200" spc="-100" dirty="0">
                        <a:ln>
                          <a:solidFill>
                            <a:srgbClr val="0C376A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8001" marR="78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081340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279369-9A50-217D-EE4A-6DA9B2D54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378DF05-BE1B-6698-ED1F-EDC5C4ECFB1B}"/>
              </a:ext>
            </a:extLst>
          </p:cNvPr>
          <p:cNvSpPr txBox="1">
            <a:spLocks/>
          </p:cNvSpPr>
          <p:nvPr/>
        </p:nvSpPr>
        <p:spPr bwMode="auto">
          <a:xfrm>
            <a:off x="704528" y="1124744"/>
            <a:ext cx="4546915" cy="33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0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733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733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733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1733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95285" algn="l" rtl="0" fontAlgn="base" latinLnBrk="1">
              <a:spcBef>
                <a:spcPct val="0"/>
              </a:spcBef>
              <a:spcAft>
                <a:spcPct val="0"/>
              </a:spcAft>
              <a:defRPr sz="1517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90570" algn="l" rtl="0" fontAlgn="base" latinLnBrk="1">
              <a:spcBef>
                <a:spcPct val="0"/>
              </a:spcBef>
              <a:spcAft>
                <a:spcPct val="0"/>
              </a:spcAft>
              <a:defRPr sz="1517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485854" algn="l" rtl="0" fontAlgn="base" latinLnBrk="1">
              <a:spcBef>
                <a:spcPct val="0"/>
              </a:spcBef>
              <a:spcAft>
                <a:spcPct val="0"/>
              </a:spcAft>
              <a:defRPr sz="1517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981139" algn="l" rtl="0" fontAlgn="base" latinLnBrk="1">
              <a:spcBef>
                <a:spcPct val="0"/>
              </a:spcBef>
              <a:spcAft>
                <a:spcPct val="0"/>
              </a:spcAft>
              <a:defRPr sz="1517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342900" indent="-342900">
              <a:lnSpc>
                <a:spcPct val="250000"/>
              </a:lnSpc>
              <a:buAutoNum type="arabicPeriod"/>
            </a:pPr>
            <a:r>
              <a:rPr kumimoji="0" lang="ko-KR" altLang="en-US" sz="1400" dirty="0">
                <a:latin typeface="맑은 고딕"/>
              </a:rPr>
              <a:t>수자원정보</a:t>
            </a:r>
            <a:endParaRPr kumimoji="0" lang="en-US" altLang="ko-KR" sz="1400" dirty="0">
              <a:latin typeface="맑은 고딕"/>
            </a:endParaRP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kumimoji="0" lang="ko-KR" altLang="en-US" sz="1400" dirty="0">
                <a:latin typeface="맑은 고딕"/>
              </a:rPr>
              <a:t>수문정보</a:t>
            </a:r>
            <a:endParaRPr kumimoji="0" lang="en-US" sz="1400" dirty="0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703731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70C553-DAB9-4B05-96AC-283B2B525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400" b="1" dirty="0">
                <a:latin typeface="맑은 고딕"/>
              </a:rPr>
              <a:t>1. </a:t>
            </a:r>
            <a:r>
              <a:rPr lang="ko-KR" altLang="en-US" sz="1400" dirty="0">
                <a:latin typeface="맑은 고딕"/>
              </a:rPr>
              <a:t>수자원정보</a:t>
            </a:r>
            <a:endParaRPr sz="1400" b="1" dirty="0">
              <a:latin typeface="맑은 고딕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71BAEF6-135E-4924-8EAC-3FA86171E9E2}"/>
              </a:ext>
            </a:extLst>
          </p:cNvPr>
          <p:cNvGraphicFramePr>
            <a:graphicFrameLocks noGrp="1"/>
          </p:cNvGraphicFramePr>
          <p:nvPr/>
        </p:nvGraphicFramePr>
        <p:xfrm>
          <a:off x="415925" y="836713"/>
          <a:ext cx="9074149" cy="5545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6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913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수자원정보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 설명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RWIS 시스템의 실시간수도_수질측정 ODS 테이블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7125">
                <a:tc gridSpan="4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BEEB60C5-7380-8998-D78C-7F3E9F0DC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013" y="1780944"/>
            <a:ext cx="7494097" cy="337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577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70C553-DAB9-4B05-96AC-283B2B525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>
                <a:latin typeface="맑은 고딕"/>
              </a:rPr>
              <a:t>1</a:t>
            </a:r>
            <a:r>
              <a:rPr sz="1400" b="1" dirty="0">
                <a:latin typeface="맑은 고딕"/>
              </a:rPr>
              <a:t>. </a:t>
            </a:r>
            <a:r>
              <a:rPr lang="ko-KR" altLang="en-US" sz="1400" dirty="0">
                <a:latin typeface="맑은 고딕"/>
              </a:rPr>
              <a:t>수자원정보</a:t>
            </a:r>
            <a:endParaRPr sz="1400" b="1" dirty="0">
              <a:latin typeface="맑은 고딕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71BAEF6-135E-4924-8EAC-3FA86171E9E2}"/>
              </a:ext>
            </a:extLst>
          </p:cNvPr>
          <p:cNvGraphicFramePr>
            <a:graphicFrameLocks noGrp="1"/>
          </p:cNvGraphicFramePr>
          <p:nvPr/>
        </p:nvGraphicFramePr>
        <p:xfrm>
          <a:off x="415925" y="836713"/>
          <a:ext cx="9074149" cy="5545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6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913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수자원정보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 설명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RWIS 시스템의 실시간수도_설비측정 ODS 테이블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7125">
                <a:tc gridSpan="4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D6B2C615-0D08-F5C0-6E8F-E48062CBF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795" y="1988840"/>
            <a:ext cx="7582409" cy="358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513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70C553-DAB9-4B05-96AC-283B2B525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b="1" dirty="0">
                <a:latin typeface="맑은 고딕"/>
              </a:rPr>
              <a:t>2</a:t>
            </a:r>
            <a:r>
              <a:rPr sz="1400" b="1" dirty="0">
                <a:latin typeface="맑은 고딕"/>
              </a:rPr>
              <a:t>. </a:t>
            </a:r>
            <a:r>
              <a:rPr lang="ko-KR" altLang="en-US" sz="1400" b="1" dirty="0">
                <a:latin typeface="맑은 고딕"/>
              </a:rPr>
              <a:t>수문정보</a:t>
            </a:r>
            <a:endParaRPr sz="1400" b="1" dirty="0">
              <a:latin typeface="맑은 고딕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71BAEF6-135E-4924-8EAC-3FA86171E9E2}"/>
              </a:ext>
            </a:extLst>
          </p:cNvPr>
          <p:cNvGraphicFramePr>
            <a:graphicFrameLocks noGrp="1"/>
          </p:cNvGraphicFramePr>
          <p:nvPr/>
        </p:nvGraphicFramePr>
        <p:xfrm>
          <a:off x="415925" y="836713"/>
          <a:ext cx="9074149" cy="5545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6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913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수문정보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 설명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HDAPS 시스템의 HDAPS_댐보운영 ODS 테이블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7125">
                <a:tc gridSpan="4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26EDDEFF-0836-B22F-2B80-2EA7EC0DB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776" y="1268760"/>
            <a:ext cx="3752055" cy="501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849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71BAEF6-135E-4924-8EAC-3FA86171E9E2}"/>
              </a:ext>
            </a:extLst>
          </p:cNvPr>
          <p:cNvGraphicFramePr>
            <a:graphicFrameLocks noGrp="1"/>
          </p:cNvGraphicFramePr>
          <p:nvPr/>
        </p:nvGraphicFramePr>
        <p:xfrm>
          <a:off x="415925" y="836713"/>
          <a:ext cx="9074149" cy="5545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6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913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수문정보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 설명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HDAPS 시스템의 HDAPS_댐보발전 ODS 테이블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7125">
                <a:tc gridSpan="4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A37915FB-C9AB-D002-7558-17761C9A8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26" y="2708920"/>
            <a:ext cx="8020148" cy="1994648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61AC1FB4-250A-59B7-D071-009E8A2FD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388938"/>
            <a:ext cx="9083675" cy="331787"/>
          </a:xfrm>
        </p:spPr>
        <p:txBody>
          <a:bodyPr/>
          <a:lstStyle/>
          <a:p>
            <a:r>
              <a:rPr lang="en-US" sz="1400" b="1" dirty="0">
                <a:latin typeface="맑은 고딕"/>
              </a:rPr>
              <a:t>2</a:t>
            </a:r>
            <a:r>
              <a:rPr sz="1400" b="1" dirty="0">
                <a:latin typeface="맑은 고딕"/>
              </a:rPr>
              <a:t>. </a:t>
            </a:r>
            <a:r>
              <a:rPr lang="ko-KR" altLang="en-US" sz="1400" b="1" dirty="0">
                <a:latin typeface="맑은 고딕"/>
              </a:rPr>
              <a:t>수문정보</a:t>
            </a:r>
            <a:endParaRPr sz="1400" b="1" dirty="0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949398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71BAEF6-135E-4924-8EAC-3FA86171E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407106"/>
              </p:ext>
            </p:extLst>
          </p:nvPr>
        </p:nvGraphicFramePr>
        <p:xfrm>
          <a:off x="415925" y="836713"/>
          <a:ext cx="9074149" cy="5545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6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913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수문정보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 설명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HDAPS 시스템의 HDAPS_댐보수문 ODS 테이블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7125">
                <a:tc gridSpan="4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0217FF42-1DD5-73E0-A6E2-4BDD25715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76" y="2348880"/>
            <a:ext cx="8625408" cy="2649707"/>
          </a:xfrm>
          <a:prstGeom prst="rect">
            <a:avLst/>
          </a:prstGeom>
        </p:spPr>
      </p:pic>
      <p:sp>
        <p:nvSpPr>
          <p:cNvPr id="16" name="제목 1">
            <a:extLst>
              <a:ext uri="{FF2B5EF4-FFF2-40B4-BE49-F238E27FC236}">
                <a16:creationId xmlns:a16="http://schemas.microsoft.com/office/drawing/2014/main" id="{B787647F-47AC-991E-4CAA-BE75EE8D8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085" y="389283"/>
            <a:ext cx="9083990" cy="331787"/>
          </a:xfrm>
        </p:spPr>
        <p:txBody>
          <a:bodyPr/>
          <a:lstStyle/>
          <a:p>
            <a:r>
              <a:rPr lang="en-US" sz="1400" b="1" dirty="0">
                <a:latin typeface="맑은 고딕"/>
              </a:rPr>
              <a:t>2</a:t>
            </a:r>
            <a:r>
              <a:rPr sz="1400" b="1" dirty="0">
                <a:latin typeface="맑은 고딕"/>
              </a:rPr>
              <a:t>. </a:t>
            </a:r>
            <a:r>
              <a:rPr lang="ko-KR" altLang="en-US" sz="1400" b="1" dirty="0">
                <a:latin typeface="맑은 고딕"/>
              </a:rPr>
              <a:t>수문정보</a:t>
            </a:r>
            <a:endParaRPr sz="1400" b="1" dirty="0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366626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71BAEF6-135E-4924-8EAC-3FA86171E9E2}"/>
              </a:ext>
            </a:extLst>
          </p:cNvPr>
          <p:cNvGraphicFramePr>
            <a:graphicFrameLocks noGrp="1"/>
          </p:cNvGraphicFramePr>
          <p:nvPr/>
        </p:nvGraphicFramePr>
        <p:xfrm>
          <a:off x="415925" y="836713"/>
          <a:ext cx="9074149" cy="5545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6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913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수문정보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 설명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HDAPS 시스템의 HDAPS_댐보우량 ODS 테이블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7125">
                <a:tc gridSpan="4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55294072-0689-218A-207D-1A4FD0B43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310" y="1484784"/>
            <a:ext cx="7373379" cy="4715533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8CC28CD9-9AE0-BFF3-9DCE-08883089F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085" y="389283"/>
            <a:ext cx="9083990" cy="331787"/>
          </a:xfrm>
        </p:spPr>
        <p:txBody>
          <a:bodyPr/>
          <a:lstStyle/>
          <a:p>
            <a:r>
              <a:rPr lang="en-US" sz="1400" b="1" dirty="0">
                <a:latin typeface="맑은 고딕"/>
              </a:rPr>
              <a:t>2</a:t>
            </a:r>
            <a:r>
              <a:rPr sz="1400" b="1" dirty="0">
                <a:latin typeface="맑은 고딕"/>
              </a:rPr>
              <a:t>. </a:t>
            </a:r>
            <a:r>
              <a:rPr lang="ko-KR" altLang="en-US" sz="1400" b="1" dirty="0">
                <a:latin typeface="맑은 고딕"/>
              </a:rPr>
              <a:t>수문정보</a:t>
            </a:r>
            <a:endParaRPr sz="1400" b="1" dirty="0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827426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71BAEF6-135E-4924-8EAC-3FA86171E9E2}"/>
              </a:ext>
            </a:extLst>
          </p:cNvPr>
          <p:cNvGraphicFramePr>
            <a:graphicFrameLocks noGrp="1"/>
          </p:cNvGraphicFramePr>
          <p:nvPr/>
        </p:nvGraphicFramePr>
        <p:xfrm>
          <a:off x="415925" y="836713"/>
          <a:ext cx="9074149" cy="5545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6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913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수문정보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 설명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HDAPS 시스템의 HDAPS_댐보수위 ODS 테이블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7125">
                <a:tc gridSpan="4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7C93FAB1-7926-0A8F-B25E-711F49A2E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101" y="1770650"/>
            <a:ext cx="7401958" cy="3677163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EF6631A4-3946-B598-8FC6-24FCF4DC8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085" y="389283"/>
            <a:ext cx="9083990" cy="331787"/>
          </a:xfrm>
        </p:spPr>
        <p:txBody>
          <a:bodyPr/>
          <a:lstStyle/>
          <a:p>
            <a:r>
              <a:rPr lang="en-US" sz="1400" b="1" dirty="0">
                <a:latin typeface="맑은 고딕"/>
              </a:rPr>
              <a:t>2</a:t>
            </a:r>
            <a:r>
              <a:rPr sz="1400" b="1" dirty="0">
                <a:latin typeface="맑은 고딕"/>
              </a:rPr>
              <a:t>. </a:t>
            </a:r>
            <a:r>
              <a:rPr lang="ko-KR" altLang="en-US" sz="1400" b="1" dirty="0">
                <a:latin typeface="맑은 고딕"/>
              </a:rPr>
              <a:t>수문정보</a:t>
            </a:r>
            <a:endParaRPr sz="1400" b="1" dirty="0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206060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71BAEF6-135E-4924-8EAC-3FA86171E9E2}"/>
              </a:ext>
            </a:extLst>
          </p:cNvPr>
          <p:cNvGraphicFramePr>
            <a:graphicFrameLocks noGrp="1"/>
          </p:cNvGraphicFramePr>
          <p:nvPr/>
        </p:nvGraphicFramePr>
        <p:xfrm>
          <a:off x="415925" y="836713"/>
          <a:ext cx="9074149" cy="5545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4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6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69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913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</a:rPr>
                        <a:t>수문정보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</a:rPr>
                        <a:t>주제 영역 설명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00000"/>
                          </a:solidFill>
                          <a:latin typeface="맑은 고딕"/>
                        </a:rPr>
                        <a:t>HDAPS 시스템의 HDAPS_댐보수질 ODS 테이블</a:t>
                      </a:r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7125">
                <a:tc gridSpan="4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tc hMerge="1"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27000" marR="27000" marT="9000" marB="9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A77F7F77-DE9D-7E36-094B-28CF217AF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406" y="1340768"/>
            <a:ext cx="7253187" cy="4823091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8D851A1A-9996-293B-0A29-0A40B9994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085" y="389283"/>
            <a:ext cx="9083990" cy="331787"/>
          </a:xfrm>
        </p:spPr>
        <p:txBody>
          <a:bodyPr/>
          <a:lstStyle/>
          <a:p>
            <a:r>
              <a:rPr lang="en-US" sz="1400" b="1" dirty="0">
                <a:latin typeface="맑은 고딕"/>
              </a:rPr>
              <a:t>2</a:t>
            </a:r>
            <a:r>
              <a:rPr sz="1400" b="1" dirty="0">
                <a:latin typeface="맑은 고딕"/>
              </a:rPr>
              <a:t>. </a:t>
            </a:r>
            <a:r>
              <a:rPr lang="ko-KR" altLang="en-US" sz="1400" b="1" dirty="0">
                <a:latin typeface="맑은 고딕"/>
              </a:rPr>
              <a:t>수문정보</a:t>
            </a:r>
            <a:endParaRPr sz="1400" b="1" dirty="0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4569972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LongProperties xmlns="http://schemas.microsoft.com/office/2006/metadata/longProperties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3DC77A828EE2C4D81AF024F460569B5" ma:contentTypeVersion="1" ma:contentTypeDescription="새 문서를 만듭니다." ma:contentTypeScope="" ma:versionID="cc9d5630a70d8196d048ee69f0fc4281">
  <xsd:schema xmlns:xsd="http://www.w3.org/2001/XMLSchema" xmlns:xs="http://www.w3.org/2001/XMLSchema" xmlns:p="http://schemas.microsoft.com/office/2006/metadata/properties" xmlns:ns2="38401c30-03ba-420f-896f-36299c68a925" targetNamespace="http://schemas.microsoft.com/office/2006/metadata/properties" ma:root="true" ma:fieldsID="f52a3d49948d89f7fa0004adad49ab67" ns2:_="">
    <xsd:import namespace="38401c30-03ba-420f-896f-36299c68a925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401c30-03ba-420f-896f-36299c68a92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문서 ID 값" ma:description="이 항목에 할당된 문서 ID 값입니다." ma:internalName="_dlc_DocId" ma:readOnly="true">
      <xsd:simpleType>
        <xsd:restriction base="dms:Text"/>
      </xsd:simpleType>
    </xsd:element>
    <xsd:element name="_dlc_DocIdUrl" ma:index="9" nillable="true" ma:displayName="문서 ID" ma:description="이 문서에 대한 영구 링크입니다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영구 ID" ma:description="추가 시 ID를 유지합니다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C7F5794-410F-4B53-A605-F79AEA507B76}">
  <ds:schemaRefs>
    <ds:schemaRef ds:uri="http://schemas.microsoft.com/office/2006/metadata/longProperties"/>
  </ds:schemaRefs>
</ds:datastoreItem>
</file>

<file path=customXml/itemProps2.xml><?xml version="1.0" encoding="utf-8"?>
<ds:datastoreItem xmlns:ds="http://schemas.openxmlformats.org/officeDocument/2006/customXml" ds:itemID="{880D073E-B96D-419D-A08A-BEEB1D2141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401c30-03ba-420f-896f-36299c68a9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5DA953D-B00F-4D53-B01B-5A1C523FA2C0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C1BDA910-AE65-418B-9550-F66A29C61E75}">
  <ds:schemaRefs>
    <ds:schemaRef ds:uri="http://schemas.microsoft.com/office/2006/metadata/properties"/>
    <ds:schemaRef ds:uri="http://www.w3.org/XML/1998/namespace"/>
    <ds:schemaRef ds:uri="http://purl.org/dc/dcmitype/"/>
    <ds:schemaRef ds:uri="http://schemas.microsoft.com/office/2006/documentManagement/types"/>
    <ds:schemaRef ds:uri="http://purl.org/dc/elements/1.1/"/>
    <ds:schemaRef ds:uri="38401c30-03ba-420f-896f-36299c68a925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5.xml><?xml version="1.0" encoding="utf-8"?>
<ds:datastoreItem xmlns:ds="http://schemas.openxmlformats.org/officeDocument/2006/customXml" ds:itemID="{474891BC-C640-43D5-8175-33BC5943071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5905</TotalTime>
  <Words>158</Words>
  <Application>Microsoft Office PowerPoint</Application>
  <PresentationFormat>A4 용지(210x297mm)</PresentationFormat>
  <Paragraphs>60</Paragraphs>
  <Slides>11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굴림</vt:lpstr>
      <vt:lpstr>맑은 고딕</vt:lpstr>
      <vt:lpstr>Arial</vt:lpstr>
      <vt:lpstr>Wingdings</vt:lpstr>
      <vt:lpstr>1_Office 테마</vt:lpstr>
      <vt:lpstr>PowerPoint 프레젠테이션</vt:lpstr>
      <vt:lpstr>개정이력</vt:lpstr>
      <vt:lpstr>목차</vt:lpstr>
      <vt:lpstr>1. 수자원정보</vt:lpstr>
      <vt:lpstr>1. 수자원정보</vt:lpstr>
      <vt:lpstr>2. 수문정보</vt:lpstr>
      <vt:lpstr>2. 수문정보</vt:lpstr>
      <vt:lpstr>2. 수문정보</vt:lpstr>
      <vt:lpstr>2. 수문정보</vt:lpstr>
      <vt:lpstr>2. 수문정보</vt:lpstr>
      <vt:lpstr>2. 수문정보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Owner</dc:creator>
  <cp:lastModifiedBy>LSW</cp:lastModifiedBy>
  <cp:revision>525</cp:revision>
  <cp:lastPrinted>2024-06-03T00:43:09Z</cp:lastPrinted>
  <dcterms:created xsi:type="dcterms:W3CDTF">2011-01-04T12:32:05Z</dcterms:created>
  <dcterms:modified xsi:type="dcterms:W3CDTF">2026-03-12T08:21:59Z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">
    <vt:lpwstr>FCNHZ7S6XMZC-6-2714</vt:lpwstr>
  </property>
  <property fmtid="{D5CDD505-2E9C-101B-9397-08002B2CF9AE}" pid="3" name="_dlc_DocIdItemGuid">
    <vt:lpwstr>ab86fa6f-0ef5-4b90-9ff9-987649a96697</vt:lpwstr>
  </property>
  <property fmtid="{D5CDD505-2E9C-101B-9397-08002B2CF9AE}" pid="4" name="_dlc_DocIdUrl">
    <vt:lpwstr>https://ecm.ktds.co.kr/sites/ECM/_layouts/DocIdRedir.aspx?ID=FCNHZ7S6XMZC-6-2714, FCNHZ7S6XMZC-6-2714</vt:lpwstr>
  </property>
</Properties>
</file>