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512" r:id="rId6"/>
  </p:sldMasterIdLst>
  <p:notesMasterIdLst>
    <p:notesMasterId r:id="rId18"/>
  </p:notesMasterIdLst>
  <p:sldIdLst>
    <p:sldId id="359" r:id="rId7"/>
    <p:sldId id="355" r:id="rId8"/>
    <p:sldId id="419" r:id="rId9"/>
    <p:sldId id="426" r:id="rId10"/>
    <p:sldId id="425" r:id="rId11"/>
    <p:sldId id="420" r:id="rId12"/>
    <p:sldId id="421" r:id="rId13"/>
    <p:sldId id="414" r:id="rId14"/>
    <p:sldId id="422" r:id="rId15"/>
    <p:sldId id="423" r:id="rId16"/>
    <p:sldId id="424" r:id="rId17"/>
  </p:sldIdLst>
  <p:sldSz cx="9906000" cy="6858000" type="A4"/>
  <p:notesSz cx="6805613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120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4A7EBB"/>
    <a:srgbClr val="203864"/>
    <a:srgbClr val="CDD7DD"/>
    <a:srgbClr val="D0CECE"/>
    <a:srgbClr val="7198C6"/>
    <a:srgbClr val="D9D9D9"/>
    <a:srgbClr val="7F7F7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 autoAdjust="0"/>
    <p:restoredTop sz="80023" autoAdjust="0"/>
  </p:normalViewPr>
  <p:slideViewPr>
    <p:cSldViewPr showGuides="1">
      <p:cViewPr varScale="1">
        <p:scale>
          <a:sx n="70" d="100"/>
          <a:sy n="70" d="100"/>
        </p:scale>
        <p:origin x="1372" y="48"/>
      </p:cViewPr>
      <p:guideLst>
        <p:guide pos="3120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2" d="100"/>
          <a:sy n="72" d="100"/>
        </p:scale>
        <p:origin x="4086" y="8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AFEE28-24C4-4AD4-AB1F-6A29DEB3856B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0037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5FE88A9-9F00-438F-B56A-9586458E96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8754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2788" y="746125"/>
            <a:ext cx="5380037" cy="3725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72741EBC-B597-4D85-AA10-4934E2480FF2}" type="slidenum">
              <a:rPr lang="ko-KR" altLang="en-US" smtClean="0">
                <a:solidFill>
                  <a:srgbClr val="000000"/>
                </a:solidFill>
                <a:latin typeface="굴림" charset="-127"/>
                <a:ea typeface="굴림" charset="-127"/>
              </a:rPr>
              <a:pPr eaLnBrk="1" hangingPunct="1">
                <a:spcBef>
                  <a:spcPct val="0"/>
                </a:spcBef>
              </a:pPr>
              <a:t>0</a:t>
            </a:fld>
            <a:endParaRPr lang="ko-KR" altLang="en-US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4537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0037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67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55" userDrawn="1">
          <p15:clr>
            <a:srgbClr val="FBAE40"/>
          </p15:clr>
        </p15:guide>
        <p15:guide id="3" pos="353" userDrawn="1">
          <p15:clr>
            <a:srgbClr val="FBAE40"/>
          </p15:clr>
        </p15:guide>
        <p15:guide id="4" pos="588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BA4C3C-F68B-857F-2C82-2B535E73E7C8}"/>
              </a:ext>
            </a:extLst>
          </p:cNvPr>
          <p:cNvSpPr/>
          <p:nvPr userDrawn="1"/>
        </p:nvSpPr>
        <p:spPr>
          <a:xfrm>
            <a:off x="403688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OOOOO OOOO </a:t>
            </a:r>
            <a:r>
              <a:rPr lang="en-US" altLang="ko-KR" sz="1000" b="0" dirty="0" err="1">
                <a:solidFill>
                  <a:schemeClr val="tx1"/>
                </a:solidFill>
                <a:latin typeface="+mn-ea"/>
                <a:ea typeface="+mn-ea"/>
              </a:rPr>
              <a:t>OOOO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사업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5029A1-1C23-EFB0-C968-27EE7CFB894E}"/>
              </a:ext>
            </a:extLst>
          </p:cNvPr>
          <p:cNvSpPr/>
          <p:nvPr userDrawn="1"/>
        </p:nvSpPr>
        <p:spPr>
          <a:xfrm>
            <a:off x="6142751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논리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ERD</a:t>
            </a:r>
            <a:endParaRPr lang="ko-KR" altLang="en-US" sz="1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FFEEBB-6FD5-24F4-71B5-E7E4B22970C9}"/>
              </a:ext>
            </a:extLst>
          </p:cNvPr>
          <p:cNvSpPr/>
          <p:nvPr userDrawn="1"/>
        </p:nvSpPr>
        <p:spPr>
          <a:xfrm>
            <a:off x="403688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고객사명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26B3CB-6BA0-E3A2-9BBC-5DCBC75A296D}"/>
              </a:ext>
            </a:extLst>
          </p:cNvPr>
          <p:cNvSpPr/>
          <p:nvPr userDrawn="1"/>
        </p:nvSpPr>
        <p:spPr>
          <a:xfrm>
            <a:off x="6142751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KT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컨소시엄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4987AE0-02CC-6DFD-1FA4-409F469F7D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308767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27D22A1-9561-D0FD-0FC2-F70548786FD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33822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  <p15:guide id="2" pos="262" userDrawn="1">
          <p15:clr>
            <a:srgbClr val="FBAE40"/>
          </p15:clr>
        </p15:guide>
        <p15:guide id="3" pos="5978" userDrawn="1">
          <p15:clr>
            <a:srgbClr val="FBAE40"/>
          </p15:clr>
        </p15:guide>
        <p15:guide id="4" orient="horz" pos="40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14">
            <a:extLst>
              <a:ext uri="{FF2B5EF4-FFF2-40B4-BE49-F238E27FC236}">
                <a16:creationId xmlns:a16="http://schemas.microsoft.com/office/drawing/2014/main" id="{DCBDDFB4-396D-4EFE-8B1D-9A9CBB2C4E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925" y="864964"/>
            <a:ext cx="9074151" cy="331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-60" baseline="0">
                <a:solidFill>
                  <a:srgbClr val="000000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마스터 헤드라인</a:t>
            </a:r>
            <a:r>
              <a:rPr lang="en-US" altLang="ko-KR" dirty="0"/>
              <a:t> (</a:t>
            </a:r>
            <a:r>
              <a:rPr lang="ko-KR" altLang="en-US" dirty="0" err="1"/>
              <a:t>맑은고딕</a:t>
            </a:r>
            <a:r>
              <a:rPr lang="en-US" altLang="ko-KR" dirty="0"/>
              <a:t>, 16pt)</a:t>
            </a:r>
            <a:endParaRPr lang="ko-KR" altLang="en-US" dirty="0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BA4C3C-F68B-857F-2C82-2B535E73E7C8}"/>
              </a:ext>
            </a:extLst>
          </p:cNvPr>
          <p:cNvSpPr/>
          <p:nvPr userDrawn="1"/>
        </p:nvSpPr>
        <p:spPr>
          <a:xfrm>
            <a:off x="403688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OOOOO OOOO </a:t>
            </a:r>
            <a:r>
              <a:rPr lang="en-US" altLang="ko-KR" sz="1000" b="0" dirty="0" err="1">
                <a:solidFill>
                  <a:schemeClr val="tx1"/>
                </a:solidFill>
                <a:latin typeface="+mn-ea"/>
                <a:ea typeface="+mn-ea"/>
              </a:rPr>
              <a:t>OOOO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사업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5029A1-1C23-EFB0-C968-27EE7CFB894E}"/>
              </a:ext>
            </a:extLst>
          </p:cNvPr>
          <p:cNvSpPr/>
          <p:nvPr userDrawn="1"/>
        </p:nvSpPr>
        <p:spPr>
          <a:xfrm>
            <a:off x="6142751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논리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ERD</a:t>
            </a:r>
            <a:endParaRPr lang="ko-KR" altLang="en-US" sz="1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FFEEBB-6FD5-24F4-71B5-E7E4B22970C9}"/>
              </a:ext>
            </a:extLst>
          </p:cNvPr>
          <p:cNvSpPr/>
          <p:nvPr userDrawn="1"/>
        </p:nvSpPr>
        <p:spPr>
          <a:xfrm>
            <a:off x="403688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고객사명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26B3CB-6BA0-E3A2-9BBC-5DCBC75A296D}"/>
              </a:ext>
            </a:extLst>
          </p:cNvPr>
          <p:cNvSpPr/>
          <p:nvPr userDrawn="1"/>
        </p:nvSpPr>
        <p:spPr>
          <a:xfrm>
            <a:off x="6142751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KT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컨소시엄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4987AE0-02CC-6DFD-1FA4-409F469F7D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308767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27D22A1-9561-D0FD-0FC2-F70548786FD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84910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262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pos="5978" userDrawn="1">
          <p15:clr>
            <a:srgbClr val="FBAE40"/>
          </p15:clr>
        </p15:guide>
        <p15:guide id="5" orient="horz" pos="75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085" y="144464"/>
            <a:ext cx="9083990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0D9F9CA-DBD3-4B2B-A36A-E037D831DAD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549275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5FAD6B-430F-8397-8C3B-1A14136036A4}"/>
              </a:ext>
            </a:extLst>
          </p:cNvPr>
          <p:cNvSpPr/>
          <p:nvPr userDrawn="1"/>
        </p:nvSpPr>
        <p:spPr>
          <a:xfrm>
            <a:off x="403688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고객사명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5694DA-F606-DB84-4A02-38BB580B19B7}"/>
              </a:ext>
            </a:extLst>
          </p:cNvPr>
          <p:cNvSpPr/>
          <p:nvPr userDrawn="1"/>
        </p:nvSpPr>
        <p:spPr>
          <a:xfrm>
            <a:off x="6142751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KT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컨소시엄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5675652-B4B0-8E56-0C62-B1022111E20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3651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2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템플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BF5AADF-94CF-2130-827B-AEF6D88F6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193" t="13708" r="3125" b="11772"/>
          <a:stretch/>
        </p:blipFill>
        <p:spPr>
          <a:xfrm>
            <a:off x="3800872" y="3171787"/>
            <a:ext cx="2464207" cy="5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34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템플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83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15925" y="144464"/>
            <a:ext cx="9074150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제목 </a:t>
            </a:r>
            <a:r>
              <a:rPr lang="en-US" altLang="ko-KR" dirty="0"/>
              <a:t>[</a:t>
            </a:r>
            <a:r>
              <a:rPr lang="ko-KR" altLang="en-US" dirty="0"/>
              <a:t>맑은 고딕 </a:t>
            </a:r>
            <a:r>
              <a:rPr lang="en-US" altLang="ko-KR" dirty="0"/>
              <a:t>bold, 16pt]</a:t>
            </a:r>
            <a:endParaRPr lang="ko-KR" altLang="en-US" dirty="0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15925" y="692695"/>
            <a:ext cx="9074150" cy="57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소제목 </a:t>
            </a:r>
            <a:r>
              <a:rPr lang="en-US" altLang="ko-KR" dirty="0"/>
              <a:t>[</a:t>
            </a:r>
            <a:r>
              <a:rPr lang="ko-KR" altLang="en-US" dirty="0"/>
              <a:t>맑은 고딕 </a:t>
            </a:r>
            <a:r>
              <a:rPr lang="en-US" altLang="ko-KR" dirty="0"/>
              <a:t>bold, 14pt]</a:t>
            </a:r>
            <a:endParaRPr lang="ko-KR" altLang="en-US" dirty="0"/>
          </a:p>
          <a:p>
            <a:pPr lvl="1"/>
            <a:r>
              <a:rPr lang="ko-KR" altLang="en-US" dirty="0"/>
              <a:t>본문 </a:t>
            </a:r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  <a:endParaRPr lang="ko-KR" altLang="en-US" dirty="0"/>
          </a:p>
          <a:p>
            <a:pPr lvl="2"/>
            <a:r>
              <a:rPr lang="ko-KR" altLang="en-US" dirty="0"/>
              <a:t>본문 </a:t>
            </a:r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</a:p>
          <a:p>
            <a:pPr lvl="3"/>
            <a:r>
              <a:rPr lang="ko-KR" altLang="en-US" dirty="0"/>
              <a:t>본문 </a:t>
            </a:r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15" r:id="rId1"/>
    <p:sldLayoutId id="2147485906" r:id="rId2"/>
    <p:sldLayoutId id="2147485914" r:id="rId3"/>
    <p:sldLayoutId id="2147485913" r:id="rId4"/>
    <p:sldLayoutId id="2147485911" r:id="rId5"/>
    <p:sldLayoutId id="2147485912" r:id="rId6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1733" b="1" kern="1200" dirty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45923" indent="-245923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"/>
        <a:defRPr sz="1517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54011" indent="-19949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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636303" indent="-13586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맑은 고딕" pitchFamily="50" charset="-127"/>
        <a:buChar char="-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827195" indent="-154776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§"/>
        <a:tabLst>
          <a:tab pos="780761" algn="l"/>
        </a:tabLst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1289804" indent="-12726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7">
            <a:extLst>
              <a:ext uri="{FF2B5EF4-FFF2-40B4-BE49-F238E27FC236}">
                <a16:creationId xmlns:a16="http://schemas.microsoft.com/office/drawing/2014/main" id="{4F4CAF71-6718-A108-5DD6-1489963ED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218934"/>
              </p:ext>
            </p:extLst>
          </p:nvPr>
        </p:nvGraphicFramePr>
        <p:xfrm>
          <a:off x="579000" y="1393920"/>
          <a:ext cx="8748000" cy="208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8000">
                  <a:extLst>
                    <a:ext uri="{9D8B030D-6E8A-4147-A177-3AD203B41FA5}">
                      <a16:colId xmlns:a16="http://schemas.microsoft.com/office/drawing/2014/main" val="2959953029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</a:rPr>
                        <a:t>K-water 데이터허브 ODS 구축</a:t>
                      </a:r>
                    </a:p>
                  </a:txBody>
                  <a:tcPr marL="27000" marR="27000" marT="9000" marB="9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91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  <a:latin typeface="맑은 고딕"/>
                        </a:rPr>
                        <a:t>논리 ERD</a:t>
                      </a:r>
                    </a:p>
                  </a:txBody>
                  <a:tcPr marL="27000" marR="27000" marT="9000" marB="9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9957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</a:rPr>
                        <a:t>HDAPS_댐보수문</a:t>
                      </a:r>
                    </a:p>
                  </a:txBody>
                  <a:tcPr marL="27000" marR="27000" marT="9000" marB="9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236616"/>
                  </a:ext>
                </a:extLst>
              </a:tr>
              <a:tr h="348112"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문서번호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 : </a:t>
                      </a:r>
                      <a:r>
                        <a:rPr sz="1000" b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K</a:t>
                      </a:r>
                      <a:r>
                        <a:rPr lang="en-US" sz="1000" b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WDP-DH</a:t>
                      </a:r>
                      <a:r>
                        <a:rPr sz="1000" b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-DS-</a:t>
                      </a:r>
                      <a:r>
                        <a:rPr lang="en-US" sz="1000" b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06</a:t>
                      </a:r>
                      <a:r>
                        <a:rPr sz="1000" b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
</a:t>
                      </a:r>
                      <a:r>
                        <a:rPr sz="1000" b="0" dirty="0" err="1" smtClean="0">
                          <a:solidFill>
                            <a:srgbClr val="000000"/>
                          </a:solidFill>
                          <a:latin typeface="맑은 고딕"/>
                        </a:rPr>
                        <a:t>시스템명</a:t>
                      </a:r>
                      <a:r>
                        <a:rPr sz="1000" b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: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RWIS ODS /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HDAPS ODS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
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</a:rPr>
                        <a:t>주 제 명 :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수자원정보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수문정보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27000" marR="27000" marT="9000" marB="9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07659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95D10D08-2078-E9C4-4C81-260A1473A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3" t="13708" r="3125" b="11772"/>
          <a:stretch/>
        </p:blipFill>
        <p:spPr>
          <a:xfrm>
            <a:off x="7965904" y="6174000"/>
            <a:ext cx="1379584" cy="288000"/>
          </a:xfrm>
          <a:prstGeom prst="rect">
            <a:avLst/>
          </a:prstGeom>
          <a:ln>
            <a:noFill/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3CB3681-AAD7-0466-BFAA-62FED663D65E}"/>
              </a:ext>
            </a:extLst>
          </p:cNvPr>
          <p:cNvSpPr/>
          <p:nvPr/>
        </p:nvSpPr>
        <p:spPr>
          <a:xfrm>
            <a:off x="557819" y="404813"/>
            <a:ext cx="13788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고객사 로고</a:t>
            </a:r>
          </a:p>
        </p:txBody>
      </p:sp>
    </p:spTree>
    <p:extLst>
      <p:ext uri="{BB962C8B-B14F-4D97-AF65-F5344CB8AC3E}">
        <p14:creationId xmlns:p14="http://schemas.microsoft.com/office/powerpoint/2010/main" val="42155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987659F-0357-469C-8A8F-F58DD4D6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개정이력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2B6EAF9-D40B-73C2-A78A-AAFBAB91E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968778"/>
              </p:ext>
            </p:extLst>
          </p:nvPr>
        </p:nvGraphicFramePr>
        <p:xfrm>
          <a:off x="415925" y="764704"/>
          <a:ext cx="9074150" cy="559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025">
                  <a:extLst>
                    <a:ext uri="{9D8B030D-6E8A-4147-A177-3AD203B41FA5}">
                      <a16:colId xmlns:a16="http://schemas.microsoft.com/office/drawing/2014/main" val="2703352228"/>
                    </a:ext>
                  </a:extLst>
                </a:gridCol>
                <a:gridCol w="472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버전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검토</a:t>
                      </a:r>
                      <a:r>
                        <a:rPr lang="en-US" altLang="ko-KR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승인자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2026.03.13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 작성완료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noProof="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황해동</a:t>
                      </a:r>
                      <a:r>
                        <a:rPr lang="ko-KR" altLang="en-US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015726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041899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817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973607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703713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7080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0813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79369-9A50-217D-EE4A-6DA9B2D5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CE22EA3-A361-C034-B5AA-19D3C9FADA1E}"/>
              </a:ext>
            </a:extLst>
          </p:cNvPr>
          <p:cNvSpPr txBox="1">
            <a:spLocks/>
          </p:cNvSpPr>
          <p:nvPr/>
        </p:nvSpPr>
        <p:spPr bwMode="auto">
          <a:xfrm>
            <a:off x="704528" y="1124744"/>
            <a:ext cx="4546915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95285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90570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485854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981139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42900" indent="-342900">
              <a:lnSpc>
                <a:spcPct val="250000"/>
              </a:lnSpc>
              <a:buAutoNum type="arabicPeriod"/>
            </a:pPr>
            <a:r>
              <a:rPr kumimoji="0" lang="ko-KR" altLang="en-US" sz="1400" dirty="0">
                <a:latin typeface="맑은 고딕"/>
              </a:rPr>
              <a:t>수자원정보</a:t>
            </a:r>
            <a:endParaRPr kumimoji="0" lang="en-US" altLang="ko-KR" sz="1400" dirty="0">
              <a:latin typeface="맑은 고딕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kumimoji="0" lang="ko-KR" altLang="en-US" sz="1400" dirty="0">
                <a:latin typeface="맑은 고딕"/>
              </a:rPr>
              <a:t>수문정보</a:t>
            </a:r>
            <a:endParaRPr kumimoji="0" lang="en-US" sz="1400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0373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수자원정보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RWIS 시스템의 실시간수도_수질측정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9ABFBA19-092B-EB05-7D75-BFA7268A5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30" y="1528497"/>
            <a:ext cx="7372800" cy="386563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DBA392-599A-349B-4C42-D2F2B01C8EA8}"/>
              </a:ext>
            </a:extLst>
          </p:cNvPr>
          <p:cNvGrpSpPr/>
          <p:nvPr/>
        </p:nvGrpSpPr>
        <p:grpSpPr>
          <a:xfrm>
            <a:off x="6681192" y="5517232"/>
            <a:ext cx="2592288" cy="720080"/>
            <a:chOff x="6681192" y="5517232"/>
            <a:chExt cx="2592288" cy="72008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2AB14A1-C33F-0546-DF08-282260D47AE6}"/>
                </a:ext>
              </a:extLst>
            </p:cNvPr>
            <p:cNvSpPr/>
            <p:nvPr/>
          </p:nvSpPr>
          <p:spPr>
            <a:xfrm>
              <a:off x="6681192" y="5517232"/>
              <a:ext cx="2592288" cy="720080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6402E79-7E24-68AB-2174-C3134B2C99CA}"/>
                </a:ext>
              </a:extLst>
            </p:cNvPr>
            <p:cNvGrpSpPr/>
            <p:nvPr/>
          </p:nvGrpSpPr>
          <p:grpSpPr>
            <a:xfrm>
              <a:off x="6722531" y="5589133"/>
              <a:ext cx="2519062" cy="576277"/>
              <a:chOff x="6762064" y="5661249"/>
              <a:chExt cx="2385656" cy="432260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0D4865F8-2AF5-D5CD-EFCF-F16999B34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50" r="65639"/>
              <a:stretch>
                <a:fillRect/>
              </a:stretch>
            </p:blipFill>
            <p:spPr>
              <a:xfrm>
                <a:off x="6762064" y="5661249"/>
                <a:ext cx="1152128" cy="432260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A1587608-C1DE-43C1-CAF4-C4E6A9906D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7401"/>
              <a:stretch>
                <a:fillRect/>
              </a:stretch>
            </p:blipFill>
            <p:spPr>
              <a:xfrm>
                <a:off x="8054695" y="5661249"/>
                <a:ext cx="1093025" cy="432046"/>
              </a:xfrm>
              <a:prstGeom prst="rect">
                <a:avLst/>
              </a:prstGeom>
            </p:spPr>
          </p:pic>
        </p:grpSp>
      </p:grpSp>
      <p:sp>
        <p:nvSpPr>
          <p:cNvPr id="16" name="제목 1">
            <a:extLst>
              <a:ext uri="{FF2B5EF4-FFF2-40B4-BE49-F238E27FC236}">
                <a16:creationId xmlns:a16="http://schemas.microsoft.com/office/drawing/2014/main" id="{2F3683E5-EECA-4C78-3593-5DC7535B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sz="1400" b="1" dirty="0">
                <a:latin typeface="맑은 고딕"/>
              </a:rPr>
              <a:t>1. </a:t>
            </a:r>
            <a:r>
              <a:rPr lang="ko-KR" altLang="en-US" sz="1400" dirty="0">
                <a:latin typeface="맑은 고딕"/>
              </a:rPr>
              <a:t>수자원정보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7678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수자원정보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RWIS 시스템의 실시간수도_설비측정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2AFF0A69-6583-705A-AEEC-FB4C4AF87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10" y="1414181"/>
            <a:ext cx="7373379" cy="402963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2BBE5BA-FF6C-918A-1A75-CF6CE60151DB}"/>
              </a:ext>
            </a:extLst>
          </p:cNvPr>
          <p:cNvGrpSpPr/>
          <p:nvPr/>
        </p:nvGrpSpPr>
        <p:grpSpPr>
          <a:xfrm>
            <a:off x="6681192" y="5517232"/>
            <a:ext cx="2592288" cy="720080"/>
            <a:chOff x="6681192" y="5517232"/>
            <a:chExt cx="2592288" cy="72008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C38BD94-F741-C626-B79D-D7D4E1C0C05B}"/>
                </a:ext>
              </a:extLst>
            </p:cNvPr>
            <p:cNvSpPr/>
            <p:nvPr/>
          </p:nvSpPr>
          <p:spPr>
            <a:xfrm>
              <a:off x="6681192" y="5517232"/>
              <a:ext cx="2592288" cy="720080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8DC2979-F38B-C9C5-7FFA-466FE42A5ACE}"/>
                </a:ext>
              </a:extLst>
            </p:cNvPr>
            <p:cNvGrpSpPr/>
            <p:nvPr/>
          </p:nvGrpSpPr>
          <p:grpSpPr>
            <a:xfrm>
              <a:off x="6722531" y="5589133"/>
              <a:ext cx="2519062" cy="576277"/>
              <a:chOff x="6762064" y="5661249"/>
              <a:chExt cx="2385656" cy="43226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BB7D2AF4-8A2A-4BCD-6D86-7AB30421D3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50" r="65639"/>
              <a:stretch>
                <a:fillRect/>
              </a:stretch>
            </p:blipFill>
            <p:spPr>
              <a:xfrm>
                <a:off x="6762064" y="5661249"/>
                <a:ext cx="1152128" cy="432260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B7356988-6EC8-EFBC-9782-1A21B6B8EA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7401"/>
              <a:stretch>
                <a:fillRect/>
              </a:stretch>
            </p:blipFill>
            <p:spPr>
              <a:xfrm>
                <a:off x="8054695" y="5661249"/>
                <a:ext cx="1093025" cy="432046"/>
              </a:xfrm>
              <a:prstGeom prst="rect">
                <a:avLst/>
              </a:prstGeom>
            </p:spPr>
          </p:pic>
        </p:grpSp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1A6C8AA3-6370-6FBF-7A0E-6B6F08A5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sz="1400" b="1" dirty="0">
                <a:latin typeface="맑은 고딕"/>
              </a:rPr>
              <a:t>1. </a:t>
            </a:r>
            <a:r>
              <a:rPr lang="ko-KR" altLang="en-US" sz="1400" dirty="0">
                <a:latin typeface="맑은 고딕"/>
              </a:rPr>
              <a:t>수자원정보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5927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HDAPS_댐보운영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AA7565DC-1DBD-CE00-A401-1F3385F2D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087" y="1225327"/>
            <a:ext cx="3265986" cy="5084618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715C2665-5638-08BF-A87B-683D9FB0E387}"/>
              </a:ext>
            </a:extLst>
          </p:cNvPr>
          <p:cNvGrpSpPr/>
          <p:nvPr/>
        </p:nvGrpSpPr>
        <p:grpSpPr>
          <a:xfrm>
            <a:off x="6681192" y="5517232"/>
            <a:ext cx="2592288" cy="720080"/>
            <a:chOff x="6681192" y="5517232"/>
            <a:chExt cx="2592288" cy="72008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1D345EA-CE74-44E5-EDB9-A3E6473F9270}"/>
                </a:ext>
              </a:extLst>
            </p:cNvPr>
            <p:cNvSpPr/>
            <p:nvPr/>
          </p:nvSpPr>
          <p:spPr>
            <a:xfrm>
              <a:off x="6681192" y="5517232"/>
              <a:ext cx="2592288" cy="720080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61E85C5-1C00-C64D-66D9-86AECD56F54A}"/>
                </a:ext>
              </a:extLst>
            </p:cNvPr>
            <p:cNvGrpSpPr/>
            <p:nvPr/>
          </p:nvGrpSpPr>
          <p:grpSpPr>
            <a:xfrm>
              <a:off x="6722531" y="5589133"/>
              <a:ext cx="2519062" cy="576277"/>
              <a:chOff x="6762064" y="5661249"/>
              <a:chExt cx="2385656" cy="432260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FB15AE7A-0BEB-77F6-ACDE-F434CF6A10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50" r="65639"/>
              <a:stretch>
                <a:fillRect/>
              </a:stretch>
            </p:blipFill>
            <p:spPr>
              <a:xfrm>
                <a:off x="6762064" y="5661249"/>
                <a:ext cx="1152128" cy="432260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69089210-6DAA-59FA-D21F-23926AC29E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7401"/>
              <a:stretch>
                <a:fillRect/>
              </a:stretch>
            </p:blipFill>
            <p:spPr>
              <a:xfrm>
                <a:off x="8054695" y="5661249"/>
                <a:ext cx="1093025" cy="432046"/>
              </a:xfrm>
              <a:prstGeom prst="rect">
                <a:avLst/>
              </a:prstGeom>
            </p:spPr>
          </p:pic>
        </p:grpSp>
      </p:grpSp>
      <p:sp>
        <p:nvSpPr>
          <p:cNvPr id="14" name="제목 1">
            <a:extLst>
              <a:ext uri="{FF2B5EF4-FFF2-40B4-BE49-F238E27FC236}">
                <a16:creationId xmlns:a16="http://schemas.microsoft.com/office/drawing/2014/main" id="{FCCF410F-2618-FFBA-3FA8-049861468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03445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HDAPS_댐보발전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0F5B432-13D5-6762-6220-12C12788D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00" y="2390630"/>
            <a:ext cx="7344800" cy="207674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52659126-ADC5-B4E4-4F9E-B00A3C7DDC3F}"/>
              </a:ext>
            </a:extLst>
          </p:cNvPr>
          <p:cNvGrpSpPr/>
          <p:nvPr/>
        </p:nvGrpSpPr>
        <p:grpSpPr>
          <a:xfrm>
            <a:off x="6681192" y="5517232"/>
            <a:ext cx="2592288" cy="720080"/>
            <a:chOff x="6681192" y="5517232"/>
            <a:chExt cx="2592288" cy="72008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AE4011D-863E-0060-777C-A2F461564002}"/>
                </a:ext>
              </a:extLst>
            </p:cNvPr>
            <p:cNvSpPr/>
            <p:nvPr/>
          </p:nvSpPr>
          <p:spPr>
            <a:xfrm>
              <a:off x="6681192" y="5517232"/>
              <a:ext cx="2592288" cy="720080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F9756DB-2EF5-D3B0-81F9-F5A442523DB2}"/>
                </a:ext>
              </a:extLst>
            </p:cNvPr>
            <p:cNvGrpSpPr/>
            <p:nvPr/>
          </p:nvGrpSpPr>
          <p:grpSpPr>
            <a:xfrm>
              <a:off x="6722531" y="5589133"/>
              <a:ext cx="2519062" cy="576277"/>
              <a:chOff x="6762064" y="5661249"/>
              <a:chExt cx="2385656" cy="43226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1789E751-C431-2403-4859-E1781AB329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50" r="65639"/>
              <a:stretch>
                <a:fillRect/>
              </a:stretch>
            </p:blipFill>
            <p:spPr>
              <a:xfrm>
                <a:off x="6762064" y="5661249"/>
                <a:ext cx="1152128" cy="432260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92DEE877-B5FE-099B-70F9-00CC10F3F9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7401"/>
              <a:stretch>
                <a:fillRect/>
              </a:stretch>
            </p:blipFill>
            <p:spPr>
              <a:xfrm>
                <a:off x="8054695" y="5661249"/>
                <a:ext cx="1093025" cy="432046"/>
              </a:xfrm>
              <a:prstGeom prst="rect">
                <a:avLst/>
              </a:prstGeom>
            </p:spPr>
          </p:pic>
        </p:grpSp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7ADC41A3-23CE-31CE-A390-850EEF96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20246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140810"/>
              </p:ext>
            </p:extLst>
          </p:nvPr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HDAPS_댐보수문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EB20E5AD-B24D-9424-67A3-B758B79F5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94" y="2104840"/>
            <a:ext cx="7421011" cy="264832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9D081C4-65DC-6B07-4D7F-12211755C21B}"/>
              </a:ext>
            </a:extLst>
          </p:cNvPr>
          <p:cNvGrpSpPr/>
          <p:nvPr/>
        </p:nvGrpSpPr>
        <p:grpSpPr>
          <a:xfrm>
            <a:off x="6681192" y="5517232"/>
            <a:ext cx="2592288" cy="720080"/>
            <a:chOff x="6681192" y="5517232"/>
            <a:chExt cx="2592288" cy="72008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42CBFA0-01F4-897F-2F57-4B65E983AF45}"/>
                </a:ext>
              </a:extLst>
            </p:cNvPr>
            <p:cNvSpPr/>
            <p:nvPr/>
          </p:nvSpPr>
          <p:spPr>
            <a:xfrm>
              <a:off x="6681192" y="5517232"/>
              <a:ext cx="2592288" cy="720080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4566F99-13A2-E6DB-868F-12032E2A159A}"/>
                </a:ext>
              </a:extLst>
            </p:cNvPr>
            <p:cNvGrpSpPr/>
            <p:nvPr/>
          </p:nvGrpSpPr>
          <p:grpSpPr>
            <a:xfrm>
              <a:off x="6722531" y="5589133"/>
              <a:ext cx="2519062" cy="576277"/>
              <a:chOff x="6762064" y="5661249"/>
              <a:chExt cx="2385656" cy="43226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1C86A8FE-D927-A7BA-1B23-4D8B8DFAC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50" r="65639"/>
              <a:stretch>
                <a:fillRect/>
              </a:stretch>
            </p:blipFill>
            <p:spPr>
              <a:xfrm>
                <a:off x="6762064" y="5661249"/>
                <a:ext cx="1152128" cy="432260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FCE308C2-500B-F41E-BEDD-35F115B484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7401"/>
              <a:stretch>
                <a:fillRect/>
              </a:stretch>
            </p:blipFill>
            <p:spPr>
              <a:xfrm>
                <a:off x="8054695" y="5661249"/>
                <a:ext cx="1093025" cy="432046"/>
              </a:xfrm>
              <a:prstGeom prst="rect">
                <a:avLst/>
              </a:prstGeom>
            </p:spPr>
          </p:pic>
        </p:grpSp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5EDB4BA9-E9EC-9154-3B3C-CAEADAC02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66626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HDAPS_댐보우량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3F8051F-3CB2-52E4-CE83-7F6C8D199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7" y="1628800"/>
            <a:ext cx="5615499" cy="419523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14AFDBB4-FA96-E401-46C6-6C0393B9EBAD}"/>
              </a:ext>
            </a:extLst>
          </p:cNvPr>
          <p:cNvGrpSpPr/>
          <p:nvPr/>
        </p:nvGrpSpPr>
        <p:grpSpPr>
          <a:xfrm>
            <a:off x="6681192" y="5517232"/>
            <a:ext cx="2592288" cy="720080"/>
            <a:chOff x="6681192" y="5517232"/>
            <a:chExt cx="2592288" cy="72008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7D2E349-D205-8EBE-9379-D7A001150484}"/>
                </a:ext>
              </a:extLst>
            </p:cNvPr>
            <p:cNvSpPr/>
            <p:nvPr/>
          </p:nvSpPr>
          <p:spPr>
            <a:xfrm>
              <a:off x="6681192" y="5517232"/>
              <a:ext cx="2592288" cy="720080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63948D9-7660-32D0-70A7-A89CB50998C6}"/>
                </a:ext>
              </a:extLst>
            </p:cNvPr>
            <p:cNvGrpSpPr/>
            <p:nvPr/>
          </p:nvGrpSpPr>
          <p:grpSpPr>
            <a:xfrm>
              <a:off x="6722531" y="5589133"/>
              <a:ext cx="2519062" cy="576277"/>
              <a:chOff x="6762064" y="5661249"/>
              <a:chExt cx="2385656" cy="43226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6441C226-DA2D-F5EA-B27B-850602AE6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50" r="65639"/>
              <a:stretch>
                <a:fillRect/>
              </a:stretch>
            </p:blipFill>
            <p:spPr>
              <a:xfrm>
                <a:off x="6762064" y="5661249"/>
                <a:ext cx="1152128" cy="432260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995450E8-F0E9-0BDB-DC5A-3A53DB0460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7401"/>
              <a:stretch>
                <a:fillRect/>
              </a:stretch>
            </p:blipFill>
            <p:spPr>
              <a:xfrm>
                <a:off x="8054695" y="5661249"/>
                <a:ext cx="1093025" cy="432046"/>
              </a:xfrm>
              <a:prstGeom prst="rect">
                <a:avLst/>
              </a:prstGeom>
            </p:spPr>
          </p:pic>
        </p:grpSp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88F1A611-5FE5-06CE-4A04-B68DD16A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1456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HDAPS_댐보수위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B866588B-D63E-BC5C-1ACF-DA04ED7F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562818"/>
            <a:ext cx="6405429" cy="3732363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AE5E0EA9-64F1-29E2-1761-DA3488E8FD21}"/>
              </a:ext>
            </a:extLst>
          </p:cNvPr>
          <p:cNvGrpSpPr/>
          <p:nvPr/>
        </p:nvGrpSpPr>
        <p:grpSpPr>
          <a:xfrm>
            <a:off x="6681192" y="5517232"/>
            <a:ext cx="2592288" cy="720080"/>
            <a:chOff x="6681192" y="5517232"/>
            <a:chExt cx="2592288" cy="72008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605AB3-9DAF-878D-E664-500B0BF16DE5}"/>
                </a:ext>
              </a:extLst>
            </p:cNvPr>
            <p:cNvSpPr/>
            <p:nvPr/>
          </p:nvSpPr>
          <p:spPr>
            <a:xfrm>
              <a:off x="6681192" y="5517232"/>
              <a:ext cx="2592288" cy="720080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225E4A0-30A8-CB8D-F9AF-6F3B50C1CF8D}"/>
                </a:ext>
              </a:extLst>
            </p:cNvPr>
            <p:cNvGrpSpPr/>
            <p:nvPr/>
          </p:nvGrpSpPr>
          <p:grpSpPr>
            <a:xfrm>
              <a:off x="6722531" y="5589133"/>
              <a:ext cx="2519062" cy="576277"/>
              <a:chOff x="6762064" y="5661249"/>
              <a:chExt cx="2385656" cy="43226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980F48A5-BA2F-39CD-E9D1-E4A6DAEA3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50" r="65639"/>
              <a:stretch>
                <a:fillRect/>
              </a:stretch>
            </p:blipFill>
            <p:spPr>
              <a:xfrm>
                <a:off x="6762064" y="5661249"/>
                <a:ext cx="1152128" cy="432260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FCFA54D4-1155-0647-4E2D-525C475D94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7401"/>
              <a:stretch>
                <a:fillRect/>
              </a:stretch>
            </p:blipFill>
            <p:spPr>
              <a:xfrm>
                <a:off x="8054695" y="5661249"/>
                <a:ext cx="1093025" cy="432046"/>
              </a:xfrm>
              <a:prstGeom prst="rect">
                <a:avLst/>
              </a:prstGeom>
            </p:spPr>
          </p:pic>
        </p:grpSp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336FE27B-EF0B-A831-700F-7FAC08807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94720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HDAPS_댐보수질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3B45F81B-BC66-6905-F7E5-96DFE61BE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7" y="1448037"/>
            <a:ext cx="5587302" cy="4322389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A5BAD2F-75AE-646F-BB1D-66FE3B1A3291}"/>
              </a:ext>
            </a:extLst>
          </p:cNvPr>
          <p:cNvGrpSpPr/>
          <p:nvPr/>
        </p:nvGrpSpPr>
        <p:grpSpPr>
          <a:xfrm>
            <a:off x="6681192" y="5517232"/>
            <a:ext cx="2592288" cy="720080"/>
            <a:chOff x="6681192" y="5517232"/>
            <a:chExt cx="2592288" cy="72008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EDBADB0-00FF-22B5-46B7-E01B3012815D}"/>
                </a:ext>
              </a:extLst>
            </p:cNvPr>
            <p:cNvSpPr/>
            <p:nvPr/>
          </p:nvSpPr>
          <p:spPr>
            <a:xfrm>
              <a:off x="6681192" y="5517232"/>
              <a:ext cx="2592288" cy="720080"/>
            </a:xfrm>
            <a:prstGeom prst="roundRect">
              <a:avLst/>
            </a:prstGeom>
            <a:solidFill>
              <a:srgbClr val="F9F9F9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53C994E-B24E-B033-1547-33F3FFF7B968}"/>
                </a:ext>
              </a:extLst>
            </p:cNvPr>
            <p:cNvGrpSpPr/>
            <p:nvPr/>
          </p:nvGrpSpPr>
          <p:grpSpPr>
            <a:xfrm>
              <a:off x="6722531" y="5589133"/>
              <a:ext cx="2519062" cy="576277"/>
              <a:chOff x="6762064" y="5661249"/>
              <a:chExt cx="2385656" cy="43226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7F4C3C8A-47AB-6BA7-21DB-003413D27C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50" r="65639"/>
              <a:stretch>
                <a:fillRect/>
              </a:stretch>
            </p:blipFill>
            <p:spPr>
              <a:xfrm>
                <a:off x="6762064" y="5661249"/>
                <a:ext cx="1152128" cy="432260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97FCD6C0-F689-0CD6-B32C-D0022FE5B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7401"/>
              <a:stretch>
                <a:fillRect/>
              </a:stretch>
            </p:blipFill>
            <p:spPr>
              <a:xfrm>
                <a:off x="8054695" y="5661249"/>
                <a:ext cx="1093025" cy="432046"/>
              </a:xfrm>
              <a:prstGeom prst="rect">
                <a:avLst/>
              </a:prstGeom>
            </p:spPr>
          </p:pic>
        </p:grpSp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0EBA64E9-BCF7-152C-C393-77B11A4F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892638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LongProperties xmlns="http://schemas.microsoft.com/office/2006/metadata/longPropertie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3DC77A828EE2C4D81AF024F460569B5" ma:contentTypeVersion="1" ma:contentTypeDescription="새 문서를 만듭니다." ma:contentTypeScope="" ma:versionID="cc9d5630a70d8196d048ee69f0fc4281">
  <xsd:schema xmlns:xsd="http://www.w3.org/2001/XMLSchema" xmlns:xs="http://www.w3.org/2001/XMLSchema" xmlns:p="http://schemas.microsoft.com/office/2006/metadata/properties" xmlns:ns2="38401c30-03ba-420f-896f-36299c68a925" targetNamespace="http://schemas.microsoft.com/office/2006/metadata/properties" ma:root="true" ma:fieldsID="f52a3d49948d89f7fa0004adad49ab67" ns2:_="">
    <xsd:import namespace="38401c30-03ba-420f-896f-36299c68a92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01c30-03ba-420f-896f-36299c68a92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문서 ID 값" ma:description="이 항목에 할당된 문서 ID 값입니다." ma:internalName="_dlc_DocId" ma:readOnly="true">
      <xsd:simpleType>
        <xsd:restriction base="dms:Text"/>
      </xsd:simpleType>
    </xsd:element>
    <xsd:element name="_dlc_DocIdUrl" ma:index="9" nillable="true" ma:displayName="문서 ID" ma:description="이 문서에 대한 영구 링크입니다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영구 ID" ma:description="추가 시 ID를 유지합니다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1BDA910-AE65-418B-9550-F66A29C61E75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38401c30-03ba-420f-896f-36299c68a925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74891BC-C640-43D5-8175-33BC594307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7F5794-410F-4B53-A605-F79AEA507B76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880D073E-B96D-419D-A08A-BEEB1D2141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401c30-03ba-420f-896f-36299c68a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F5DA953D-B00F-4D53-B01B-5A1C523FA2C0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5911</TotalTime>
  <Words>164</Words>
  <Application>Microsoft Office PowerPoint</Application>
  <PresentationFormat>A4 용지(210x297mm)</PresentationFormat>
  <Paragraphs>61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굴림</vt:lpstr>
      <vt:lpstr>맑은 고딕</vt:lpstr>
      <vt:lpstr>Arial</vt:lpstr>
      <vt:lpstr>Wingdings</vt:lpstr>
      <vt:lpstr>1_Office 테마</vt:lpstr>
      <vt:lpstr>PowerPoint 프레젠테이션</vt:lpstr>
      <vt:lpstr>개정이력</vt:lpstr>
      <vt:lpstr>목차</vt:lpstr>
      <vt:lpstr>1. 수자원정보</vt:lpstr>
      <vt:lpstr>1. 수자원정보</vt:lpstr>
      <vt:lpstr>2. 수문정보</vt:lpstr>
      <vt:lpstr>2. 수문정보</vt:lpstr>
      <vt:lpstr>2. 수문정보</vt:lpstr>
      <vt:lpstr>2. 수문정보</vt:lpstr>
      <vt:lpstr>2. 수문정보</vt:lpstr>
      <vt:lpstr>2. 수문정보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LSW</cp:lastModifiedBy>
  <cp:revision>532</cp:revision>
  <cp:lastPrinted>2024-06-03T00:43:09Z</cp:lastPrinted>
  <dcterms:created xsi:type="dcterms:W3CDTF">2011-01-04T12:32:05Z</dcterms:created>
  <dcterms:modified xsi:type="dcterms:W3CDTF">2026-03-12T08:21:25Z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FCNHZ7S6XMZC-6-2714</vt:lpwstr>
  </property>
  <property fmtid="{D5CDD505-2E9C-101B-9397-08002B2CF9AE}" pid="3" name="_dlc_DocIdItemGuid">
    <vt:lpwstr>ab86fa6f-0ef5-4b90-9ff9-987649a96697</vt:lpwstr>
  </property>
  <property fmtid="{D5CDD505-2E9C-101B-9397-08002B2CF9AE}" pid="4" name="_dlc_DocIdUrl">
    <vt:lpwstr>https://ecm.ktds.co.kr/sites/ECM/_layouts/DocIdRedir.aspx?ID=FCNHZ7S6XMZC-6-2714, FCNHZ7S6XMZC-6-2714</vt:lpwstr>
  </property>
</Properties>
</file>