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5920" r:id="rId6"/>
  </p:sldMasterIdLst>
  <p:notesMasterIdLst>
    <p:notesMasterId r:id="rId23"/>
  </p:notesMasterIdLst>
  <p:handoutMasterIdLst>
    <p:handoutMasterId r:id="rId24"/>
  </p:handoutMasterIdLst>
  <p:sldIdLst>
    <p:sldId id="632" r:id="rId7"/>
    <p:sldId id="637" r:id="rId8"/>
    <p:sldId id="419" r:id="rId9"/>
    <p:sldId id="403" r:id="rId10"/>
    <p:sldId id="423" r:id="rId11"/>
    <p:sldId id="424" r:id="rId12"/>
    <p:sldId id="431" r:id="rId13"/>
    <p:sldId id="432" r:id="rId14"/>
    <p:sldId id="433" r:id="rId15"/>
    <p:sldId id="638" r:id="rId16"/>
    <p:sldId id="426" r:id="rId17"/>
    <p:sldId id="427" r:id="rId18"/>
    <p:sldId id="428" r:id="rId19"/>
    <p:sldId id="429" r:id="rId20"/>
    <p:sldId id="413" r:id="rId21"/>
    <p:sldId id="434" r:id="rId22"/>
  </p:sldIdLst>
  <p:sldSz cx="9906000" cy="6858000" type="A4"/>
  <p:notesSz cx="6805613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120" userDrawn="1">
          <p15:clr>
            <a:srgbClr val="A4A3A4"/>
          </p15:clr>
        </p15:guide>
        <p15:guide id="4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FFFF"/>
    <a:srgbClr val="F7F7F7"/>
    <a:srgbClr val="F3F3F3"/>
    <a:srgbClr val="F9F9F9"/>
    <a:srgbClr val="FDFDFD"/>
    <a:srgbClr val="EEF3F8"/>
    <a:srgbClr val="D5E1EF"/>
    <a:srgbClr val="0000FF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30" autoAdjust="0"/>
    <p:restoredTop sz="94643" autoAdjust="0"/>
  </p:normalViewPr>
  <p:slideViewPr>
    <p:cSldViewPr snapToGrid="0" showGuides="1">
      <p:cViewPr varScale="1">
        <p:scale>
          <a:sx n="65" d="100"/>
          <a:sy n="65" d="100"/>
        </p:scale>
        <p:origin x="1248" y="60"/>
      </p:cViewPr>
      <p:guideLst>
        <p:guide pos="3120"/>
        <p:guide orient="horz" pos="218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0" d="100"/>
          <a:sy n="70" d="100"/>
        </p:scale>
        <p:origin x="-3246" y="-90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handoutMaster" Target="handoutMasters/handoutMaster1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4415D71-1714-764C-1C74-1B1A160EEA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9ABA8C-F98F-8047-3A67-EC675B70EF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CA7DCB-A9D0-4996-B3CB-3C739367EB5E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E21185-E79E-366E-E3E2-7303594F83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D37422-DF4E-5A1A-BBA5-3709E85190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C31AB1-09A3-4663-943B-22D5B866CA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58330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1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2AFEE28-24C4-4AD4-AB1F-6A29DEB3856B}" type="datetimeFigureOut">
              <a:rPr lang="ko-KR" altLang="en-US"/>
              <a:pPr>
                <a:defRPr/>
              </a:pPr>
              <a:t>2026-03-12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0037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7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85FE88A9-9F00-438F-B56A-9586458E968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87541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D57DB-85FF-8F24-6FC4-3D32C9632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>
            <a:extLst>
              <a:ext uri="{FF2B5EF4-FFF2-40B4-BE49-F238E27FC236}">
                <a16:creationId xmlns:a16="http://schemas.microsoft.com/office/drawing/2014/main" id="{B154FC87-DDA1-2E44-CB14-11DF5E6099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2788" y="746125"/>
            <a:ext cx="5380037" cy="37258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>
            <a:extLst>
              <a:ext uri="{FF2B5EF4-FFF2-40B4-BE49-F238E27FC236}">
                <a16:creationId xmlns:a16="http://schemas.microsoft.com/office/drawing/2014/main" id="{DEA8AF6D-5C43-0171-E4A2-B03EEB26F6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395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C8A77-797B-C32B-C040-C1CD39EE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818CBE-F19E-F898-D1DF-2A82C7EBF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0037" cy="372586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EE4802-DE17-7443-C843-73F7E9113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6027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1625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FE88A9-9F00-438F-B56A-9586458E9681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901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1625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FE88A9-9F00-438F-B56A-9586458E9681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055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1625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FE88A9-9F00-438F-B56A-9586458E9681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879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1625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FE88A9-9F00-438F-B56A-9586458E9681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211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1625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FE88A9-9F00-438F-B56A-9586458E9681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744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1625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FE88A9-9F00-438F-B56A-9586458E9681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826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1625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FE88A9-9F00-438F-B56A-9586458E9681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829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1625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FE88A9-9F00-438F-B56A-9586458E9681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0941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1625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FE88A9-9F00-438F-B56A-9586458E9681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046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1625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FE88A9-9F00-438F-B56A-9586458E9681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11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1625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FE88A9-9F00-438F-B56A-9586458E9681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334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403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  <p15:guide id="2" orient="horz" pos="482">
          <p15:clr>
            <a:srgbClr val="FBAE40"/>
          </p15:clr>
        </p15:guide>
        <p15:guide id="3" pos="353">
          <p15:clr>
            <a:srgbClr val="FBAE40"/>
          </p15:clr>
        </p15:guide>
        <p15:guide id="4" pos="5932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120">
          <p15:clr>
            <a:srgbClr val="FBAE40"/>
          </p15:clr>
        </p15:guide>
        <p15:guide id="7" orient="horz" pos="4110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417197" y="389283"/>
            <a:ext cx="9072878" cy="331787"/>
          </a:xfrm>
        </p:spPr>
        <p:txBody>
          <a:bodyPr/>
          <a:lstStyle>
            <a:lvl1pPr>
              <a:defRPr sz="2000"/>
            </a:lvl1pPr>
          </a:lstStyle>
          <a:p>
            <a:r>
              <a:rPr lang="en-US" altLang="ko-KR" dirty="0"/>
              <a:t>1. </a:t>
            </a:r>
            <a:r>
              <a:rPr lang="ko-KR" altLang="en-US" dirty="0"/>
              <a:t>제목 수준 </a:t>
            </a:r>
            <a:r>
              <a:rPr lang="en-US" altLang="ko-KR" dirty="0"/>
              <a:t>1 (</a:t>
            </a:r>
            <a:r>
              <a:rPr lang="ko-KR" altLang="en-US" dirty="0" err="1"/>
              <a:t>맑은고딕</a:t>
            </a:r>
            <a:r>
              <a:rPr lang="en-US" altLang="ko-KR" dirty="0"/>
              <a:t>, 20pt)</a:t>
            </a:r>
            <a:endParaRPr lang="ko-KR" altLang="en-US" dirty="0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253BB96-C43E-4347-BA7C-8654BB871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491289"/>
            <a:ext cx="313690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바닥글 개체 틀 3">
            <a:extLst>
              <a:ext uri="{FF2B5EF4-FFF2-40B4-BE49-F238E27FC236}">
                <a16:creationId xmlns:a16="http://schemas.microsoft.com/office/drawing/2014/main" id="{DA3BF6D2-8572-46FB-ABD3-334A9B3C20D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794" y="6453337"/>
            <a:ext cx="9142413" cy="387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defRPr/>
            </a:pPr>
            <a:fld id="{D88DE2CC-46C9-4BB4-BD10-F21D4DE0FDA2}" type="slidenum">
              <a:rPr kumimoji="0" lang="ko-KR" altLang="en-US" sz="975" smtClean="0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975" dirty="0">
              <a:solidFill>
                <a:srgbClr val="595959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BA4C3C-F68B-857F-2C82-2B535E73E7C8}"/>
              </a:ext>
            </a:extLst>
          </p:cNvPr>
          <p:cNvSpPr/>
          <p:nvPr userDrawn="1"/>
        </p:nvSpPr>
        <p:spPr>
          <a:xfrm>
            <a:off x="419563" y="44624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K-water </a:t>
            </a:r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디지털플랫폼 구축 사업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5029A1-1C23-EFB0-C968-27EE7CFB894E}"/>
              </a:ext>
            </a:extLst>
          </p:cNvPr>
          <p:cNvSpPr/>
          <p:nvPr userDrawn="1"/>
        </p:nvSpPr>
        <p:spPr>
          <a:xfrm>
            <a:off x="6161261" y="44624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단위 테스트 계획서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4987AE0-02CC-6DFD-1FA4-409F469F7D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308767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27D22A1-9561-D0FD-0FC2-F70548786FD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6525344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9" name="그림 18" descr="그래픽, 그래픽 디자인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7B4F8D0-B42D-0027-FA83-375C9A8CD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95" y="6567575"/>
            <a:ext cx="1081709" cy="18759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2875507-6593-1E02-38B0-034F603A9E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193" t="13708" r="3125" b="11772"/>
          <a:stretch/>
        </p:blipFill>
        <p:spPr>
          <a:xfrm>
            <a:off x="8769423" y="6597393"/>
            <a:ext cx="689687" cy="14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46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pos="262">
          <p15:clr>
            <a:srgbClr val="FBAE40"/>
          </p15:clr>
        </p15:guide>
        <p15:guide id="3" pos="5978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orient="horz" pos="45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415925" y="389283"/>
            <a:ext cx="9074150" cy="331787"/>
          </a:xfrm>
        </p:spPr>
        <p:txBody>
          <a:bodyPr/>
          <a:lstStyle>
            <a:lvl1pPr>
              <a:defRPr sz="2000"/>
            </a:lvl1pPr>
          </a:lstStyle>
          <a:p>
            <a:r>
              <a:rPr lang="en-US" altLang="ko-KR" dirty="0"/>
              <a:t>1. </a:t>
            </a:r>
            <a:r>
              <a:rPr lang="ko-KR" altLang="en-US" dirty="0"/>
              <a:t>제목 수준 </a:t>
            </a:r>
            <a:r>
              <a:rPr lang="en-US" altLang="ko-KR" dirty="0"/>
              <a:t>1                   (</a:t>
            </a:r>
            <a:r>
              <a:rPr lang="ko-KR" altLang="en-US" dirty="0" err="1"/>
              <a:t>맑은고딕</a:t>
            </a:r>
            <a:r>
              <a:rPr lang="en-US" altLang="ko-KR" dirty="0"/>
              <a:t>, 20pt)</a:t>
            </a:r>
            <a:endParaRPr lang="ko-KR" altLang="en-US" dirty="0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253BB96-C43E-4347-BA7C-8654BB871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491289"/>
            <a:ext cx="313690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바닥글 개체 틀 3">
            <a:extLst>
              <a:ext uri="{FF2B5EF4-FFF2-40B4-BE49-F238E27FC236}">
                <a16:creationId xmlns:a16="http://schemas.microsoft.com/office/drawing/2014/main" id="{DA3BF6D2-8572-46FB-ABD3-334A9B3C20D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794" y="6453337"/>
            <a:ext cx="9142413" cy="387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defRPr/>
            </a:pPr>
            <a:fld id="{D88DE2CC-46C9-4BB4-BD10-F21D4DE0FDA2}" type="slidenum">
              <a:rPr kumimoji="0" lang="ko-KR" altLang="en-US" sz="975" smtClean="0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975" dirty="0">
              <a:solidFill>
                <a:srgbClr val="595959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4987AE0-02CC-6DFD-1FA4-409F469F7D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308767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27D22A1-9561-D0FD-0FC2-F70548786FD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6525344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C60B74AD-1719-24A6-6520-0D504BE9C8A1}"/>
              </a:ext>
            </a:extLst>
          </p:cNvPr>
          <p:cNvSpPr/>
          <p:nvPr userDrawn="1"/>
        </p:nvSpPr>
        <p:spPr>
          <a:xfrm>
            <a:off x="419563" y="44624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K-water </a:t>
            </a:r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디지털플랫폼 구축 사업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C771EFD-FE4C-70C1-D604-D02DDDFAAFCC}"/>
              </a:ext>
            </a:extLst>
          </p:cNvPr>
          <p:cNvSpPr/>
          <p:nvPr userDrawn="1"/>
        </p:nvSpPr>
        <p:spPr>
          <a:xfrm>
            <a:off x="6161261" y="44624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단위 테스트 계획서</a:t>
            </a:r>
          </a:p>
        </p:txBody>
      </p:sp>
      <p:pic>
        <p:nvPicPr>
          <p:cNvPr id="10" name="그림 9" descr="그래픽, 그래픽 디자인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288F145-CE73-B93D-4503-16A98EF4F5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95" y="6567575"/>
            <a:ext cx="1081709" cy="18759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C27D602-9A6C-7928-664F-5B0FA42224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193" t="13708" r="3125" b="11772"/>
          <a:stretch/>
        </p:blipFill>
        <p:spPr>
          <a:xfrm>
            <a:off x="8769423" y="6597393"/>
            <a:ext cx="689687" cy="143978"/>
          </a:xfrm>
          <a:prstGeom prst="rect">
            <a:avLst/>
          </a:prstGeom>
        </p:spPr>
      </p:pic>
      <p:sp>
        <p:nvSpPr>
          <p:cNvPr id="13" name="텍스트 개체 틀 14">
            <a:extLst>
              <a:ext uri="{FF2B5EF4-FFF2-40B4-BE49-F238E27FC236}">
                <a16:creationId xmlns:a16="http://schemas.microsoft.com/office/drawing/2014/main" id="{8A6B118A-E869-4033-A8AD-698201E8FC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5925" y="864964"/>
            <a:ext cx="9074151" cy="331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-60" baseline="0">
                <a:solidFill>
                  <a:srgbClr val="000000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마스터 헤드라인</a:t>
            </a:r>
            <a:r>
              <a:rPr lang="en-US" altLang="ko-KR" dirty="0"/>
              <a:t> (</a:t>
            </a:r>
            <a:r>
              <a:rPr lang="ko-KR" altLang="en-US" dirty="0" err="1"/>
              <a:t>맑은고딕</a:t>
            </a:r>
            <a:r>
              <a:rPr lang="en-US" altLang="ko-KR" dirty="0"/>
              <a:t>, 16pt)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5799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pos="262">
          <p15:clr>
            <a:srgbClr val="FBAE40"/>
          </p15:clr>
        </p15:guide>
        <p15:guide id="3" pos="5978">
          <p15:clr>
            <a:srgbClr val="FBAE40"/>
          </p15:clr>
        </p15:guide>
        <p15:guide id="4" orient="horz" pos="4042" userDrawn="1">
          <p15:clr>
            <a:srgbClr val="FBAE40"/>
          </p15:clr>
        </p15:guide>
        <p15:guide id="5" orient="horz" pos="754">
          <p15:clr>
            <a:srgbClr val="FBAE40"/>
          </p15:clr>
        </p15:guide>
        <p15:guide id="6" orient="horz" pos="45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0374" y="144464"/>
            <a:ext cx="9083990" cy="331787"/>
          </a:xfrm>
        </p:spPr>
        <p:txBody>
          <a:bodyPr/>
          <a:lstStyle>
            <a:lvl1pPr>
              <a:defRPr sz="2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253BB96-C43E-4347-BA7C-8654BB871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491289"/>
            <a:ext cx="313690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바닥글 개체 틀 3">
            <a:extLst>
              <a:ext uri="{FF2B5EF4-FFF2-40B4-BE49-F238E27FC236}">
                <a16:creationId xmlns:a16="http://schemas.microsoft.com/office/drawing/2014/main" id="{DA3BF6D2-8572-46FB-ABD3-334A9B3C20D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794" y="6453337"/>
            <a:ext cx="9142413" cy="387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defRPr/>
            </a:pPr>
            <a:fld id="{D88DE2CC-46C9-4BB4-BD10-F21D4DE0FDA2}" type="slidenum">
              <a:rPr kumimoji="0" lang="ko-KR" altLang="en-US" sz="975" smtClean="0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975" dirty="0">
              <a:solidFill>
                <a:srgbClr val="595959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0D9F9CA-DBD3-4B2B-A36A-E037D831DAD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549275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CD22C25-2148-E459-18CD-DDC8282E692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6525344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" name="그림 2" descr="그래픽, 그래픽 디자인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BC6AE94-D6EB-66BB-A5A1-DB8C587590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95" y="6567575"/>
            <a:ext cx="1081709" cy="18759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09A736A-9A5D-40F1-F55F-ABCF102FC3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193" t="13708" r="3125" b="11772"/>
          <a:stretch/>
        </p:blipFill>
        <p:spPr>
          <a:xfrm>
            <a:off x="8769423" y="6597393"/>
            <a:ext cx="689687" cy="14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69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pos="262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597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템플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14BAF27-F008-A42E-A291-1C95EB104D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142" y="3170357"/>
            <a:ext cx="2985716" cy="51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72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15925" y="144464"/>
            <a:ext cx="9074150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제목 </a:t>
            </a:r>
            <a:r>
              <a:rPr lang="en-US" altLang="ko-KR" dirty="0"/>
              <a:t>[</a:t>
            </a:r>
            <a:r>
              <a:rPr lang="ko-KR" altLang="en-US" dirty="0"/>
              <a:t>맑은 고딕 </a:t>
            </a:r>
            <a:r>
              <a:rPr lang="en-US" altLang="ko-KR" dirty="0"/>
              <a:t>bold, 16pt]</a:t>
            </a:r>
            <a:endParaRPr lang="ko-KR" altLang="en-US" dirty="0"/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15925" y="692695"/>
            <a:ext cx="9074150" cy="5725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소제목 </a:t>
            </a:r>
            <a:r>
              <a:rPr lang="en-US" altLang="ko-KR" dirty="0"/>
              <a:t>[</a:t>
            </a:r>
            <a:r>
              <a:rPr lang="ko-KR" altLang="en-US" dirty="0"/>
              <a:t>맑은 고딕 </a:t>
            </a:r>
            <a:r>
              <a:rPr lang="en-US" altLang="ko-KR" dirty="0"/>
              <a:t>bold, 14pt]</a:t>
            </a:r>
            <a:endParaRPr lang="ko-KR" altLang="en-US" dirty="0"/>
          </a:p>
          <a:p>
            <a:pPr lvl="1"/>
            <a:r>
              <a:rPr lang="ko-KR" altLang="en-US" dirty="0"/>
              <a:t>본문 </a:t>
            </a:r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[</a:t>
            </a:r>
            <a:r>
              <a:rPr lang="ko-KR" altLang="en-US" dirty="0"/>
              <a:t>맑은 고딕</a:t>
            </a:r>
            <a:r>
              <a:rPr lang="en-US" altLang="ko-KR" dirty="0"/>
              <a:t>, 12pt]</a:t>
            </a:r>
            <a:endParaRPr lang="ko-KR" altLang="en-US" dirty="0"/>
          </a:p>
          <a:p>
            <a:pPr lvl="2"/>
            <a:r>
              <a:rPr lang="ko-KR" altLang="en-US" dirty="0"/>
              <a:t>본문 </a:t>
            </a:r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en-US" altLang="ko-KR" dirty="0"/>
              <a:t>[</a:t>
            </a:r>
            <a:r>
              <a:rPr lang="ko-KR" altLang="en-US" dirty="0"/>
              <a:t>맑은 고딕</a:t>
            </a:r>
            <a:r>
              <a:rPr lang="en-US" altLang="ko-KR" dirty="0"/>
              <a:t>, 12pt]</a:t>
            </a:r>
          </a:p>
          <a:p>
            <a:pPr lvl="3"/>
            <a:r>
              <a:rPr lang="ko-KR" altLang="en-US" dirty="0"/>
              <a:t>본문 </a:t>
            </a:r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en-US" altLang="ko-KR" dirty="0"/>
              <a:t>[</a:t>
            </a:r>
            <a:r>
              <a:rPr lang="ko-KR" altLang="en-US" dirty="0"/>
              <a:t>맑은 고딕</a:t>
            </a:r>
            <a:r>
              <a:rPr lang="en-US" altLang="ko-KR" dirty="0"/>
              <a:t>, 12pt]</a:t>
            </a:r>
          </a:p>
          <a:p>
            <a:pPr lvl="4"/>
            <a:endParaRPr lang="en-US" altLang="ko-KR" dirty="0"/>
          </a:p>
          <a:p>
            <a:pPr lvl="4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2190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27" r:id="rId1"/>
    <p:sldLayoutId id="2147485922" r:id="rId2"/>
    <p:sldLayoutId id="2147485923" r:id="rId3"/>
    <p:sldLayoutId id="2147485924" r:id="rId4"/>
    <p:sldLayoutId id="2147485926" r:id="rId5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lang="ko-KR" altLang="en-US" sz="1733" b="1" kern="1200" dirty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1733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1733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1733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1733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95285" algn="l" rtl="0" fontAlgn="base" latinLnBrk="1">
        <a:spcBef>
          <a:spcPct val="0"/>
        </a:spcBef>
        <a:spcAft>
          <a:spcPct val="0"/>
        </a:spcAft>
        <a:defRPr sz="1517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90570" algn="l" rtl="0" fontAlgn="base" latinLnBrk="1">
        <a:spcBef>
          <a:spcPct val="0"/>
        </a:spcBef>
        <a:spcAft>
          <a:spcPct val="0"/>
        </a:spcAft>
        <a:defRPr sz="1517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485854" algn="l" rtl="0" fontAlgn="base" latinLnBrk="1">
        <a:spcBef>
          <a:spcPct val="0"/>
        </a:spcBef>
        <a:spcAft>
          <a:spcPct val="0"/>
        </a:spcAft>
        <a:defRPr sz="1517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981139" algn="l" rtl="0" fontAlgn="base" latinLnBrk="1">
        <a:spcBef>
          <a:spcPct val="0"/>
        </a:spcBef>
        <a:spcAft>
          <a:spcPct val="0"/>
        </a:spcAft>
        <a:defRPr sz="1517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245923" indent="-245923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"/>
        <a:defRPr sz="1517" b="1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454011" indent="-199490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"/>
        <a:defRPr sz="13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636303" indent="-135860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맑은 고딕" pitchFamily="50" charset="-127"/>
        <a:buChar char="-"/>
        <a:defRPr sz="13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827195" indent="-154776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§"/>
        <a:tabLst>
          <a:tab pos="780761" algn="l"/>
        </a:tabLst>
        <a:defRPr sz="13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1289804" indent="-127261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Arial" charset="0"/>
        <a:defRPr sz="13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28865-21AA-D916-A65C-E762758CF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7">
            <a:extLst>
              <a:ext uri="{FF2B5EF4-FFF2-40B4-BE49-F238E27FC236}">
                <a16:creationId xmlns:a16="http://schemas.microsoft.com/office/drawing/2014/main" id="{D687431A-4870-C387-0150-C1CAA0DC8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660244"/>
              </p:ext>
            </p:extLst>
          </p:nvPr>
        </p:nvGraphicFramePr>
        <p:xfrm>
          <a:off x="560388" y="1340768"/>
          <a:ext cx="8748000" cy="345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8000">
                  <a:extLst>
                    <a:ext uri="{9D8B030D-6E8A-4147-A177-3AD203B41FA5}">
                      <a16:colId xmlns:a16="http://schemas.microsoft.com/office/drawing/2014/main" val="2959953029"/>
                    </a:ext>
                  </a:extLst>
                </a:gridCol>
              </a:tblGrid>
              <a:tr h="756000"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200" b="0" spc="0" dirty="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K-water </a:t>
                      </a:r>
                      <a:r>
                        <a:rPr lang="ko-KR" altLang="en-US" sz="2200" b="0" spc="0" dirty="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디지털플랫폼 구축 사업</a:t>
                      </a:r>
                      <a:endParaRPr lang="en-US" altLang="ko-KR" sz="2200" b="0" spc="0" dirty="0">
                        <a:solidFill>
                          <a:schemeClr val="tx1"/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0" marR="0" marT="180000" marB="180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91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905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+mn-cs"/>
                        </a:rPr>
                        <a:t>단위 테스트 계획서</a:t>
                      </a:r>
                      <a:endParaRPr kumimoji="0" lang="ko-KR" altLang="en-US" sz="3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marL="0" marR="0" marT="180000" marB="180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09957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defTabSz="9905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0" lang="ko-KR" altLang="en-US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180000" marB="180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23661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90570" rtl="0" eaLnBrk="1" fontAlgn="ctr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400" kern="100" noProof="0" dirty="0">
                          <a:solidFill>
                            <a:schemeClr val="tx1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문서번호 </a:t>
                      </a:r>
                      <a:r>
                        <a:rPr lang="en-US" altLang="ko-KR" sz="1400" kern="100" noProof="0" dirty="0">
                          <a:solidFill>
                            <a:schemeClr val="tx1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Times New Roman" panose="02020603050405020304" pitchFamily="18" charset="0"/>
                        </a:rPr>
                        <a:t>: KWDP-PM-EC-26</a:t>
                      </a:r>
                    </a:p>
                    <a:p>
                      <a:pPr marL="0" marR="0" lvl="0" indent="0" algn="l" defTabSz="990570" rtl="0" eaLnBrk="1" fontAlgn="ctr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spc="0" dirty="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문서버전 </a:t>
                      </a:r>
                      <a:r>
                        <a:rPr lang="en-US" altLang="ko-KR" sz="1400" b="0" spc="0" dirty="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: X.X</a:t>
                      </a:r>
                    </a:p>
                    <a:p>
                      <a:pPr marL="0" marR="0" lvl="0" indent="0" algn="l" defTabSz="990570" rtl="0" eaLnBrk="1" fontAlgn="ctr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spc="0" dirty="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업무구분 </a:t>
                      </a:r>
                      <a:r>
                        <a:rPr lang="en-US" altLang="ko-KR" sz="1400" b="0" spc="0" dirty="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: </a:t>
                      </a:r>
                      <a:r>
                        <a:rPr lang="ko-KR" altLang="en-US" sz="1400" b="0" spc="0" dirty="0" err="1" smtClean="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데이터허브</a:t>
                      </a:r>
                      <a:endParaRPr lang="en-US" altLang="ko-KR" sz="1400" b="0" spc="0" dirty="0">
                        <a:solidFill>
                          <a:schemeClr val="tx1"/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0" marR="0" marT="180000" marB="180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107659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3EA70F62-43FE-7EB9-E0C1-AF101A76CC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93" t="13708" r="3125" b="11772"/>
          <a:stretch/>
        </p:blipFill>
        <p:spPr>
          <a:xfrm>
            <a:off x="8005038" y="6236625"/>
            <a:ext cx="1379584" cy="288000"/>
          </a:xfrm>
          <a:prstGeom prst="rect">
            <a:avLst/>
          </a:prstGeom>
          <a:ln>
            <a:noFill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55CA6BA-DCA6-29DE-E26F-0D0EB414D3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88" y="260648"/>
            <a:ext cx="2646456" cy="45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32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FED9F-C273-EE25-B8C9-31969350E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7A2A82C-93C3-3719-232A-4260B998B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개정이력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396DE50-F653-3F7B-7B6D-BCC2CBEE0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169233"/>
              </p:ext>
            </p:extLst>
          </p:nvPr>
        </p:nvGraphicFramePr>
        <p:xfrm>
          <a:off x="415925" y="764704"/>
          <a:ext cx="9074150" cy="5594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1025">
                  <a:extLst>
                    <a:ext uri="{9D8B030D-6E8A-4147-A177-3AD203B41FA5}">
                      <a16:colId xmlns:a16="http://schemas.microsoft.com/office/drawing/2014/main" val="2703352228"/>
                    </a:ext>
                  </a:extLst>
                </a:gridCol>
                <a:gridCol w="4724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spc="-6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버전</a:t>
                      </a:r>
                    </a:p>
                  </a:txBody>
                  <a:tcPr marL="99056" marR="99056" marT="49511" marB="4951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b="1" kern="1200" spc="-6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날짜</a:t>
                      </a:r>
                    </a:p>
                  </a:txBody>
                  <a:tcPr marL="99056" marR="99056" marT="49511" marB="4951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spc="-6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</a:p>
                  </a:txBody>
                  <a:tcPr marL="99056" marR="99056" marT="49511" marB="4951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spc="-6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작성자</a:t>
                      </a:r>
                    </a:p>
                  </a:txBody>
                  <a:tcPr marL="99056" marR="99056" marT="49511" marB="4951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spc="-6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검토</a:t>
                      </a:r>
                      <a:r>
                        <a:rPr lang="en-US" altLang="ko-KR" sz="1400" b="1" kern="1200" spc="-6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b="1" kern="1200" spc="-6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승인자</a:t>
                      </a:r>
                    </a:p>
                  </a:txBody>
                  <a:tcPr marL="99056" marR="99056" marT="49511" marB="4951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0.6</a:t>
                      </a: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2026.03.13</a:t>
                      </a: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작성자 작성완료</a:t>
                      </a: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spc="-100" noProof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이승우</a:t>
                      </a: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0.7</a:t>
                      </a: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 noProof="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YYYY.MM.DD</a:t>
                      </a:r>
                      <a:endParaRPr lang="ko-KR" altLang="en-US" sz="1400" b="0" kern="1200" spc="-100" noProof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PL </a:t>
                      </a:r>
                      <a:r>
                        <a:rPr lang="ko-KR" altLang="en-US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검토완료</a:t>
                      </a: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spc="-100" noProof="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작성자 </a:t>
                      </a: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PL</a:t>
                      </a:r>
                      <a:r>
                        <a:rPr lang="ko-KR" altLang="en-US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명</a:t>
                      </a: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0.8</a:t>
                      </a:r>
                      <a:endParaRPr lang="ko-KR" altLang="en-US" sz="1400" b="0" kern="1200" spc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 noProof="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YYYY.MM.DD</a:t>
                      </a:r>
                      <a:endParaRPr lang="ko-KR" altLang="en-US" sz="1400" b="0" kern="1200" spc="-100" noProof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QA </a:t>
                      </a:r>
                      <a:r>
                        <a:rPr lang="ko-KR" altLang="en-US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검토완료</a:t>
                      </a: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spc="-100" noProof="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작성자 </a:t>
                      </a: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QA</a:t>
                      </a:r>
                      <a:r>
                        <a:rPr lang="ko-KR" altLang="en-US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명</a:t>
                      </a: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0.9</a:t>
                      </a: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 noProof="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YYYY.MM.DD</a:t>
                      </a:r>
                      <a:endParaRPr lang="ko-KR" altLang="en-US" sz="1400" b="0" kern="1200" spc="-100" noProof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PM </a:t>
                      </a:r>
                      <a:r>
                        <a:rPr lang="ko-KR" altLang="en-US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검토</a:t>
                      </a:r>
                      <a:r>
                        <a:rPr lang="en-US" altLang="ko-KR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승인완료</a:t>
                      </a: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spc="-100" noProof="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작성자 </a:t>
                      </a: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PM</a:t>
                      </a:r>
                      <a:r>
                        <a:rPr lang="ko-KR" altLang="en-US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명</a:t>
                      </a: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 noProof="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YYYY.MM.DD</a:t>
                      </a:r>
                      <a:endParaRPr lang="ko-KR" altLang="en-US" sz="1400" b="0" kern="1200" spc="-100" noProof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 검토</a:t>
                      </a:r>
                      <a:r>
                        <a:rPr lang="en-US" altLang="ko-KR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승인완료</a:t>
                      </a: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spc="-100" noProof="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작성자 </a:t>
                      </a: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고객명</a:t>
                      </a: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0" noProof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015726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041899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98174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973607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703713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70804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081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6024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279369-9A50-217D-EE4A-6DA9B2D5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graphicFrame>
        <p:nvGraphicFramePr>
          <p:cNvPr id="3" name="표 8">
            <a:extLst>
              <a:ext uri="{FF2B5EF4-FFF2-40B4-BE49-F238E27FC236}">
                <a16:creationId xmlns:a16="http://schemas.microsoft.com/office/drawing/2014/main" id="{4A75A74B-3AC0-2F23-DCFE-DBE2BF4425EE}"/>
              </a:ext>
            </a:extLst>
          </p:cNvPr>
          <p:cNvGraphicFramePr>
            <a:graphicFrameLocks noGrp="1"/>
          </p:cNvGraphicFramePr>
          <p:nvPr/>
        </p:nvGraphicFramePr>
        <p:xfrm>
          <a:off x="397227" y="692696"/>
          <a:ext cx="4680520" cy="2908113"/>
        </p:xfrm>
        <a:graphic>
          <a:graphicData uri="http://schemas.openxmlformats.org/drawingml/2006/table">
            <a:tbl>
              <a:tblPr firstRow="1" bandRow="1"/>
              <a:tblGrid>
                <a:gridCol w="460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0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endParaRPr kumimoji="1"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88000" marR="90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Helvetica Neue Light"/>
                        </a:rPr>
                        <a:t>단위 테스트 개요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99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Helvetica Neue Light"/>
                        </a:rPr>
                        <a:t>2</a:t>
                      </a:r>
                      <a:endParaRPr kumimoji="1"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  <a:sym typeface="Helvetica Neue Light"/>
                      </a:endParaRPr>
                    </a:p>
                  </a:txBody>
                  <a:tcPr marL="28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Helvetica Neue Light"/>
                        </a:rPr>
                        <a:t>단위 테스트 수행 계획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99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Helvetica Neue Light"/>
                        </a:rPr>
                        <a:t>3</a:t>
                      </a:r>
                      <a:endParaRPr kumimoji="1"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  <a:sym typeface="Helvetica Neue Light"/>
                      </a:endParaRPr>
                    </a:p>
                  </a:txBody>
                  <a:tcPr marL="28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  <a:sym typeface="Helvetica Neue Light"/>
                        </a:rPr>
                        <a:t>단위 테스트 관리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99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9pPr>
                    </a:lstStyle>
                    <a:p>
                      <a:pPr marL="0" marR="0" indent="0" algn="ctr" defTabSz="914229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lang="ko-KR" altLang="en-US" sz="14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j-lt"/>
                        <a:ea typeface="KT서체 Medium" panose="020B0600000101010101" pitchFamily="50" charset="-127"/>
                        <a:cs typeface="+mn-cs"/>
                        <a:sym typeface="Helvetica Neue Light"/>
                      </a:endParaRPr>
                    </a:p>
                  </a:txBody>
                  <a:tcPr marL="28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9pPr>
                    </a:lstStyle>
                    <a:p>
                      <a:pPr marL="0" marR="0" lvl="0" indent="0" algn="l" defTabSz="914229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4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j-lt"/>
                        <a:ea typeface="KT서체 Medium" panose="020B0600000101010101" pitchFamily="50" charset="-127"/>
                        <a:cs typeface="+mn-cs"/>
                        <a:sym typeface="Helvetica Neue Ligh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99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9pPr>
                    </a:lstStyle>
                    <a:p>
                      <a:pPr marL="0" marR="0" indent="0" algn="ctr" defTabSz="914229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lang="ko-KR" altLang="en-US" sz="14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j-lt"/>
                        <a:ea typeface="KT서체 Medium" panose="020B0600000101010101" pitchFamily="50" charset="-127"/>
                        <a:cs typeface="+mn-cs"/>
                        <a:sym typeface="Helvetica Neue Light"/>
                      </a:endParaRPr>
                    </a:p>
                  </a:txBody>
                  <a:tcPr marL="28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  <a:cs typeface="Helvetica Neue Medium"/>
                        </a:defRPr>
                      </a:lvl9pPr>
                    </a:lstStyle>
                    <a:p>
                      <a:pPr marL="0" marR="0" lvl="0" indent="0" algn="l" defTabSz="914229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4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j-lt"/>
                        <a:ea typeface="KT서체 Medium" panose="020B0600000101010101" pitchFamily="50" charset="-127"/>
                        <a:cs typeface="+mn-cs"/>
                        <a:sym typeface="Helvetica Neue Ligh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997">
                <a:tc>
                  <a:txBody>
                    <a:bodyPr/>
                    <a:lstStyle/>
                    <a:p>
                      <a:pPr marL="0" marR="0" indent="0" algn="ctr" defTabSz="914229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lang="ko-KR" altLang="en-US" sz="14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j-lt"/>
                        <a:ea typeface="KT서체 Medium" panose="020B0600000101010101" pitchFamily="50" charset="-127"/>
                        <a:cs typeface="+mn-cs"/>
                        <a:sym typeface="Helvetica Neue Light"/>
                      </a:endParaRPr>
                    </a:p>
                  </a:txBody>
                  <a:tcPr marL="28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29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4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+mj-lt"/>
                        <a:ea typeface="KT서체 Medium" panose="020B0600000101010101" pitchFamily="50" charset="-127"/>
                        <a:cs typeface="+mn-cs"/>
                        <a:sym typeface="Helvetica Neue Ligh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731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456F70A7-39B9-E7B2-273A-0BB3FB7F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단위 테스트 개요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851162E-79DF-448A-2AC1-C373711685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1.1 </a:t>
            </a:r>
            <a:r>
              <a:rPr lang="ko-KR" altLang="en-US" dirty="0"/>
              <a:t>단계별 테스트 과정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BC5E4D8-7E20-02AA-21BF-B98772400146}"/>
              </a:ext>
            </a:extLst>
          </p:cNvPr>
          <p:cNvGraphicFramePr>
            <a:graphicFrameLocks noGrp="1"/>
          </p:cNvGraphicFramePr>
          <p:nvPr/>
        </p:nvGraphicFramePr>
        <p:xfrm>
          <a:off x="415926" y="3306228"/>
          <a:ext cx="9074151" cy="3102506"/>
        </p:xfrm>
        <a:graphic>
          <a:graphicData uri="http://schemas.openxmlformats.org/drawingml/2006/table">
            <a:tbl>
              <a:tblPr/>
              <a:tblGrid>
                <a:gridCol w="608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359">
                  <a:extLst>
                    <a:ext uri="{9D8B030D-6E8A-4147-A177-3AD203B41FA5}">
                      <a16:colId xmlns:a16="http://schemas.microsoft.com/office/drawing/2014/main" val="2572776765"/>
                    </a:ext>
                  </a:extLst>
                </a:gridCol>
                <a:gridCol w="3014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1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9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단계</a:t>
                      </a:r>
                    </a:p>
                  </a:txBody>
                  <a:tcPr marL="53989" marR="53989" marT="53991" marB="539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53989" marR="53989" marT="53991" marB="53991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 단계 정의</a:t>
                      </a:r>
                    </a:p>
                  </a:txBody>
                  <a:tcPr marL="53989" marR="53989" marT="53991" marB="53991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 및 검증 내용</a:t>
                      </a:r>
                    </a:p>
                  </a:txBody>
                  <a:tcPr marL="53989" marR="53989" marT="53991" marB="53991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8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구현</a:t>
                      </a:r>
                    </a:p>
                  </a:txBody>
                  <a:tcPr marL="53989" marR="53989" marT="53991" marB="539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단위 테스트</a:t>
                      </a:r>
                    </a:p>
                  </a:txBody>
                  <a:tcPr marL="53989" marR="53989" marT="53991" marB="53991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개별 프로그램의 단위 기능 검증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53989" marR="53989" marT="53991" marB="53991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단위 모듈 개발 후 시나리오에 따른 </a:t>
                      </a: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기능 테스트 및 확인</a:t>
                      </a:r>
                      <a:endParaRPr kumimoji="1" lang="en-US" altLang="ko-KR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내부 구조를 확인 가능한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‘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화이트 박스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‘ </a:t>
                      </a:r>
                      <a:r>
                        <a:rPr kumimoji="1" lang="ko-KR" altLang="en-US" sz="1200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테스팅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수행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53989" marR="53989" marT="53991" marB="53991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88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</a:t>
                      </a:r>
                    </a:p>
                  </a:txBody>
                  <a:tcPr marL="53989" marR="53989" marT="53991" marB="539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통합 테스트</a:t>
                      </a:r>
                    </a:p>
                  </a:txBody>
                  <a:tcPr marL="53989" marR="53989" marT="53991" marB="53991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전체 프로그램을 결합한 통합 검증</a:t>
                      </a:r>
                    </a:p>
                  </a:txBody>
                  <a:tcPr marL="53989" marR="53989" marT="53991" marB="53991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단위 테스트 이후 모듈의 결합 목적의 상호작용 테스트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입력과 </a:t>
                      </a:r>
                      <a:r>
                        <a:rPr kumimoji="1" lang="ko-KR" altLang="en-US" sz="1200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출력값을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확인하는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‘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블랙 박스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’ </a:t>
                      </a:r>
                      <a:r>
                        <a:rPr kumimoji="1" lang="ko-KR" altLang="en-US" sz="1200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테스팅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수행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53989" marR="53989" marT="53991" marB="53991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88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itchFamily="18" charset="0"/>
                      </a:endParaRPr>
                    </a:p>
                  </a:txBody>
                  <a:tcPr marL="53989" marR="53989" marT="53991" marB="5399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성능 테스트</a:t>
                      </a:r>
                    </a:p>
                  </a:txBody>
                  <a:tcPr marL="53989" marR="53989" marT="53991" marB="53991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 부하 테스트를 통한 성능 검증</a:t>
                      </a:r>
                    </a:p>
                  </a:txBody>
                  <a:tcPr marL="53989" marR="53989" marT="53991" marB="53991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시스템의 응답 및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처리 속도 등 </a:t>
                      </a: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시스템의 성능을 검증하기 위해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실시하는 테스트</a:t>
                      </a:r>
                    </a:p>
                  </a:txBody>
                  <a:tcPr marL="53989" marR="53989" marT="53991" marB="53991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8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인수</a:t>
                      </a:r>
                    </a:p>
                  </a:txBody>
                  <a:tcPr marL="53989" marR="53989" marT="53991" marB="539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인수 테스트</a:t>
                      </a:r>
                    </a:p>
                  </a:txBody>
                  <a:tcPr marL="53989" marR="53989" marT="53991" marB="53991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실 사용자 관점에서 기능 및 품질 검증</a:t>
                      </a:r>
                    </a:p>
                  </a:txBody>
                  <a:tcPr marL="53989" marR="53989" marT="53991" marB="53991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고객 요구사항이 충족되어 예상대로 동작하는지 확인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운영자 주도 </a:t>
                      </a:r>
                      <a:r>
                        <a:rPr kumimoji="1" lang="en-US" altLang="ko-KR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Validation</a:t>
                      </a: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검증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및 시스템 품질 검증</a:t>
                      </a:r>
                    </a:p>
                  </a:txBody>
                  <a:tcPr marL="53989" marR="53989" marT="53991" marB="53991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165441"/>
                  </a:ext>
                </a:extLst>
              </a:tr>
            </a:tbl>
          </a:graphicData>
        </a:graphic>
      </p:graphicFrame>
      <p:sp>
        <p:nvSpPr>
          <p:cNvPr id="4" name="모서리가 둥근 직사각형 1">
            <a:extLst>
              <a:ext uri="{FF2B5EF4-FFF2-40B4-BE49-F238E27FC236}">
                <a16:creationId xmlns:a16="http://schemas.microsoft.com/office/drawing/2014/main" id="{2E687517-C21A-E5B6-86DE-ACD11F23BC78}"/>
              </a:ext>
            </a:extLst>
          </p:cNvPr>
          <p:cNvSpPr/>
          <p:nvPr/>
        </p:nvSpPr>
        <p:spPr>
          <a:xfrm>
            <a:off x="663267" y="2180866"/>
            <a:ext cx="1712431" cy="47625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단위 테스트</a:t>
            </a:r>
          </a:p>
        </p:txBody>
      </p:sp>
      <p:sp>
        <p:nvSpPr>
          <p:cNvPr id="5" name="모서리가 둥근 직사각형 52">
            <a:extLst>
              <a:ext uri="{FF2B5EF4-FFF2-40B4-BE49-F238E27FC236}">
                <a16:creationId xmlns:a16="http://schemas.microsoft.com/office/drawing/2014/main" id="{0ABEA8AE-153F-4DEA-BE3E-7CCFC710E898}"/>
              </a:ext>
            </a:extLst>
          </p:cNvPr>
          <p:cNvSpPr/>
          <p:nvPr/>
        </p:nvSpPr>
        <p:spPr>
          <a:xfrm>
            <a:off x="3002987" y="2180866"/>
            <a:ext cx="1712431" cy="47625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통합 테스트</a:t>
            </a:r>
          </a:p>
        </p:txBody>
      </p:sp>
      <p:sp>
        <p:nvSpPr>
          <p:cNvPr id="6" name="모서리가 둥근 직사각형 54">
            <a:extLst>
              <a:ext uri="{FF2B5EF4-FFF2-40B4-BE49-F238E27FC236}">
                <a16:creationId xmlns:a16="http://schemas.microsoft.com/office/drawing/2014/main" id="{1FEF5113-8D41-BFEB-A5BA-7190D8B6B2DF}"/>
              </a:ext>
            </a:extLst>
          </p:cNvPr>
          <p:cNvSpPr/>
          <p:nvPr/>
        </p:nvSpPr>
        <p:spPr>
          <a:xfrm>
            <a:off x="5342707" y="2180866"/>
            <a:ext cx="1712431" cy="47625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성능 테스트</a:t>
            </a:r>
          </a:p>
        </p:txBody>
      </p:sp>
      <p:sp>
        <p:nvSpPr>
          <p:cNvPr id="7" name="모서리가 둥근 직사각형 55">
            <a:extLst>
              <a:ext uri="{FF2B5EF4-FFF2-40B4-BE49-F238E27FC236}">
                <a16:creationId xmlns:a16="http://schemas.microsoft.com/office/drawing/2014/main" id="{3A60C5BD-88B1-5E31-3E0C-82CF87A6E4B2}"/>
              </a:ext>
            </a:extLst>
          </p:cNvPr>
          <p:cNvSpPr/>
          <p:nvPr/>
        </p:nvSpPr>
        <p:spPr>
          <a:xfrm>
            <a:off x="7682426" y="2180866"/>
            <a:ext cx="1712431" cy="47625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인수 테스트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C55FA55-0C28-50C1-CE20-F98E09F47C3B}"/>
              </a:ext>
            </a:extLst>
          </p:cNvPr>
          <p:cNvCxnSpPr>
            <a:cxnSpLocks/>
          </p:cNvCxnSpPr>
          <p:nvPr/>
        </p:nvCxnSpPr>
        <p:spPr>
          <a:xfrm>
            <a:off x="2397355" y="2438041"/>
            <a:ext cx="596722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A3BF691-AD23-1B4D-0350-3EAA10FC1AC8}"/>
              </a:ext>
            </a:extLst>
          </p:cNvPr>
          <p:cNvCxnSpPr>
            <a:cxnSpLocks/>
          </p:cNvCxnSpPr>
          <p:nvPr/>
        </p:nvCxnSpPr>
        <p:spPr>
          <a:xfrm>
            <a:off x="4740277" y="2438041"/>
            <a:ext cx="596722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7A098F3-076B-A6DA-8AFF-A38680A30048}"/>
              </a:ext>
            </a:extLst>
          </p:cNvPr>
          <p:cNvCxnSpPr>
            <a:cxnSpLocks/>
          </p:cNvCxnSpPr>
          <p:nvPr/>
        </p:nvCxnSpPr>
        <p:spPr>
          <a:xfrm>
            <a:off x="7080569" y="2438041"/>
            <a:ext cx="596722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7CD4006-4D2B-243D-A500-EDEA82164DF9}"/>
              </a:ext>
            </a:extLst>
          </p:cNvPr>
          <p:cNvCxnSpPr>
            <a:cxnSpLocks/>
          </p:cNvCxnSpPr>
          <p:nvPr/>
        </p:nvCxnSpPr>
        <p:spPr>
          <a:xfrm>
            <a:off x="466725" y="1788929"/>
            <a:ext cx="1502809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C1A87FB-8B9A-41DD-3C02-E0D374B5A7B2}"/>
              </a:ext>
            </a:extLst>
          </p:cNvPr>
          <p:cNvCxnSpPr>
            <a:cxnSpLocks/>
          </p:cNvCxnSpPr>
          <p:nvPr/>
        </p:nvCxnSpPr>
        <p:spPr>
          <a:xfrm>
            <a:off x="8312455" y="1788929"/>
            <a:ext cx="1105041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9BE7021-0409-E55C-EA8C-A91C22A60EAE}"/>
              </a:ext>
            </a:extLst>
          </p:cNvPr>
          <p:cNvSpPr txBox="1"/>
          <p:nvPr/>
        </p:nvSpPr>
        <p:spPr>
          <a:xfrm>
            <a:off x="524376" y="1393031"/>
            <a:ext cx="1374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시스템 개발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FB0D48-221E-AD4B-8683-41A17835ADB9}"/>
              </a:ext>
            </a:extLst>
          </p:cNvPr>
          <p:cNvSpPr txBox="1"/>
          <p:nvPr/>
        </p:nvSpPr>
        <p:spPr>
          <a:xfrm>
            <a:off x="8435907" y="1393031"/>
            <a:ext cx="858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안정화</a:t>
            </a:r>
          </a:p>
        </p:txBody>
      </p:sp>
      <p:sp>
        <p:nvSpPr>
          <p:cNvPr id="21" name="모서리가 둥근 직사각형 13">
            <a:extLst>
              <a:ext uri="{FF2B5EF4-FFF2-40B4-BE49-F238E27FC236}">
                <a16:creationId xmlns:a16="http://schemas.microsoft.com/office/drawing/2014/main" id="{51978357-4E03-4F53-7312-A1B67D9B0AAB}"/>
              </a:ext>
            </a:extLst>
          </p:cNvPr>
          <p:cNvSpPr/>
          <p:nvPr/>
        </p:nvSpPr>
        <p:spPr>
          <a:xfrm>
            <a:off x="560512" y="2034863"/>
            <a:ext cx="1919579" cy="79543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E49FC41A-4BC9-83E2-F6B7-6D9F06CB7937}"/>
              </a:ext>
            </a:extLst>
          </p:cNvPr>
          <p:cNvCxnSpPr>
            <a:cxnSpLocks/>
          </p:cNvCxnSpPr>
          <p:nvPr/>
        </p:nvCxnSpPr>
        <p:spPr>
          <a:xfrm>
            <a:off x="6728104" y="1788929"/>
            <a:ext cx="1547057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E761D1A-3A20-FB87-AD86-4EF32D5DFFEB}"/>
              </a:ext>
            </a:extLst>
          </p:cNvPr>
          <p:cNvSpPr txBox="1"/>
          <p:nvPr/>
        </p:nvSpPr>
        <p:spPr>
          <a:xfrm>
            <a:off x="6797040" y="1393031"/>
            <a:ext cx="1478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교육 및 오픈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DFA7DC1-2EEF-9890-E913-B1E41400A072}"/>
              </a:ext>
            </a:extLst>
          </p:cNvPr>
          <p:cNvCxnSpPr>
            <a:cxnSpLocks/>
          </p:cNvCxnSpPr>
          <p:nvPr/>
        </p:nvCxnSpPr>
        <p:spPr>
          <a:xfrm>
            <a:off x="2079068" y="1788929"/>
            <a:ext cx="4604336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9767FE4-A8EC-E61B-140B-22AA8046F2F0}"/>
              </a:ext>
            </a:extLst>
          </p:cNvPr>
          <p:cNvSpPr txBox="1"/>
          <p:nvPr/>
        </p:nvSpPr>
        <p:spPr>
          <a:xfrm>
            <a:off x="3142744" y="1393031"/>
            <a:ext cx="2476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시스템 테스트 및 검증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C009D63-4CEA-F033-1A5E-55FEE6107502}"/>
              </a:ext>
            </a:extLst>
          </p:cNvPr>
          <p:cNvSpPr/>
          <p:nvPr/>
        </p:nvSpPr>
        <p:spPr>
          <a:xfrm>
            <a:off x="415924" y="1207943"/>
            <a:ext cx="9069287" cy="520079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7066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456F70A7-39B9-E7B2-273A-0BB3FB7F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단위 테스트 개요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851162E-79DF-448A-2AC1-C373711685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단위 테스트 정의 및 목적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0503A0F-115D-6664-5B10-F29D75466042}"/>
              </a:ext>
            </a:extLst>
          </p:cNvPr>
          <p:cNvSpPr/>
          <p:nvPr/>
        </p:nvSpPr>
        <p:spPr>
          <a:xfrm>
            <a:off x="2609805" y="1340646"/>
            <a:ext cx="6774693" cy="158205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>
            <a:lvl1pPr marL="171450" indent="-1714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mar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수행사가 개발한 프로그램의 </a:t>
            </a: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rgbClr val="FF0000"/>
                </a:solidFill>
                <a:ea typeface="맑은 고딕" pitchFamily="50" charset="-127"/>
              </a:rPr>
              <a:t>기능이 정상적으로 동작</a:t>
            </a: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하고</a:t>
            </a: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,  </a:t>
            </a:r>
            <a:b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</a:b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   </a:t>
            </a: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rgbClr val="FF0000"/>
                </a:solidFill>
                <a:ea typeface="맑은 고딕" pitchFamily="50" charset="-127"/>
              </a:rPr>
              <a:t>고객의 요구사항이 누락없이 반영</a:t>
            </a: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되었는지 점검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BF99041-7661-E48A-E0CA-6708797998A4}"/>
              </a:ext>
            </a:extLst>
          </p:cNvPr>
          <p:cNvSpPr/>
          <p:nvPr/>
        </p:nvSpPr>
        <p:spPr>
          <a:xfrm>
            <a:off x="488504" y="1340646"/>
            <a:ext cx="1951260" cy="1582055"/>
          </a:xfrm>
          <a:prstGeom prst="rect">
            <a:avLst/>
          </a:prstGeom>
          <a:solidFill>
            <a:sysClr val="windowText" lastClr="000000">
              <a:lumMod val="50000"/>
              <a:lumOff val="50000"/>
            </a:sysClr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ea typeface="맑은 고딕" pitchFamily="50" charset="-127"/>
              </a:rPr>
              <a:t>단위 테스트</a:t>
            </a:r>
            <a:endParaRPr lang="en-US" altLang="ko-KR" sz="1400" b="1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schemeClr val="bg1"/>
              </a:solidFill>
              <a:ea typeface="맑은 고딕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ea typeface="맑은 고딕" pitchFamily="50" charset="-127"/>
              </a:rPr>
              <a:t>정의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5E88E2E-0896-D597-F1A7-27A5AA43AC62}"/>
              </a:ext>
            </a:extLst>
          </p:cNvPr>
          <p:cNvSpPr/>
          <p:nvPr/>
        </p:nvSpPr>
        <p:spPr>
          <a:xfrm>
            <a:off x="2618223" y="3081430"/>
            <a:ext cx="6774693" cy="30838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>
            <a:lvl1pPr marL="171450" indent="-1714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mar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개발한 프로그램이 요구사항이 맞게 정상 작동하는지 확인</a:t>
            </a:r>
          </a:p>
          <a:p>
            <a:pPr mar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단위 테스트 시나리오를 기준으로 체계적인 테스트 및 검증</a:t>
            </a:r>
          </a:p>
          <a:p>
            <a:pPr mar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rgbClr val="FF0000"/>
                </a:solidFill>
                <a:ea typeface="맑은 고딕" pitchFamily="50" charset="-127"/>
              </a:rPr>
              <a:t>3</a:t>
            </a: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rgbClr val="FF0000"/>
                </a:solidFill>
                <a:ea typeface="맑은 고딕" pitchFamily="50" charset="-127"/>
              </a:rPr>
              <a:t>단계</a:t>
            </a: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rgbClr val="FF0000"/>
                </a:solidFill>
                <a:ea typeface="맑은 고딕" pitchFamily="50" charset="-127"/>
              </a:rPr>
              <a:t>(</a:t>
            </a: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rgbClr val="FF0000"/>
                </a:solidFill>
                <a:ea typeface="맑은 고딕" pitchFamily="50" charset="-127"/>
              </a:rPr>
              <a:t>개발자 → </a:t>
            </a: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rgbClr val="FF0000"/>
                </a:solidFill>
                <a:ea typeface="맑은 고딕" pitchFamily="50" charset="-127"/>
              </a:rPr>
              <a:t>QA</a:t>
            </a: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rgbClr val="FF0000"/>
                </a:solidFill>
                <a:ea typeface="맑은 고딕" pitchFamily="50" charset="-127"/>
              </a:rPr>
              <a:t>품질담당 → </a:t>
            </a: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rgbClr val="FF0000"/>
                </a:solidFill>
                <a:ea typeface="맑은 고딕" pitchFamily="50" charset="-127"/>
              </a:rPr>
              <a:t>TF</a:t>
            </a: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rgbClr val="FF0000"/>
                </a:solidFill>
                <a:ea typeface="맑은 고딕" pitchFamily="50" charset="-127"/>
              </a:rPr>
              <a:t>담당</a:t>
            </a: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rgbClr val="FF0000"/>
                </a:solidFill>
                <a:ea typeface="맑은 고딕" pitchFamily="50" charset="-127"/>
              </a:rPr>
              <a:t>) </a:t>
            </a: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rgbClr val="FF0000"/>
                </a:solidFill>
                <a:ea typeface="맑은 고딕" pitchFamily="50" charset="-127"/>
              </a:rPr>
              <a:t>테스트를 </a:t>
            </a: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수행하여     </a:t>
            </a: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/>
            </a:r>
            <a:b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</a:b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   </a:t>
            </a: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시스템의 완성도 및 시스템의 품질 향상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B5E4183-FED5-0523-5E05-D4228A30F79B}"/>
              </a:ext>
            </a:extLst>
          </p:cNvPr>
          <p:cNvSpPr/>
          <p:nvPr/>
        </p:nvSpPr>
        <p:spPr>
          <a:xfrm>
            <a:off x="498605" y="3081430"/>
            <a:ext cx="1949576" cy="3083874"/>
          </a:xfrm>
          <a:prstGeom prst="rect">
            <a:avLst/>
          </a:prstGeom>
          <a:solidFill>
            <a:sysClr val="windowText" lastClr="000000">
              <a:lumMod val="50000"/>
              <a:lumOff val="50000"/>
            </a:sysClr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ea typeface="맑은 고딕" pitchFamily="50" charset="-127"/>
              </a:rPr>
              <a:t>단위 테스트</a:t>
            </a:r>
            <a:endParaRPr lang="en-US" altLang="ko-KR" sz="1400" b="1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schemeClr val="bg1"/>
              </a:solidFill>
              <a:ea typeface="맑은 고딕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ea typeface="맑은 고딕" pitchFamily="50" charset="-127"/>
              </a:rPr>
              <a:t>목적</a:t>
            </a:r>
          </a:p>
        </p:txBody>
      </p:sp>
    </p:spTree>
    <p:extLst>
      <p:ext uri="{BB962C8B-B14F-4D97-AF65-F5344CB8AC3E}">
        <p14:creationId xmlns:p14="http://schemas.microsoft.com/office/powerpoint/2010/main" val="441608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481" descr="채우기7">
            <a:extLst>
              <a:ext uri="{FF2B5EF4-FFF2-40B4-BE49-F238E27FC236}">
                <a16:creationId xmlns:a16="http://schemas.microsoft.com/office/drawing/2014/main" id="{19B1F909-2213-1709-B90B-3119B9E65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47" y="1207944"/>
            <a:ext cx="2525077" cy="41754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7747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>
                <a:tab pos="5186857" algn="l"/>
              </a:tabLs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단위 테스트 준비</a:t>
            </a:r>
          </a:p>
        </p:txBody>
      </p:sp>
      <p:sp>
        <p:nvSpPr>
          <p:cNvPr id="27" name="AutoShape 482" descr="채우기7">
            <a:extLst>
              <a:ext uri="{FF2B5EF4-FFF2-40B4-BE49-F238E27FC236}">
                <a16:creationId xmlns:a16="http://schemas.microsoft.com/office/drawing/2014/main" id="{DFF2F92D-73DD-9573-72BA-BF4EA9FDC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307" y="1207944"/>
            <a:ext cx="4114519" cy="41754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lvl="0" algn="ctr" defTabSz="774700" fontAlgn="auto" latinLnBrk="0">
              <a:spcBef>
                <a:spcPts val="0"/>
              </a:spcBef>
              <a:spcAft>
                <a:spcPts val="0"/>
              </a:spcAft>
              <a:buSzPct val="100000"/>
              <a:tabLst>
                <a:tab pos="5186857" algn="l"/>
              </a:tabLs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단위 테스트 활동 </a:t>
            </a: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개발자 </a:t>
            </a: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/ QA</a:t>
            </a: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담당</a:t>
            </a: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 / TF</a:t>
            </a: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담당</a:t>
            </a: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ko-KR" sz="1400" b="1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AutoShape 483" descr="채우기7">
            <a:extLst>
              <a:ext uri="{FF2B5EF4-FFF2-40B4-BE49-F238E27FC236}">
                <a16:creationId xmlns:a16="http://schemas.microsoft.com/office/drawing/2014/main" id="{E668DC33-96FC-9474-4302-DB6E08A24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7375" y="1207943"/>
            <a:ext cx="2525077" cy="41754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7747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>
                <a:tab pos="5186857" algn="l"/>
              </a:tabLs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단위 테스트 결과</a:t>
            </a:r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456F70A7-39B9-E7B2-273A-0BB3FB7F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단위 테스트 개요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851162E-79DF-448A-2AC1-C373711685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단위 테스트 프로세스</a:t>
            </a:r>
          </a:p>
        </p:txBody>
      </p:sp>
      <p:sp>
        <p:nvSpPr>
          <p:cNvPr id="3" name="Line 244">
            <a:extLst>
              <a:ext uri="{FF2B5EF4-FFF2-40B4-BE49-F238E27FC236}">
                <a16:creationId xmlns:a16="http://schemas.microsoft.com/office/drawing/2014/main" id="{8725BBFE-6EAF-3AB5-621B-CD9232EABC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78932" y="1215802"/>
            <a:ext cx="0" cy="5192936"/>
          </a:xfrm>
          <a:prstGeom prst="line">
            <a:avLst/>
          </a:prstGeom>
          <a:noFill/>
          <a:ln w="12700">
            <a:solidFill>
              <a:schemeClr val="bg2">
                <a:lumMod val="50000"/>
              </a:schemeClr>
            </a:solidFill>
            <a:prstDash val="dash"/>
            <a:round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0" scaled="1"/>
              </a:gradFill>
              <a:effectLst/>
              <a:uLnTx/>
              <a:uFillTx/>
              <a:latin typeface="나눔고딕 Bold" panose="020D0304000000000000" pitchFamily="50" charset="-127"/>
              <a:ea typeface="나눔고딕 Bold" panose="020D0304000000000000" pitchFamily="50" charset="-127"/>
            </a:endParaRPr>
          </a:p>
        </p:txBody>
      </p:sp>
      <p:sp>
        <p:nvSpPr>
          <p:cNvPr id="4" name="Line 244">
            <a:extLst>
              <a:ext uri="{FF2B5EF4-FFF2-40B4-BE49-F238E27FC236}">
                <a16:creationId xmlns:a16="http://schemas.microsoft.com/office/drawing/2014/main" id="{3BEA0538-3B9E-0860-3750-FD4EA97E38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85826" y="1215802"/>
            <a:ext cx="0" cy="5192936"/>
          </a:xfrm>
          <a:prstGeom prst="line">
            <a:avLst/>
          </a:prstGeom>
          <a:noFill/>
          <a:ln w="12700">
            <a:solidFill>
              <a:schemeClr val="bg2">
                <a:lumMod val="50000"/>
              </a:schemeClr>
            </a:solidFill>
            <a:prstDash val="dash"/>
            <a:round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0" scaled="1"/>
              </a:gradFill>
              <a:effectLst/>
              <a:uLnTx/>
              <a:uFillTx/>
              <a:latin typeface="나눔고딕 Bold" panose="020D0304000000000000" pitchFamily="50" charset="-127"/>
              <a:ea typeface="나눔고딕 Bold" panose="020D0304000000000000" pitchFamily="50" charset="-127"/>
            </a:endParaRPr>
          </a:p>
        </p:txBody>
      </p:sp>
      <p:sp>
        <p:nvSpPr>
          <p:cNvPr id="6" name="모서리가 둥근 직사각형 1">
            <a:extLst>
              <a:ext uri="{FF2B5EF4-FFF2-40B4-BE49-F238E27FC236}">
                <a16:creationId xmlns:a16="http://schemas.microsoft.com/office/drawing/2014/main" id="{DA160DA7-855A-3AAA-208F-8DB627BA9259}"/>
              </a:ext>
            </a:extLst>
          </p:cNvPr>
          <p:cNvSpPr/>
          <p:nvPr/>
        </p:nvSpPr>
        <p:spPr>
          <a:xfrm>
            <a:off x="1841661" y="1798065"/>
            <a:ext cx="1424626" cy="51828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요구사항정의서</a:t>
            </a:r>
            <a:endParaRPr lang="en-US" altLang="ko-KR" sz="1200" b="1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프로그램설계서</a:t>
            </a:r>
          </a:p>
        </p:txBody>
      </p:sp>
      <p:sp>
        <p:nvSpPr>
          <p:cNvPr id="7" name="모서리가 둥근 직사각형 2">
            <a:extLst>
              <a:ext uri="{FF2B5EF4-FFF2-40B4-BE49-F238E27FC236}">
                <a16:creationId xmlns:a16="http://schemas.microsoft.com/office/drawing/2014/main" id="{AA25CCB9-B0FA-8CD3-0BC9-4CD776D039D3}"/>
              </a:ext>
            </a:extLst>
          </p:cNvPr>
          <p:cNvSpPr/>
          <p:nvPr/>
        </p:nvSpPr>
        <p:spPr>
          <a:xfrm>
            <a:off x="508996" y="2826846"/>
            <a:ext cx="1503425" cy="71657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단위 테스트 </a:t>
            </a:r>
            <a:endParaRPr lang="en-US" altLang="ko-KR" sz="1400" b="1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시나리오</a:t>
            </a:r>
          </a:p>
        </p:txBody>
      </p:sp>
      <p:sp>
        <p:nvSpPr>
          <p:cNvPr id="12" name="모서리가 둥근 직사각형 5">
            <a:extLst>
              <a:ext uri="{FF2B5EF4-FFF2-40B4-BE49-F238E27FC236}">
                <a16:creationId xmlns:a16="http://schemas.microsoft.com/office/drawing/2014/main" id="{855325F8-05DC-E8D5-23C0-071D627E9E59}"/>
              </a:ext>
            </a:extLst>
          </p:cNvPr>
          <p:cNvSpPr/>
          <p:nvPr/>
        </p:nvSpPr>
        <p:spPr>
          <a:xfrm>
            <a:off x="7640510" y="2826846"/>
            <a:ext cx="1508371" cy="71657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단위 테스트</a:t>
            </a:r>
            <a:endParaRPr lang="en-US" altLang="ko-KR" sz="1400" b="1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완료 프로그램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167B837-C056-D179-043E-FB07139FAD86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2012421" y="3185133"/>
            <a:ext cx="2028312" cy="11299"/>
          </a:xfrm>
          <a:prstGeom prst="straightConnector1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79D2544-C969-0364-159F-884E0F74793F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5864945" y="3185133"/>
            <a:ext cx="1775565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0269361-56E8-54A2-DEB1-A7D4C5AA908A}"/>
              </a:ext>
            </a:extLst>
          </p:cNvPr>
          <p:cNvCxnSpPr/>
          <p:nvPr/>
        </p:nvCxnSpPr>
        <p:spPr>
          <a:xfrm flipV="1">
            <a:off x="5033181" y="3637939"/>
            <a:ext cx="0" cy="1980000"/>
          </a:xfrm>
          <a:prstGeom prst="straightConnector1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연결선 23">
            <a:extLst>
              <a:ext uri="{FF2B5EF4-FFF2-40B4-BE49-F238E27FC236}">
                <a16:creationId xmlns:a16="http://schemas.microsoft.com/office/drawing/2014/main" id="{EFA7C65D-53BB-5E11-ED19-FCF75BE9211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75965" y="4584369"/>
            <a:ext cx="2509115" cy="125238"/>
          </a:xfrm>
          <a:prstGeom prst="bentConnector4">
            <a:avLst>
              <a:gd name="adj1" fmla="val 139"/>
              <a:gd name="adj2" fmla="val 716046"/>
            </a:avLst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BA070C3-837A-0445-00A0-EB55A9FC09D5}"/>
              </a:ext>
            </a:extLst>
          </p:cNvPr>
          <p:cNvSpPr txBox="1"/>
          <p:nvPr/>
        </p:nvSpPr>
        <p:spPr>
          <a:xfrm>
            <a:off x="5609793" y="4530251"/>
            <a:ext cx="54373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반복</a:t>
            </a:r>
          </a:p>
        </p:txBody>
      </p:sp>
      <p:cxnSp>
        <p:nvCxnSpPr>
          <p:cNvPr id="20" name="구부러진 연결선 36">
            <a:extLst>
              <a:ext uri="{FF2B5EF4-FFF2-40B4-BE49-F238E27FC236}">
                <a16:creationId xmlns:a16="http://schemas.microsoft.com/office/drawing/2014/main" id="{6607F146-DA93-76EE-0B92-9739FFED4EAF}"/>
              </a:ext>
            </a:extLst>
          </p:cNvPr>
          <p:cNvCxnSpPr/>
          <p:nvPr/>
        </p:nvCxnSpPr>
        <p:spPr>
          <a:xfrm rot="16200000" flipH="1">
            <a:off x="2592635" y="2497592"/>
            <a:ext cx="758160" cy="522964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oli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대각선 방향의 모서리가 둥근 사각형 49">
            <a:extLst>
              <a:ext uri="{FF2B5EF4-FFF2-40B4-BE49-F238E27FC236}">
                <a16:creationId xmlns:a16="http://schemas.microsoft.com/office/drawing/2014/main" id="{5E839D95-65C6-4C0B-30CC-8404442C063E}"/>
              </a:ext>
            </a:extLst>
          </p:cNvPr>
          <p:cNvSpPr/>
          <p:nvPr/>
        </p:nvSpPr>
        <p:spPr>
          <a:xfrm>
            <a:off x="2664360" y="2374628"/>
            <a:ext cx="789302" cy="388418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5359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defRPr/>
            </a:pP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참고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9CEA8EF-7062-AD19-7F9C-4E0D66D32032}"/>
              </a:ext>
            </a:extLst>
          </p:cNvPr>
          <p:cNvSpPr/>
          <p:nvPr/>
        </p:nvSpPr>
        <p:spPr>
          <a:xfrm>
            <a:off x="415924" y="1207943"/>
            <a:ext cx="9069287" cy="520079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C262380-3B83-884D-DD59-6B6367904CFB}"/>
              </a:ext>
            </a:extLst>
          </p:cNvPr>
          <p:cNvGrpSpPr/>
          <p:nvPr/>
        </p:nvGrpSpPr>
        <p:grpSpPr>
          <a:xfrm>
            <a:off x="2612220" y="4626616"/>
            <a:ext cx="1871544" cy="707252"/>
            <a:chOff x="662253" y="5194292"/>
            <a:chExt cx="1871544" cy="707252"/>
          </a:xfrm>
        </p:grpSpPr>
        <p:sp>
          <p:nvSpPr>
            <p:cNvPr id="30" name="Rectangle 384">
              <a:extLst>
                <a:ext uri="{FF2B5EF4-FFF2-40B4-BE49-F238E27FC236}">
                  <a16:creationId xmlns:a16="http://schemas.microsoft.com/office/drawing/2014/main" id="{3C878610-4BB6-3238-A93D-68B2128E0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253" y="5194292"/>
              <a:ext cx="1871544" cy="2791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wrap="none" tIns="72000" bIns="36000" anchor="ctr"/>
            <a:lstStyle/>
            <a:p>
              <a:pPr algn="ctr" defTabSz="979488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Pct val="60000"/>
                <a:defRPr/>
              </a:pPr>
              <a:r>
                <a:rPr lang="ko-KR" altLang="en-US" sz="1200" b="1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릴리즈</a:t>
              </a:r>
              <a:endParaRPr lang="en-US" altLang="ko-KR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1" name="Rectangle 384">
              <a:extLst>
                <a:ext uri="{FF2B5EF4-FFF2-40B4-BE49-F238E27FC236}">
                  <a16:creationId xmlns:a16="http://schemas.microsoft.com/office/drawing/2014/main" id="{D0F4F8AE-9D6E-7380-4CA7-994670FD7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253" y="5473443"/>
              <a:ext cx="1871544" cy="428101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wrap="none" tIns="0" bIns="0" anchor="ctr"/>
            <a:lstStyle/>
            <a:p>
              <a:pPr algn="ctr" defTabSz="979488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Pct val="60000"/>
                <a:defRPr/>
              </a:pPr>
              <a:r>
                <a:rPr lang="ko-KR" altLang="en-US" sz="1200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소스 배포 진척</a:t>
              </a:r>
              <a:r>
                <a:rPr lang="en-US" altLang="ko-KR" sz="1200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200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및 이슈관리</a:t>
              </a:r>
              <a:endParaRPr lang="en-US" altLang="ko-KR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75125B9-C2EE-3BA7-4EDF-F0A37CEABFEA}"/>
              </a:ext>
            </a:extLst>
          </p:cNvPr>
          <p:cNvGrpSpPr/>
          <p:nvPr/>
        </p:nvGrpSpPr>
        <p:grpSpPr>
          <a:xfrm>
            <a:off x="7374818" y="4626616"/>
            <a:ext cx="1871544" cy="707252"/>
            <a:chOff x="662253" y="5194292"/>
            <a:chExt cx="1871544" cy="707252"/>
          </a:xfrm>
        </p:grpSpPr>
        <p:sp>
          <p:nvSpPr>
            <p:cNvPr id="34" name="Rectangle 384">
              <a:extLst>
                <a:ext uri="{FF2B5EF4-FFF2-40B4-BE49-F238E27FC236}">
                  <a16:creationId xmlns:a16="http://schemas.microsoft.com/office/drawing/2014/main" id="{852EF9BD-7392-EC6A-C60B-D3631E336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253" y="5194292"/>
              <a:ext cx="1871544" cy="2791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wrap="none" tIns="72000" bIns="36000" anchor="ctr"/>
            <a:lstStyle/>
            <a:p>
              <a:pPr algn="ctr" defTabSz="979488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Pct val="60000"/>
                <a:defRPr/>
              </a:pPr>
              <a:r>
                <a:rPr lang="ko-KR" altLang="en-US" sz="1200" b="1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결함보고</a:t>
              </a:r>
              <a:endParaRPr lang="en-US" altLang="ko-KR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" name="Rectangle 384">
              <a:extLst>
                <a:ext uri="{FF2B5EF4-FFF2-40B4-BE49-F238E27FC236}">
                  <a16:creationId xmlns:a16="http://schemas.microsoft.com/office/drawing/2014/main" id="{7496B9AA-E6C3-C23E-1FAD-A5AF04513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253" y="5473443"/>
              <a:ext cx="1871544" cy="428101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wrap="none" tIns="0" bIns="0" anchor="ctr"/>
            <a:lstStyle/>
            <a:p>
              <a:pPr algn="ctr" defTabSz="979488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Pct val="60000"/>
                <a:defRPr/>
              </a:pPr>
              <a:r>
                <a:rPr lang="ko-KR" altLang="en-US" sz="1200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결함관리시스템</a:t>
              </a:r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EEAAC88-5804-3377-BA65-4E08E9E458A5}"/>
              </a:ext>
            </a:extLst>
          </p:cNvPr>
          <p:cNvSpPr/>
          <p:nvPr/>
        </p:nvSpPr>
        <p:spPr>
          <a:xfrm>
            <a:off x="6379981" y="2924944"/>
            <a:ext cx="638999" cy="26638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95359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defRPr/>
            </a:pP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완료</a:t>
            </a:r>
            <a:endParaRPr lang="en-US" altLang="ko-KR" sz="1200" b="1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4DD3EBD-97E3-1FD6-1669-25FDDCC16F7A}"/>
              </a:ext>
            </a:extLst>
          </p:cNvPr>
          <p:cNvSpPr/>
          <p:nvPr/>
        </p:nvSpPr>
        <p:spPr>
          <a:xfrm>
            <a:off x="2314451" y="3188806"/>
            <a:ext cx="638999" cy="26638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95359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defRPr/>
            </a:pP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활용</a:t>
            </a:r>
            <a:endParaRPr lang="en-US" altLang="ko-KR" sz="1200" b="1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F38CDBE-7D41-633B-2A4B-226213E85315}"/>
              </a:ext>
            </a:extLst>
          </p:cNvPr>
          <p:cNvSpPr/>
          <p:nvPr/>
        </p:nvSpPr>
        <p:spPr>
          <a:xfrm>
            <a:off x="4396259" y="5668145"/>
            <a:ext cx="1564587" cy="3798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algn="ctr" defTabSz="995359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defRPr/>
            </a:pP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수정</a:t>
            </a:r>
            <a:endParaRPr lang="en-US" altLang="ko-KR" sz="1200" b="1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1" name="Shape 131">
            <a:extLst>
              <a:ext uri="{FF2B5EF4-FFF2-40B4-BE49-F238E27FC236}">
                <a16:creationId xmlns:a16="http://schemas.microsoft.com/office/drawing/2014/main" id="{58EC32FB-BDF0-519A-3BF9-AEE45E62119D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09479" y="4183982"/>
            <a:ext cx="1514668" cy="428737"/>
          </a:xfrm>
          <a:prstGeom prst="bentConnector2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stealth" w="med" len="med"/>
          </a:ln>
          <a:effectLst/>
        </p:spPr>
      </p:cxnSp>
      <p:cxnSp>
        <p:nvCxnSpPr>
          <p:cNvPr id="48" name="Shape 131">
            <a:extLst>
              <a:ext uri="{FF2B5EF4-FFF2-40B4-BE49-F238E27FC236}">
                <a16:creationId xmlns:a16="http://schemas.microsoft.com/office/drawing/2014/main" id="{32053BA6-AD61-4949-4CB1-A085587CE4A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776052" y="4183982"/>
            <a:ext cx="1514668" cy="428737"/>
          </a:xfrm>
          <a:prstGeom prst="bentConnector2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stealth" w="med" len="med"/>
          </a:ln>
          <a:effectLst/>
        </p:spPr>
      </p:cxnSp>
      <p:grpSp>
        <p:nvGrpSpPr>
          <p:cNvPr id="51" name="그룹 140">
            <a:extLst>
              <a:ext uri="{FF2B5EF4-FFF2-40B4-BE49-F238E27FC236}">
                <a16:creationId xmlns:a16="http://schemas.microsoft.com/office/drawing/2014/main" id="{2C0B9437-8350-9CFD-9160-C132CE28CA54}"/>
              </a:ext>
            </a:extLst>
          </p:cNvPr>
          <p:cNvGrpSpPr>
            <a:grpSpLocks/>
          </p:cNvGrpSpPr>
          <p:nvPr/>
        </p:nvGrpSpPr>
        <p:grpSpPr bwMode="auto">
          <a:xfrm>
            <a:off x="5379469" y="4305797"/>
            <a:ext cx="1000512" cy="717550"/>
            <a:chOff x="3254079" y="7607683"/>
            <a:chExt cx="1347249" cy="1355406"/>
          </a:xfrm>
        </p:grpSpPr>
        <p:sp>
          <p:nvSpPr>
            <p:cNvPr id="53" name="Freeform 10">
              <a:extLst>
                <a:ext uri="{FF2B5EF4-FFF2-40B4-BE49-F238E27FC236}">
                  <a16:creationId xmlns:a16="http://schemas.microsoft.com/office/drawing/2014/main" id="{E483D0AD-9B19-4A2F-89E8-1B245E5544EB}"/>
                </a:ext>
              </a:extLst>
            </p:cNvPr>
            <p:cNvSpPr>
              <a:spLocks/>
            </p:cNvSpPr>
            <p:nvPr/>
          </p:nvSpPr>
          <p:spPr bwMode="auto">
            <a:xfrm rot="7803830">
              <a:off x="3678249" y="7587923"/>
              <a:ext cx="731679" cy="771200"/>
            </a:xfrm>
            <a:custGeom>
              <a:avLst/>
              <a:gdLst>
                <a:gd name="T0" fmla="*/ 2038 w 2038"/>
                <a:gd name="T1" fmla="*/ 2106 h 2106"/>
                <a:gd name="T2" fmla="*/ 1982 w 2038"/>
                <a:gd name="T3" fmla="*/ 2100 h 2106"/>
                <a:gd name="T4" fmla="*/ 1878 w 2038"/>
                <a:gd name="T5" fmla="*/ 2084 h 2106"/>
                <a:gd name="T6" fmla="*/ 1786 w 2038"/>
                <a:gd name="T7" fmla="*/ 2062 h 2106"/>
                <a:gd name="T8" fmla="*/ 1680 w 2038"/>
                <a:gd name="T9" fmla="*/ 2032 h 2106"/>
                <a:gd name="T10" fmla="*/ 1566 w 2038"/>
                <a:gd name="T11" fmla="*/ 1988 h 2106"/>
                <a:gd name="T12" fmla="*/ 1444 w 2038"/>
                <a:gd name="T13" fmla="*/ 1930 h 2106"/>
                <a:gd name="T14" fmla="*/ 1322 w 2038"/>
                <a:gd name="T15" fmla="*/ 1858 h 2106"/>
                <a:gd name="T16" fmla="*/ 1200 w 2038"/>
                <a:gd name="T17" fmla="*/ 1764 h 2106"/>
                <a:gd name="T18" fmla="*/ 1142 w 2038"/>
                <a:gd name="T19" fmla="*/ 1712 h 2106"/>
                <a:gd name="T20" fmla="*/ 1084 w 2038"/>
                <a:gd name="T21" fmla="*/ 1652 h 2106"/>
                <a:gd name="T22" fmla="*/ 1030 w 2038"/>
                <a:gd name="T23" fmla="*/ 1588 h 2106"/>
                <a:gd name="T24" fmla="*/ 978 w 2038"/>
                <a:gd name="T25" fmla="*/ 1518 h 2106"/>
                <a:gd name="T26" fmla="*/ 930 w 2038"/>
                <a:gd name="T27" fmla="*/ 1442 h 2106"/>
                <a:gd name="T28" fmla="*/ 884 w 2038"/>
                <a:gd name="T29" fmla="*/ 1358 h 2106"/>
                <a:gd name="T30" fmla="*/ 844 w 2038"/>
                <a:gd name="T31" fmla="*/ 1270 h 2106"/>
                <a:gd name="T32" fmla="*/ 808 w 2038"/>
                <a:gd name="T33" fmla="*/ 1174 h 2106"/>
                <a:gd name="T34" fmla="*/ 778 w 2038"/>
                <a:gd name="T35" fmla="*/ 1070 h 2106"/>
                <a:gd name="T36" fmla="*/ 754 w 2038"/>
                <a:gd name="T37" fmla="*/ 960 h 2106"/>
                <a:gd name="T38" fmla="*/ 734 w 2038"/>
                <a:gd name="T39" fmla="*/ 842 h 2106"/>
                <a:gd name="T40" fmla="*/ 722 w 2038"/>
                <a:gd name="T41" fmla="*/ 716 h 2106"/>
                <a:gd name="T42" fmla="*/ 718 w 2038"/>
                <a:gd name="T43" fmla="*/ 582 h 2106"/>
                <a:gd name="T44" fmla="*/ 738 w 2038"/>
                <a:gd name="T45" fmla="*/ 290 h 2106"/>
                <a:gd name="T46" fmla="*/ 250 w 2038"/>
                <a:gd name="T47" fmla="*/ 290 h 2106"/>
                <a:gd name="T48" fmla="*/ 272 w 2038"/>
                <a:gd name="T49" fmla="*/ 582 h 2106"/>
                <a:gd name="T50" fmla="*/ 274 w 2038"/>
                <a:gd name="T51" fmla="*/ 630 h 2106"/>
                <a:gd name="T52" fmla="*/ 288 w 2038"/>
                <a:gd name="T53" fmla="*/ 746 h 2106"/>
                <a:gd name="T54" fmla="*/ 306 w 2038"/>
                <a:gd name="T55" fmla="*/ 844 h 2106"/>
                <a:gd name="T56" fmla="*/ 334 w 2038"/>
                <a:gd name="T57" fmla="*/ 958 h 2106"/>
                <a:gd name="T58" fmla="*/ 374 w 2038"/>
                <a:gd name="T59" fmla="*/ 1082 h 2106"/>
                <a:gd name="T60" fmla="*/ 428 w 2038"/>
                <a:gd name="T61" fmla="*/ 1214 h 2106"/>
                <a:gd name="T62" fmla="*/ 498 w 2038"/>
                <a:gd name="T63" fmla="*/ 1348 h 2106"/>
                <a:gd name="T64" fmla="*/ 586 w 2038"/>
                <a:gd name="T65" fmla="*/ 1482 h 2106"/>
                <a:gd name="T66" fmla="*/ 638 w 2038"/>
                <a:gd name="T67" fmla="*/ 1548 h 2106"/>
                <a:gd name="T68" fmla="*/ 694 w 2038"/>
                <a:gd name="T69" fmla="*/ 1612 h 2106"/>
                <a:gd name="T70" fmla="*/ 756 w 2038"/>
                <a:gd name="T71" fmla="*/ 1674 h 2106"/>
                <a:gd name="T72" fmla="*/ 826 w 2038"/>
                <a:gd name="T73" fmla="*/ 1734 h 2106"/>
                <a:gd name="T74" fmla="*/ 900 w 2038"/>
                <a:gd name="T75" fmla="*/ 1790 h 2106"/>
                <a:gd name="T76" fmla="*/ 980 w 2038"/>
                <a:gd name="T77" fmla="*/ 1844 h 2106"/>
                <a:gd name="T78" fmla="*/ 1068 w 2038"/>
                <a:gd name="T79" fmla="*/ 1894 h 2106"/>
                <a:gd name="T80" fmla="*/ 1162 w 2038"/>
                <a:gd name="T81" fmla="*/ 1940 h 2106"/>
                <a:gd name="T82" fmla="*/ 1264 w 2038"/>
                <a:gd name="T83" fmla="*/ 1982 h 2106"/>
                <a:gd name="T84" fmla="*/ 1372 w 2038"/>
                <a:gd name="T85" fmla="*/ 2018 h 2106"/>
                <a:gd name="T86" fmla="*/ 1490 w 2038"/>
                <a:gd name="T87" fmla="*/ 2048 h 2106"/>
                <a:gd name="T88" fmla="*/ 1614 w 2038"/>
                <a:gd name="T89" fmla="*/ 2072 h 2106"/>
                <a:gd name="T90" fmla="*/ 1746 w 2038"/>
                <a:gd name="T91" fmla="*/ 2090 h 2106"/>
                <a:gd name="T92" fmla="*/ 1888 w 2038"/>
                <a:gd name="T93" fmla="*/ 2102 h 2106"/>
                <a:gd name="T94" fmla="*/ 2038 w 2038"/>
                <a:gd name="T95" fmla="*/ 2106 h 210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38"/>
                <a:gd name="T145" fmla="*/ 0 h 2106"/>
                <a:gd name="T146" fmla="*/ 2038 w 2038"/>
                <a:gd name="T147" fmla="*/ 2106 h 210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38" h="2106">
                  <a:moveTo>
                    <a:pt x="2038" y="2106"/>
                  </a:moveTo>
                  <a:lnTo>
                    <a:pt x="2038" y="2106"/>
                  </a:lnTo>
                  <a:lnTo>
                    <a:pt x="2024" y="2104"/>
                  </a:lnTo>
                  <a:lnTo>
                    <a:pt x="1982" y="2100"/>
                  </a:lnTo>
                  <a:lnTo>
                    <a:pt x="1918" y="2092"/>
                  </a:lnTo>
                  <a:lnTo>
                    <a:pt x="1878" y="2084"/>
                  </a:lnTo>
                  <a:lnTo>
                    <a:pt x="1834" y="2074"/>
                  </a:lnTo>
                  <a:lnTo>
                    <a:pt x="1786" y="2062"/>
                  </a:lnTo>
                  <a:lnTo>
                    <a:pt x="1734" y="2048"/>
                  </a:lnTo>
                  <a:lnTo>
                    <a:pt x="1680" y="2032"/>
                  </a:lnTo>
                  <a:lnTo>
                    <a:pt x="1624" y="2012"/>
                  </a:lnTo>
                  <a:lnTo>
                    <a:pt x="1566" y="1988"/>
                  </a:lnTo>
                  <a:lnTo>
                    <a:pt x="1506" y="1962"/>
                  </a:lnTo>
                  <a:lnTo>
                    <a:pt x="1444" y="1930"/>
                  </a:lnTo>
                  <a:lnTo>
                    <a:pt x="1382" y="1896"/>
                  </a:lnTo>
                  <a:lnTo>
                    <a:pt x="1322" y="1858"/>
                  </a:lnTo>
                  <a:lnTo>
                    <a:pt x="1260" y="1814"/>
                  </a:lnTo>
                  <a:lnTo>
                    <a:pt x="1200" y="1764"/>
                  </a:lnTo>
                  <a:lnTo>
                    <a:pt x="1170" y="1738"/>
                  </a:lnTo>
                  <a:lnTo>
                    <a:pt x="1142" y="1712"/>
                  </a:lnTo>
                  <a:lnTo>
                    <a:pt x="1112" y="1682"/>
                  </a:lnTo>
                  <a:lnTo>
                    <a:pt x="1084" y="1652"/>
                  </a:lnTo>
                  <a:lnTo>
                    <a:pt x="1056" y="1622"/>
                  </a:lnTo>
                  <a:lnTo>
                    <a:pt x="1030" y="1588"/>
                  </a:lnTo>
                  <a:lnTo>
                    <a:pt x="1004" y="1554"/>
                  </a:lnTo>
                  <a:lnTo>
                    <a:pt x="978" y="1518"/>
                  </a:lnTo>
                  <a:lnTo>
                    <a:pt x="954" y="1480"/>
                  </a:lnTo>
                  <a:lnTo>
                    <a:pt x="930" y="1442"/>
                  </a:lnTo>
                  <a:lnTo>
                    <a:pt x="906" y="1400"/>
                  </a:lnTo>
                  <a:lnTo>
                    <a:pt x="884" y="1358"/>
                  </a:lnTo>
                  <a:lnTo>
                    <a:pt x="864" y="1316"/>
                  </a:lnTo>
                  <a:lnTo>
                    <a:pt x="844" y="1270"/>
                  </a:lnTo>
                  <a:lnTo>
                    <a:pt x="826" y="1222"/>
                  </a:lnTo>
                  <a:lnTo>
                    <a:pt x="808" y="1174"/>
                  </a:lnTo>
                  <a:lnTo>
                    <a:pt x="792" y="1122"/>
                  </a:lnTo>
                  <a:lnTo>
                    <a:pt x="778" y="1070"/>
                  </a:lnTo>
                  <a:lnTo>
                    <a:pt x="766" y="1016"/>
                  </a:lnTo>
                  <a:lnTo>
                    <a:pt x="754" y="960"/>
                  </a:lnTo>
                  <a:lnTo>
                    <a:pt x="744" y="902"/>
                  </a:lnTo>
                  <a:lnTo>
                    <a:pt x="734" y="842"/>
                  </a:lnTo>
                  <a:lnTo>
                    <a:pt x="728" y="780"/>
                  </a:lnTo>
                  <a:lnTo>
                    <a:pt x="722" y="716"/>
                  </a:lnTo>
                  <a:lnTo>
                    <a:pt x="720" y="650"/>
                  </a:lnTo>
                  <a:lnTo>
                    <a:pt x="718" y="582"/>
                  </a:lnTo>
                  <a:lnTo>
                    <a:pt x="988" y="582"/>
                  </a:lnTo>
                  <a:lnTo>
                    <a:pt x="738" y="290"/>
                  </a:lnTo>
                  <a:lnTo>
                    <a:pt x="494" y="0"/>
                  </a:lnTo>
                  <a:lnTo>
                    <a:pt x="250" y="290"/>
                  </a:lnTo>
                  <a:lnTo>
                    <a:pt x="0" y="582"/>
                  </a:lnTo>
                  <a:lnTo>
                    <a:pt x="272" y="582"/>
                  </a:lnTo>
                  <a:lnTo>
                    <a:pt x="274" y="630"/>
                  </a:lnTo>
                  <a:lnTo>
                    <a:pt x="282" y="702"/>
                  </a:lnTo>
                  <a:lnTo>
                    <a:pt x="288" y="746"/>
                  </a:lnTo>
                  <a:lnTo>
                    <a:pt x="296" y="794"/>
                  </a:lnTo>
                  <a:lnTo>
                    <a:pt x="306" y="844"/>
                  </a:lnTo>
                  <a:lnTo>
                    <a:pt x="318" y="900"/>
                  </a:lnTo>
                  <a:lnTo>
                    <a:pt x="334" y="958"/>
                  </a:lnTo>
                  <a:lnTo>
                    <a:pt x="352" y="1020"/>
                  </a:lnTo>
                  <a:lnTo>
                    <a:pt x="374" y="1082"/>
                  </a:lnTo>
                  <a:lnTo>
                    <a:pt x="398" y="1148"/>
                  </a:lnTo>
                  <a:lnTo>
                    <a:pt x="428" y="1214"/>
                  </a:lnTo>
                  <a:lnTo>
                    <a:pt x="460" y="1280"/>
                  </a:lnTo>
                  <a:lnTo>
                    <a:pt x="498" y="1348"/>
                  </a:lnTo>
                  <a:lnTo>
                    <a:pt x="540" y="1414"/>
                  </a:lnTo>
                  <a:lnTo>
                    <a:pt x="586" y="1482"/>
                  </a:lnTo>
                  <a:lnTo>
                    <a:pt x="612" y="1514"/>
                  </a:lnTo>
                  <a:lnTo>
                    <a:pt x="638" y="1548"/>
                  </a:lnTo>
                  <a:lnTo>
                    <a:pt x="666" y="1580"/>
                  </a:lnTo>
                  <a:lnTo>
                    <a:pt x="694" y="1612"/>
                  </a:lnTo>
                  <a:lnTo>
                    <a:pt x="724" y="1642"/>
                  </a:lnTo>
                  <a:lnTo>
                    <a:pt x="756" y="1674"/>
                  </a:lnTo>
                  <a:lnTo>
                    <a:pt x="790" y="1704"/>
                  </a:lnTo>
                  <a:lnTo>
                    <a:pt x="826" y="1734"/>
                  </a:lnTo>
                  <a:lnTo>
                    <a:pt x="862" y="1762"/>
                  </a:lnTo>
                  <a:lnTo>
                    <a:pt x="900" y="1790"/>
                  </a:lnTo>
                  <a:lnTo>
                    <a:pt x="940" y="1818"/>
                  </a:lnTo>
                  <a:lnTo>
                    <a:pt x="980" y="1844"/>
                  </a:lnTo>
                  <a:lnTo>
                    <a:pt x="1024" y="1870"/>
                  </a:lnTo>
                  <a:lnTo>
                    <a:pt x="1068" y="1894"/>
                  </a:lnTo>
                  <a:lnTo>
                    <a:pt x="1114" y="1918"/>
                  </a:lnTo>
                  <a:lnTo>
                    <a:pt x="1162" y="1940"/>
                  </a:lnTo>
                  <a:lnTo>
                    <a:pt x="1212" y="1962"/>
                  </a:lnTo>
                  <a:lnTo>
                    <a:pt x="1264" y="1982"/>
                  </a:lnTo>
                  <a:lnTo>
                    <a:pt x="1318" y="2000"/>
                  </a:lnTo>
                  <a:lnTo>
                    <a:pt x="1372" y="2018"/>
                  </a:lnTo>
                  <a:lnTo>
                    <a:pt x="1430" y="2034"/>
                  </a:lnTo>
                  <a:lnTo>
                    <a:pt x="1490" y="2048"/>
                  </a:lnTo>
                  <a:lnTo>
                    <a:pt x="1550" y="2060"/>
                  </a:lnTo>
                  <a:lnTo>
                    <a:pt x="1614" y="2072"/>
                  </a:lnTo>
                  <a:lnTo>
                    <a:pt x="1680" y="2082"/>
                  </a:lnTo>
                  <a:lnTo>
                    <a:pt x="1746" y="2090"/>
                  </a:lnTo>
                  <a:lnTo>
                    <a:pt x="1816" y="2096"/>
                  </a:lnTo>
                  <a:lnTo>
                    <a:pt x="1888" y="2102"/>
                  </a:lnTo>
                  <a:lnTo>
                    <a:pt x="1962" y="2104"/>
                  </a:lnTo>
                  <a:lnTo>
                    <a:pt x="2038" y="2106"/>
                  </a:lnTo>
                  <a:close/>
                </a:path>
              </a:pathLst>
            </a:custGeom>
            <a:solidFill>
              <a:srgbClr val="FFFFFF">
                <a:lumMod val="50000"/>
              </a:srgbClr>
            </a:solidFill>
            <a:ln w="635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9pPr>
            </a:lstStyle>
            <a:p>
              <a:pPr indent="-180944" algn="ctr" latinLnBrk="0">
                <a:spcAft>
                  <a:spcPts val="240"/>
                </a:spcAft>
                <a:buClr>
                  <a:prstClr val="white">
                    <a:lumMod val="65000"/>
                  </a:prstClr>
                </a:buClr>
                <a:buSzPct val="80000"/>
                <a:defRPr/>
              </a:pPr>
              <a:endParaRPr lang="ko-KR" altLang="en-US" sz="1000" kern="0" dirty="0">
                <a:solidFill>
                  <a:prstClr val="white"/>
                </a:solidFill>
                <a:latin typeface="+mn-ea"/>
                <a:ea typeface="+mn-ea"/>
              </a:endParaRPr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77311103-9671-8501-F278-781C870A33DA}"/>
                </a:ext>
              </a:extLst>
            </p:cNvPr>
            <p:cNvSpPr>
              <a:spLocks/>
            </p:cNvSpPr>
            <p:nvPr/>
          </p:nvSpPr>
          <p:spPr bwMode="auto">
            <a:xfrm rot="15002690">
              <a:off x="3849888" y="8211649"/>
              <a:ext cx="731679" cy="771200"/>
            </a:xfrm>
            <a:custGeom>
              <a:avLst/>
              <a:gdLst>
                <a:gd name="T0" fmla="*/ 2038 w 2038"/>
                <a:gd name="T1" fmla="*/ 2106 h 2106"/>
                <a:gd name="T2" fmla="*/ 1982 w 2038"/>
                <a:gd name="T3" fmla="*/ 2100 h 2106"/>
                <a:gd name="T4" fmla="*/ 1878 w 2038"/>
                <a:gd name="T5" fmla="*/ 2084 h 2106"/>
                <a:gd name="T6" fmla="*/ 1786 w 2038"/>
                <a:gd name="T7" fmla="*/ 2062 h 2106"/>
                <a:gd name="T8" fmla="*/ 1680 w 2038"/>
                <a:gd name="T9" fmla="*/ 2032 h 2106"/>
                <a:gd name="T10" fmla="*/ 1566 w 2038"/>
                <a:gd name="T11" fmla="*/ 1988 h 2106"/>
                <a:gd name="T12" fmla="*/ 1444 w 2038"/>
                <a:gd name="T13" fmla="*/ 1930 h 2106"/>
                <a:gd name="T14" fmla="*/ 1322 w 2038"/>
                <a:gd name="T15" fmla="*/ 1858 h 2106"/>
                <a:gd name="T16" fmla="*/ 1200 w 2038"/>
                <a:gd name="T17" fmla="*/ 1764 h 2106"/>
                <a:gd name="T18" fmla="*/ 1142 w 2038"/>
                <a:gd name="T19" fmla="*/ 1712 h 2106"/>
                <a:gd name="T20" fmla="*/ 1084 w 2038"/>
                <a:gd name="T21" fmla="*/ 1652 h 2106"/>
                <a:gd name="T22" fmla="*/ 1030 w 2038"/>
                <a:gd name="T23" fmla="*/ 1588 h 2106"/>
                <a:gd name="T24" fmla="*/ 978 w 2038"/>
                <a:gd name="T25" fmla="*/ 1518 h 2106"/>
                <a:gd name="T26" fmla="*/ 930 w 2038"/>
                <a:gd name="T27" fmla="*/ 1442 h 2106"/>
                <a:gd name="T28" fmla="*/ 884 w 2038"/>
                <a:gd name="T29" fmla="*/ 1358 h 2106"/>
                <a:gd name="T30" fmla="*/ 844 w 2038"/>
                <a:gd name="T31" fmla="*/ 1270 h 2106"/>
                <a:gd name="T32" fmla="*/ 808 w 2038"/>
                <a:gd name="T33" fmla="*/ 1174 h 2106"/>
                <a:gd name="T34" fmla="*/ 778 w 2038"/>
                <a:gd name="T35" fmla="*/ 1070 h 2106"/>
                <a:gd name="T36" fmla="*/ 754 w 2038"/>
                <a:gd name="T37" fmla="*/ 960 h 2106"/>
                <a:gd name="T38" fmla="*/ 734 w 2038"/>
                <a:gd name="T39" fmla="*/ 842 h 2106"/>
                <a:gd name="T40" fmla="*/ 722 w 2038"/>
                <a:gd name="T41" fmla="*/ 716 h 2106"/>
                <a:gd name="T42" fmla="*/ 718 w 2038"/>
                <a:gd name="T43" fmla="*/ 582 h 2106"/>
                <a:gd name="T44" fmla="*/ 738 w 2038"/>
                <a:gd name="T45" fmla="*/ 290 h 2106"/>
                <a:gd name="T46" fmla="*/ 250 w 2038"/>
                <a:gd name="T47" fmla="*/ 290 h 2106"/>
                <a:gd name="T48" fmla="*/ 272 w 2038"/>
                <a:gd name="T49" fmla="*/ 582 h 2106"/>
                <a:gd name="T50" fmla="*/ 274 w 2038"/>
                <a:gd name="T51" fmla="*/ 630 h 2106"/>
                <a:gd name="T52" fmla="*/ 288 w 2038"/>
                <a:gd name="T53" fmla="*/ 746 h 2106"/>
                <a:gd name="T54" fmla="*/ 306 w 2038"/>
                <a:gd name="T55" fmla="*/ 844 h 2106"/>
                <a:gd name="T56" fmla="*/ 334 w 2038"/>
                <a:gd name="T57" fmla="*/ 958 h 2106"/>
                <a:gd name="T58" fmla="*/ 374 w 2038"/>
                <a:gd name="T59" fmla="*/ 1082 h 2106"/>
                <a:gd name="T60" fmla="*/ 428 w 2038"/>
                <a:gd name="T61" fmla="*/ 1214 h 2106"/>
                <a:gd name="T62" fmla="*/ 498 w 2038"/>
                <a:gd name="T63" fmla="*/ 1348 h 2106"/>
                <a:gd name="T64" fmla="*/ 586 w 2038"/>
                <a:gd name="T65" fmla="*/ 1482 h 2106"/>
                <a:gd name="T66" fmla="*/ 638 w 2038"/>
                <a:gd name="T67" fmla="*/ 1548 h 2106"/>
                <a:gd name="T68" fmla="*/ 694 w 2038"/>
                <a:gd name="T69" fmla="*/ 1612 h 2106"/>
                <a:gd name="T70" fmla="*/ 756 w 2038"/>
                <a:gd name="T71" fmla="*/ 1674 h 2106"/>
                <a:gd name="T72" fmla="*/ 826 w 2038"/>
                <a:gd name="T73" fmla="*/ 1734 h 2106"/>
                <a:gd name="T74" fmla="*/ 900 w 2038"/>
                <a:gd name="T75" fmla="*/ 1790 h 2106"/>
                <a:gd name="T76" fmla="*/ 980 w 2038"/>
                <a:gd name="T77" fmla="*/ 1844 h 2106"/>
                <a:gd name="T78" fmla="*/ 1068 w 2038"/>
                <a:gd name="T79" fmla="*/ 1894 h 2106"/>
                <a:gd name="T80" fmla="*/ 1162 w 2038"/>
                <a:gd name="T81" fmla="*/ 1940 h 2106"/>
                <a:gd name="T82" fmla="*/ 1264 w 2038"/>
                <a:gd name="T83" fmla="*/ 1982 h 2106"/>
                <a:gd name="T84" fmla="*/ 1372 w 2038"/>
                <a:gd name="T85" fmla="*/ 2018 h 2106"/>
                <a:gd name="T86" fmla="*/ 1490 w 2038"/>
                <a:gd name="T87" fmla="*/ 2048 h 2106"/>
                <a:gd name="T88" fmla="*/ 1614 w 2038"/>
                <a:gd name="T89" fmla="*/ 2072 h 2106"/>
                <a:gd name="T90" fmla="*/ 1746 w 2038"/>
                <a:gd name="T91" fmla="*/ 2090 h 2106"/>
                <a:gd name="T92" fmla="*/ 1888 w 2038"/>
                <a:gd name="T93" fmla="*/ 2102 h 2106"/>
                <a:gd name="T94" fmla="*/ 2038 w 2038"/>
                <a:gd name="T95" fmla="*/ 2106 h 210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38"/>
                <a:gd name="T145" fmla="*/ 0 h 2106"/>
                <a:gd name="T146" fmla="*/ 2038 w 2038"/>
                <a:gd name="T147" fmla="*/ 2106 h 210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38" h="2106">
                  <a:moveTo>
                    <a:pt x="2038" y="2106"/>
                  </a:moveTo>
                  <a:lnTo>
                    <a:pt x="2038" y="2106"/>
                  </a:lnTo>
                  <a:lnTo>
                    <a:pt x="2024" y="2104"/>
                  </a:lnTo>
                  <a:lnTo>
                    <a:pt x="1982" y="2100"/>
                  </a:lnTo>
                  <a:lnTo>
                    <a:pt x="1918" y="2092"/>
                  </a:lnTo>
                  <a:lnTo>
                    <a:pt x="1878" y="2084"/>
                  </a:lnTo>
                  <a:lnTo>
                    <a:pt x="1834" y="2074"/>
                  </a:lnTo>
                  <a:lnTo>
                    <a:pt x="1786" y="2062"/>
                  </a:lnTo>
                  <a:lnTo>
                    <a:pt x="1734" y="2048"/>
                  </a:lnTo>
                  <a:lnTo>
                    <a:pt x="1680" y="2032"/>
                  </a:lnTo>
                  <a:lnTo>
                    <a:pt x="1624" y="2012"/>
                  </a:lnTo>
                  <a:lnTo>
                    <a:pt x="1566" y="1988"/>
                  </a:lnTo>
                  <a:lnTo>
                    <a:pt x="1506" y="1962"/>
                  </a:lnTo>
                  <a:lnTo>
                    <a:pt x="1444" y="1930"/>
                  </a:lnTo>
                  <a:lnTo>
                    <a:pt x="1382" y="1896"/>
                  </a:lnTo>
                  <a:lnTo>
                    <a:pt x="1322" y="1858"/>
                  </a:lnTo>
                  <a:lnTo>
                    <a:pt x="1260" y="1814"/>
                  </a:lnTo>
                  <a:lnTo>
                    <a:pt x="1200" y="1764"/>
                  </a:lnTo>
                  <a:lnTo>
                    <a:pt x="1170" y="1738"/>
                  </a:lnTo>
                  <a:lnTo>
                    <a:pt x="1142" y="1712"/>
                  </a:lnTo>
                  <a:lnTo>
                    <a:pt x="1112" y="1682"/>
                  </a:lnTo>
                  <a:lnTo>
                    <a:pt x="1084" y="1652"/>
                  </a:lnTo>
                  <a:lnTo>
                    <a:pt x="1056" y="1622"/>
                  </a:lnTo>
                  <a:lnTo>
                    <a:pt x="1030" y="1588"/>
                  </a:lnTo>
                  <a:lnTo>
                    <a:pt x="1004" y="1554"/>
                  </a:lnTo>
                  <a:lnTo>
                    <a:pt x="978" y="1518"/>
                  </a:lnTo>
                  <a:lnTo>
                    <a:pt x="954" y="1480"/>
                  </a:lnTo>
                  <a:lnTo>
                    <a:pt x="930" y="1442"/>
                  </a:lnTo>
                  <a:lnTo>
                    <a:pt x="906" y="1400"/>
                  </a:lnTo>
                  <a:lnTo>
                    <a:pt x="884" y="1358"/>
                  </a:lnTo>
                  <a:lnTo>
                    <a:pt x="864" y="1316"/>
                  </a:lnTo>
                  <a:lnTo>
                    <a:pt x="844" y="1270"/>
                  </a:lnTo>
                  <a:lnTo>
                    <a:pt x="826" y="1222"/>
                  </a:lnTo>
                  <a:lnTo>
                    <a:pt x="808" y="1174"/>
                  </a:lnTo>
                  <a:lnTo>
                    <a:pt x="792" y="1122"/>
                  </a:lnTo>
                  <a:lnTo>
                    <a:pt x="778" y="1070"/>
                  </a:lnTo>
                  <a:lnTo>
                    <a:pt x="766" y="1016"/>
                  </a:lnTo>
                  <a:lnTo>
                    <a:pt x="754" y="960"/>
                  </a:lnTo>
                  <a:lnTo>
                    <a:pt x="744" y="902"/>
                  </a:lnTo>
                  <a:lnTo>
                    <a:pt x="734" y="842"/>
                  </a:lnTo>
                  <a:lnTo>
                    <a:pt x="728" y="780"/>
                  </a:lnTo>
                  <a:lnTo>
                    <a:pt x="722" y="716"/>
                  </a:lnTo>
                  <a:lnTo>
                    <a:pt x="720" y="650"/>
                  </a:lnTo>
                  <a:lnTo>
                    <a:pt x="718" y="582"/>
                  </a:lnTo>
                  <a:lnTo>
                    <a:pt x="988" y="582"/>
                  </a:lnTo>
                  <a:lnTo>
                    <a:pt x="738" y="290"/>
                  </a:lnTo>
                  <a:lnTo>
                    <a:pt x="494" y="0"/>
                  </a:lnTo>
                  <a:lnTo>
                    <a:pt x="250" y="290"/>
                  </a:lnTo>
                  <a:lnTo>
                    <a:pt x="0" y="582"/>
                  </a:lnTo>
                  <a:lnTo>
                    <a:pt x="272" y="582"/>
                  </a:lnTo>
                  <a:lnTo>
                    <a:pt x="274" y="630"/>
                  </a:lnTo>
                  <a:lnTo>
                    <a:pt x="282" y="702"/>
                  </a:lnTo>
                  <a:lnTo>
                    <a:pt x="288" y="746"/>
                  </a:lnTo>
                  <a:lnTo>
                    <a:pt x="296" y="794"/>
                  </a:lnTo>
                  <a:lnTo>
                    <a:pt x="306" y="844"/>
                  </a:lnTo>
                  <a:lnTo>
                    <a:pt x="318" y="900"/>
                  </a:lnTo>
                  <a:lnTo>
                    <a:pt x="334" y="958"/>
                  </a:lnTo>
                  <a:lnTo>
                    <a:pt x="352" y="1020"/>
                  </a:lnTo>
                  <a:lnTo>
                    <a:pt x="374" y="1082"/>
                  </a:lnTo>
                  <a:lnTo>
                    <a:pt x="398" y="1148"/>
                  </a:lnTo>
                  <a:lnTo>
                    <a:pt x="428" y="1214"/>
                  </a:lnTo>
                  <a:lnTo>
                    <a:pt x="460" y="1280"/>
                  </a:lnTo>
                  <a:lnTo>
                    <a:pt x="498" y="1348"/>
                  </a:lnTo>
                  <a:lnTo>
                    <a:pt x="540" y="1414"/>
                  </a:lnTo>
                  <a:lnTo>
                    <a:pt x="586" y="1482"/>
                  </a:lnTo>
                  <a:lnTo>
                    <a:pt x="612" y="1514"/>
                  </a:lnTo>
                  <a:lnTo>
                    <a:pt x="638" y="1548"/>
                  </a:lnTo>
                  <a:lnTo>
                    <a:pt x="666" y="1580"/>
                  </a:lnTo>
                  <a:lnTo>
                    <a:pt x="694" y="1612"/>
                  </a:lnTo>
                  <a:lnTo>
                    <a:pt x="724" y="1642"/>
                  </a:lnTo>
                  <a:lnTo>
                    <a:pt x="756" y="1674"/>
                  </a:lnTo>
                  <a:lnTo>
                    <a:pt x="790" y="1704"/>
                  </a:lnTo>
                  <a:lnTo>
                    <a:pt x="826" y="1734"/>
                  </a:lnTo>
                  <a:lnTo>
                    <a:pt x="862" y="1762"/>
                  </a:lnTo>
                  <a:lnTo>
                    <a:pt x="900" y="1790"/>
                  </a:lnTo>
                  <a:lnTo>
                    <a:pt x="940" y="1818"/>
                  </a:lnTo>
                  <a:lnTo>
                    <a:pt x="980" y="1844"/>
                  </a:lnTo>
                  <a:lnTo>
                    <a:pt x="1024" y="1870"/>
                  </a:lnTo>
                  <a:lnTo>
                    <a:pt x="1068" y="1894"/>
                  </a:lnTo>
                  <a:lnTo>
                    <a:pt x="1114" y="1918"/>
                  </a:lnTo>
                  <a:lnTo>
                    <a:pt x="1162" y="1940"/>
                  </a:lnTo>
                  <a:lnTo>
                    <a:pt x="1212" y="1962"/>
                  </a:lnTo>
                  <a:lnTo>
                    <a:pt x="1264" y="1982"/>
                  </a:lnTo>
                  <a:lnTo>
                    <a:pt x="1318" y="2000"/>
                  </a:lnTo>
                  <a:lnTo>
                    <a:pt x="1372" y="2018"/>
                  </a:lnTo>
                  <a:lnTo>
                    <a:pt x="1430" y="2034"/>
                  </a:lnTo>
                  <a:lnTo>
                    <a:pt x="1490" y="2048"/>
                  </a:lnTo>
                  <a:lnTo>
                    <a:pt x="1550" y="2060"/>
                  </a:lnTo>
                  <a:lnTo>
                    <a:pt x="1614" y="2072"/>
                  </a:lnTo>
                  <a:lnTo>
                    <a:pt x="1680" y="2082"/>
                  </a:lnTo>
                  <a:lnTo>
                    <a:pt x="1746" y="2090"/>
                  </a:lnTo>
                  <a:lnTo>
                    <a:pt x="1816" y="2096"/>
                  </a:lnTo>
                  <a:lnTo>
                    <a:pt x="1888" y="2102"/>
                  </a:lnTo>
                  <a:lnTo>
                    <a:pt x="1962" y="2104"/>
                  </a:lnTo>
                  <a:lnTo>
                    <a:pt x="2038" y="2106"/>
                  </a:lnTo>
                  <a:close/>
                </a:path>
              </a:pathLst>
            </a:custGeom>
            <a:solidFill>
              <a:srgbClr val="FFFFFF">
                <a:lumMod val="50000"/>
              </a:srgbClr>
            </a:solidFill>
            <a:ln w="635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9pPr>
            </a:lstStyle>
            <a:p>
              <a:pPr indent="-180944" algn="ctr" latinLnBrk="0">
                <a:spcAft>
                  <a:spcPts val="240"/>
                </a:spcAft>
                <a:buClr>
                  <a:prstClr val="white">
                    <a:lumMod val="65000"/>
                  </a:prstClr>
                </a:buClr>
                <a:buSzPct val="80000"/>
                <a:defRPr/>
              </a:pPr>
              <a:endParaRPr lang="ko-KR" altLang="en-US" sz="1000" kern="0" dirty="0">
                <a:solidFill>
                  <a:prstClr val="white"/>
                </a:solidFill>
                <a:latin typeface="+mn-ea"/>
                <a:ea typeface="+mn-ea"/>
              </a:endParaRPr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B65549B4-F29D-CF49-3EFE-6D98D0AF14BB}"/>
                </a:ext>
              </a:extLst>
            </p:cNvPr>
            <p:cNvSpPr>
              <a:spLocks/>
            </p:cNvSpPr>
            <p:nvPr/>
          </p:nvSpPr>
          <p:spPr bwMode="auto">
            <a:xfrm rot="696736">
              <a:off x="3254079" y="8060484"/>
              <a:ext cx="745337" cy="752671"/>
            </a:xfrm>
            <a:custGeom>
              <a:avLst/>
              <a:gdLst>
                <a:gd name="T0" fmla="*/ 2038 w 2038"/>
                <a:gd name="T1" fmla="*/ 2106 h 2106"/>
                <a:gd name="T2" fmla="*/ 1982 w 2038"/>
                <a:gd name="T3" fmla="*/ 2100 h 2106"/>
                <a:gd name="T4" fmla="*/ 1878 w 2038"/>
                <a:gd name="T5" fmla="*/ 2084 h 2106"/>
                <a:gd name="T6" fmla="*/ 1786 w 2038"/>
                <a:gd name="T7" fmla="*/ 2062 h 2106"/>
                <a:gd name="T8" fmla="*/ 1680 w 2038"/>
                <a:gd name="T9" fmla="*/ 2032 h 2106"/>
                <a:gd name="T10" fmla="*/ 1566 w 2038"/>
                <a:gd name="T11" fmla="*/ 1988 h 2106"/>
                <a:gd name="T12" fmla="*/ 1444 w 2038"/>
                <a:gd name="T13" fmla="*/ 1930 h 2106"/>
                <a:gd name="T14" fmla="*/ 1322 w 2038"/>
                <a:gd name="T15" fmla="*/ 1858 h 2106"/>
                <a:gd name="T16" fmla="*/ 1200 w 2038"/>
                <a:gd name="T17" fmla="*/ 1764 h 2106"/>
                <a:gd name="T18" fmla="*/ 1142 w 2038"/>
                <a:gd name="T19" fmla="*/ 1712 h 2106"/>
                <a:gd name="T20" fmla="*/ 1084 w 2038"/>
                <a:gd name="T21" fmla="*/ 1652 h 2106"/>
                <a:gd name="T22" fmla="*/ 1030 w 2038"/>
                <a:gd name="T23" fmla="*/ 1588 h 2106"/>
                <a:gd name="T24" fmla="*/ 978 w 2038"/>
                <a:gd name="T25" fmla="*/ 1518 h 2106"/>
                <a:gd name="T26" fmla="*/ 930 w 2038"/>
                <a:gd name="T27" fmla="*/ 1442 h 2106"/>
                <a:gd name="T28" fmla="*/ 884 w 2038"/>
                <a:gd name="T29" fmla="*/ 1358 h 2106"/>
                <a:gd name="T30" fmla="*/ 844 w 2038"/>
                <a:gd name="T31" fmla="*/ 1270 h 2106"/>
                <a:gd name="T32" fmla="*/ 808 w 2038"/>
                <a:gd name="T33" fmla="*/ 1174 h 2106"/>
                <a:gd name="T34" fmla="*/ 778 w 2038"/>
                <a:gd name="T35" fmla="*/ 1070 h 2106"/>
                <a:gd name="T36" fmla="*/ 754 w 2038"/>
                <a:gd name="T37" fmla="*/ 960 h 2106"/>
                <a:gd name="T38" fmla="*/ 734 w 2038"/>
                <a:gd name="T39" fmla="*/ 842 h 2106"/>
                <a:gd name="T40" fmla="*/ 722 w 2038"/>
                <a:gd name="T41" fmla="*/ 716 h 2106"/>
                <a:gd name="T42" fmla="*/ 718 w 2038"/>
                <a:gd name="T43" fmla="*/ 582 h 2106"/>
                <a:gd name="T44" fmla="*/ 738 w 2038"/>
                <a:gd name="T45" fmla="*/ 290 h 2106"/>
                <a:gd name="T46" fmla="*/ 250 w 2038"/>
                <a:gd name="T47" fmla="*/ 290 h 2106"/>
                <a:gd name="T48" fmla="*/ 272 w 2038"/>
                <a:gd name="T49" fmla="*/ 582 h 2106"/>
                <a:gd name="T50" fmla="*/ 274 w 2038"/>
                <a:gd name="T51" fmla="*/ 630 h 2106"/>
                <a:gd name="T52" fmla="*/ 288 w 2038"/>
                <a:gd name="T53" fmla="*/ 746 h 2106"/>
                <a:gd name="T54" fmla="*/ 306 w 2038"/>
                <a:gd name="T55" fmla="*/ 844 h 2106"/>
                <a:gd name="T56" fmla="*/ 334 w 2038"/>
                <a:gd name="T57" fmla="*/ 958 h 2106"/>
                <a:gd name="T58" fmla="*/ 374 w 2038"/>
                <a:gd name="T59" fmla="*/ 1082 h 2106"/>
                <a:gd name="T60" fmla="*/ 428 w 2038"/>
                <a:gd name="T61" fmla="*/ 1214 h 2106"/>
                <a:gd name="T62" fmla="*/ 498 w 2038"/>
                <a:gd name="T63" fmla="*/ 1348 h 2106"/>
                <a:gd name="T64" fmla="*/ 586 w 2038"/>
                <a:gd name="T65" fmla="*/ 1482 h 2106"/>
                <a:gd name="T66" fmla="*/ 638 w 2038"/>
                <a:gd name="T67" fmla="*/ 1548 h 2106"/>
                <a:gd name="T68" fmla="*/ 694 w 2038"/>
                <a:gd name="T69" fmla="*/ 1612 h 2106"/>
                <a:gd name="T70" fmla="*/ 756 w 2038"/>
                <a:gd name="T71" fmla="*/ 1674 h 2106"/>
                <a:gd name="T72" fmla="*/ 826 w 2038"/>
                <a:gd name="T73" fmla="*/ 1734 h 2106"/>
                <a:gd name="T74" fmla="*/ 900 w 2038"/>
                <a:gd name="T75" fmla="*/ 1790 h 2106"/>
                <a:gd name="T76" fmla="*/ 980 w 2038"/>
                <a:gd name="T77" fmla="*/ 1844 h 2106"/>
                <a:gd name="T78" fmla="*/ 1068 w 2038"/>
                <a:gd name="T79" fmla="*/ 1894 h 2106"/>
                <a:gd name="T80" fmla="*/ 1162 w 2038"/>
                <a:gd name="T81" fmla="*/ 1940 h 2106"/>
                <a:gd name="T82" fmla="*/ 1264 w 2038"/>
                <a:gd name="T83" fmla="*/ 1982 h 2106"/>
                <a:gd name="T84" fmla="*/ 1372 w 2038"/>
                <a:gd name="T85" fmla="*/ 2018 h 2106"/>
                <a:gd name="T86" fmla="*/ 1490 w 2038"/>
                <a:gd name="T87" fmla="*/ 2048 h 2106"/>
                <a:gd name="T88" fmla="*/ 1614 w 2038"/>
                <a:gd name="T89" fmla="*/ 2072 h 2106"/>
                <a:gd name="T90" fmla="*/ 1746 w 2038"/>
                <a:gd name="T91" fmla="*/ 2090 h 2106"/>
                <a:gd name="T92" fmla="*/ 1888 w 2038"/>
                <a:gd name="T93" fmla="*/ 2102 h 2106"/>
                <a:gd name="T94" fmla="*/ 2038 w 2038"/>
                <a:gd name="T95" fmla="*/ 2106 h 210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38"/>
                <a:gd name="T145" fmla="*/ 0 h 2106"/>
                <a:gd name="T146" fmla="*/ 2038 w 2038"/>
                <a:gd name="T147" fmla="*/ 2106 h 210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38" h="2106">
                  <a:moveTo>
                    <a:pt x="2038" y="2106"/>
                  </a:moveTo>
                  <a:lnTo>
                    <a:pt x="2038" y="2106"/>
                  </a:lnTo>
                  <a:lnTo>
                    <a:pt x="2024" y="2104"/>
                  </a:lnTo>
                  <a:lnTo>
                    <a:pt x="1982" y="2100"/>
                  </a:lnTo>
                  <a:lnTo>
                    <a:pt x="1918" y="2092"/>
                  </a:lnTo>
                  <a:lnTo>
                    <a:pt x="1878" y="2084"/>
                  </a:lnTo>
                  <a:lnTo>
                    <a:pt x="1834" y="2074"/>
                  </a:lnTo>
                  <a:lnTo>
                    <a:pt x="1786" y="2062"/>
                  </a:lnTo>
                  <a:lnTo>
                    <a:pt x="1734" y="2048"/>
                  </a:lnTo>
                  <a:lnTo>
                    <a:pt x="1680" y="2032"/>
                  </a:lnTo>
                  <a:lnTo>
                    <a:pt x="1624" y="2012"/>
                  </a:lnTo>
                  <a:lnTo>
                    <a:pt x="1566" y="1988"/>
                  </a:lnTo>
                  <a:lnTo>
                    <a:pt x="1506" y="1962"/>
                  </a:lnTo>
                  <a:lnTo>
                    <a:pt x="1444" y="1930"/>
                  </a:lnTo>
                  <a:lnTo>
                    <a:pt x="1382" y="1896"/>
                  </a:lnTo>
                  <a:lnTo>
                    <a:pt x="1322" y="1858"/>
                  </a:lnTo>
                  <a:lnTo>
                    <a:pt x="1260" y="1814"/>
                  </a:lnTo>
                  <a:lnTo>
                    <a:pt x="1200" y="1764"/>
                  </a:lnTo>
                  <a:lnTo>
                    <a:pt x="1170" y="1738"/>
                  </a:lnTo>
                  <a:lnTo>
                    <a:pt x="1142" y="1712"/>
                  </a:lnTo>
                  <a:lnTo>
                    <a:pt x="1112" y="1682"/>
                  </a:lnTo>
                  <a:lnTo>
                    <a:pt x="1084" y="1652"/>
                  </a:lnTo>
                  <a:lnTo>
                    <a:pt x="1056" y="1622"/>
                  </a:lnTo>
                  <a:lnTo>
                    <a:pt x="1030" y="1588"/>
                  </a:lnTo>
                  <a:lnTo>
                    <a:pt x="1004" y="1554"/>
                  </a:lnTo>
                  <a:lnTo>
                    <a:pt x="978" y="1518"/>
                  </a:lnTo>
                  <a:lnTo>
                    <a:pt x="954" y="1480"/>
                  </a:lnTo>
                  <a:lnTo>
                    <a:pt x="930" y="1442"/>
                  </a:lnTo>
                  <a:lnTo>
                    <a:pt x="906" y="1400"/>
                  </a:lnTo>
                  <a:lnTo>
                    <a:pt x="884" y="1358"/>
                  </a:lnTo>
                  <a:lnTo>
                    <a:pt x="864" y="1316"/>
                  </a:lnTo>
                  <a:lnTo>
                    <a:pt x="844" y="1270"/>
                  </a:lnTo>
                  <a:lnTo>
                    <a:pt x="826" y="1222"/>
                  </a:lnTo>
                  <a:lnTo>
                    <a:pt x="808" y="1174"/>
                  </a:lnTo>
                  <a:lnTo>
                    <a:pt x="792" y="1122"/>
                  </a:lnTo>
                  <a:lnTo>
                    <a:pt x="778" y="1070"/>
                  </a:lnTo>
                  <a:lnTo>
                    <a:pt x="766" y="1016"/>
                  </a:lnTo>
                  <a:lnTo>
                    <a:pt x="754" y="960"/>
                  </a:lnTo>
                  <a:lnTo>
                    <a:pt x="744" y="902"/>
                  </a:lnTo>
                  <a:lnTo>
                    <a:pt x="734" y="842"/>
                  </a:lnTo>
                  <a:lnTo>
                    <a:pt x="728" y="780"/>
                  </a:lnTo>
                  <a:lnTo>
                    <a:pt x="722" y="716"/>
                  </a:lnTo>
                  <a:lnTo>
                    <a:pt x="720" y="650"/>
                  </a:lnTo>
                  <a:lnTo>
                    <a:pt x="718" y="582"/>
                  </a:lnTo>
                  <a:lnTo>
                    <a:pt x="988" y="582"/>
                  </a:lnTo>
                  <a:lnTo>
                    <a:pt x="738" y="290"/>
                  </a:lnTo>
                  <a:lnTo>
                    <a:pt x="494" y="0"/>
                  </a:lnTo>
                  <a:lnTo>
                    <a:pt x="250" y="290"/>
                  </a:lnTo>
                  <a:lnTo>
                    <a:pt x="0" y="582"/>
                  </a:lnTo>
                  <a:lnTo>
                    <a:pt x="272" y="582"/>
                  </a:lnTo>
                  <a:lnTo>
                    <a:pt x="274" y="630"/>
                  </a:lnTo>
                  <a:lnTo>
                    <a:pt x="282" y="702"/>
                  </a:lnTo>
                  <a:lnTo>
                    <a:pt x="288" y="746"/>
                  </a:lnTo>
                  <a:lnTo>
                    <a:pt x="296" y="794"/>
                  </a:lnTo>
                  <a:lnTo>
                    <a:pt x="306" y="844"/>
                  </a:lnTo>
                  <a:lnTo>
                    <a:pt x="318" y="900"/>
                  </a:lnTo>
                  <a:lnTo>
                    <a:pt x="334" y="958"/>
                  </a:lnTo>
                  <a:lnTo>
                    <a:pt x="352" y="1020"/>
                  </a:lnTo>
                  <a:lnTo>
                    <a:pt x="374" y="1082"/>
                  </a:lnTo>
                  <a:lnTo>
                    <a:pt x="398" y="1148"/>
                  </a:lnTo>
                  <a:lnTo>
                    <a:pt x="428" y="1214"/>
                  </a:lnTo>
                  <a:lnTo>
                    <a:pt x="460" y="1280"/>
                  </a:lnTo>
                  <a:lnTo>
                    <a:pt x="498" y="1348"/>
                  </a:lnTo>
                  <a:lnTo>
                    <a:pt x="540" y="1414"/>
                  </a:lnTo>
                  <a:lnTo>
                    <a:pt x="586" y="1482"/>
                  </a:lnTo>
                  <a:lnTo>
                    <a:pt x="612" y="1514"/>
                  </a:lnTo>
                  <a:lnTo>
                    <a:pt x="638" y="1548"/>
                  </a:lnTo>
                  <a:lnTo>
                    <a:pt x="666" y="1580"/>
                  </a:lnTo>
                  <a:lnTo>
                    <a:pt x="694" y="1612"/>
                  </a:lnTo>
                  <a:lnTo>
                    <a:pt x="724" y="1642"/>
                  </a:lnTo>
                  <a:lnTo>
                    <a:pt x="756" y="1674"/>
                  </a:lnTo>
                  <a:lnTo>
                    <a:pt x="790" y="1704"/>
                  </a:lnTo>
                  <a:lnTo>
                    <a:pt x="826" y="1734"/>
                  </a:lnTo>
                  <a:lnTo>
                    <a:pt x="862" y="1762"/>
                  </a:lnTo>
                  <a:lnTo>
                    <a:pt x="900" y="1790"/>
                  </a:lnTo>
                  <a:lnTo>
                    <a:pt x="940" y="1818"/>
                  </a:lnTo>
                  <a:lnTo>
                    <a:pt x="980" y="1844"/>
                  </a:lnTo>
                  <a:lnTo>
                    <a:pt x="1024" y="1870"/>
                  </a:lnTo>
                  <a:lnTo>
                    <a:pt x="1068" y="1894"/>
                  </a:lnTo>
                  <a:lnTo>
                    <a:pt x="1114" y="1918"/>
                  </a:lnTo>
                  <a:lnTo>
                    <a:pt x="1162" y="1940"/>
                  </a:lnTo>
                  <a:lnTo>
                    <a:pt x="1212" y="1962"/>
                  </a:lnTo>
                  <a:lnTo>
                    <a:pt x="1264" y="1982"/>
                  </a:lnTo>
                  <a:lnTo>
                    <a:pt x="1318" y="2000"/>
                  </a:lnTo>
                  <a:lnTo>
                    <a:pt x="1372" y="2018"/>
                  </a:lnTo>
                  <a:lnTo>
                    <a:pt x="1430" y="2034"/>
                  </a:lnTo>
                  <a:lnTo>
                    <a:pt x="1490" y="2048"/>
                  </a:lnTo>
                  <a:lnTo>
                    <a:pt x="1550" y="2060"/>
                  </a:lnTo>
                  <a:lnTo>
                    <a:pt x="1614" y="2072"/>
                  </a:lnTo>
                  <a:lnTo>
                    <a:pt x="1680" y="2082"/>
                  </a:lnTo>
                  <a:lnTo>
                    <a:pt x="1746" y="2090"/>
                  </a:lnTo>
                  <a:lnTo>
                    <a:pt x="1816" y="2096"/>
                  </a:lnTo>
                  <a:lnTo>
                    <a:pt x="1888" y="2102"/>
                  </a:lnTo>
                  <a:lnTo>
                    <a:pt x="1962" y="2104"/>
                  </a:lnTo>
                  <a:lnTo>
                    <a:pt x="2038" y="2106"/>
                  </a:lnTo>
                  <a:close/>
                </a:path>
              </a:pathLst>
            </a:custGeom>
            <a:solidFill>
              <a:srgbClr val="FFFFFF">
                <a:lumMod val="50000"/>
              </a:srgbClr>
            </a:solidFill>
            <a:ln w="635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9pPr>
            </a:lstStyle>
            <a:p>
              <a:pPr indent="-180944" algn="ctr" latinLnBrk="0">
                <a:spcAft>
                  <a:spcPts val="240"/>
                </a:spcAft>
                <a:buClr>
                  <a:prstClr val="white">
                    <a:lumMod val="65000"/>
                  </a:prstClr>
                </a:buClr>
                <a:buSzPct val="80000"/>
                <a:defRPr/>
              </a:pPr>
              <a:endParaRPr lang="ko-KR" altLang="en-US" sz="1000" kern="0" dirty="0">
                <a:solidFill>
                  <a:prstClr val="white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8" name="모서리가 둥근 직사각형 3">
            <a:extLst>
              <a:ext uri="{FF2B5EF4-FFF2-40B4-BE49-F238E27FC236}">
                <a16:creationId xmlns:a16="http://schemas.microsoft.com/office/drawing/2014/main" id="{5C61CDD6-8CA5-C367-59C3-2BA5ECF675E3}"/>
              </a:ext>
            </a:extLst>
          </p:cNvPr>
          <p:cNvSpPr/>
          <p:nvPr/>
        </p:nvSpPr>
        <p:spPr>
          <a:xfrm>
            <a:off x="4040733" y="2826846"/>
            <a:ext cx="1824212" cy="71657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단위 테스트 수행</a:t>
            </a:r>
          </a:p>
        </p:txBody>
      </p:sp>
    </p:spTree>
    <p:extLst>
      <p:ext uri="{BB962C8B-B14F-4D97-AF65-F5344CB8AC3E}">
        <p14:creationId xmlns:p14="http://schemas.microsoft.com/office/powerpoint/2010/main" val="1814127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456F70A7-39B9-E7B2-273A-0BB3FB7F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단위 테스트 수행 계획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851162E-79DF-448A-2AC1-C373711685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단위 테스트 일정 계획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5D9A6984-98A9-5FF2-E845-2AE33B4AC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982942"/>
              </p:ext>
            </p:extLst>
          </p:nvPr>
        </p:nvGraphicFramePr>
        <p:xfrm>
          <a:off x="415925" y="1196752"/>
          <a:ext cx="9074149" cy="4149528"/>
        </p:xfrm>
        <a:graphic>
          <a:graphicData uri="http://schemas.openxmlformats.org/drawingml/2006/table">
            <a:tbl>
              <a:tblPr/>
              <a:tblGrid>
                <a:gridCol w="747285">
                  <a:extLst>
                    <a:ext uri="{9D8B030D-6E8A-4147-A177-3AD203B41FA5}">
                      <a16:colId xmlns:a16="http://schemas.microsoft.com/office/drawing/2014/main" val="978293000"/>
                    </a:ext>
                  </a:extLst>
                </a:gridCol>
                <a:gridCol w="1203031">
                  <a:extLst>
                    <a:ext uri="{9D8B030D-6E8A-4147-A177-3AD203B41FA5}">
                      <a16:colId xmlns:a16="http://schemas.microsoft.com/office/drawing/2014/main" val="1026409015"/>
                    </a:ext>
                  </a:extLst>
                </a:gridCol>
                <a:gridCol w="1553181">
                  <a:extLst>
                    <a:ext uri="{9D8B030D-6E8A-4147-A177-3AD203B41FA5}">
                      <a16:colId xmlns:a16="http://schemas.microsoft.com/office/drawing/2014/main" val="3120698479"/>
                    </a:ext>
                  </a:extLst>
                </a:gridCol>
                <a:gridCol w="1873058">
                  <a:extLst>
                    <a:ext uri="{9D8B030D-6E8A-4147-A177-3AD203B41FA5}">
                      <a16:colId xmlns:a16="http://schemas.microsoft.com/office/drawing/2014/main" val="59097293"/>
                    </a:ext>
                  </a:extLst>
                </a:gridCol>
                <a:gridCol w="3697594">
                  <a:extLst>
                    <a:ext uri="{9D8B030D-6E8A-4147-A177-3AD203B41FA5}">
                      <a16:colId xmlns:a16="http://schemas.microsoft.com/office/drawing/2014/main" val="2089871860"/>
                    </a:ext>
                  </a:extLst>
                </a:gridCol>
              </a:tblGrid>
              <a:tr h="360000">
                <a:tc gridSpan="3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35998" marR="35998" marT="36004" marB="36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일정</a:t>
                      </a: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내용</a:t>
                      </a: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460806"/>
                  </a:ext>
                </a:extLst>
              </a:tr>
              <a:tr h="473691">
                <a:tc rowSpan="2" gridSpan="2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단위 테스트 환경 구성</a:t>
                      </a:r>
                      <a:endParaRPr kumimoji="1" lang="en-US" altLang="ko-KR" sz="12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개발 서버 </a:t>
                      </a:r>
                      <a:r>
                        <a:rPr kumimoji="1" lang="en-US" altLang="ko-KR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임시</a:t>
                      </a:r>
                      <a:r>
                        <a:rPr kumimoji="1" lang="en-US" altLang="ko-KR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‘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26.03.30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~ 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26.04.10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프로그램 설치 및 환경 세팅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845683"/>
                  </a:ext>
                </a:extLst>
              </a:tr>
              <a:tr h="47369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 서버</a:t>
                      </a: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’26.04.13 ~ 26.04.24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 서버 구성 후 환경 세팅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027681"/>
                  </a:ext>
                </a:extLst>
              </a:tr>
              <a:tr h="473691">
                <a:tc rowSpan="2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차</a:t>
                      </a:r>
                      <a:endParaRPr kumimoji="1" lang="en-US" altLang="ko-KR" sz="12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개발자</a:t>
                      </a:r>
                      <a:r>
                        <a:rPr kumimoji="1" lang="en-US" altLang="ko-KR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/PL</a:t>
                      </a: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단위 테스트 수행</a:t>
                      </a:r>
                      <a:endParaRPr kumimoji="1" lang="en-US" altLang="ko-KR" sz="12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‘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26.04.27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~ ‘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26.05.08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해당 개발 기간에 개발한 프로그램 점검</a:t>
                      </a: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461945"/>
                  </a:ext>
                </a:extLst>
              </a:tr>
              <a:tr h="473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6004" marB="36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 시정조치</a:t>
                      </a: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‘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26.05.11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~ ‘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26.05.15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차 테스트 결함 시정조치 수행</a:t>
                      </a: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32703"/>
                  </a:ext>
                </a:extLst>
              </a:tr>
              <a:tr h="473691">
                <a:tc rowSpan="2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</a:t>
                      </a: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차</a:t>
                      </a:r>
                      <a:endParaRPr kumimoji="1" lang="en-US" altLang="ko-KR" sz="12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QAO</a:t>
                      </a: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단위 테스트 수행</a:t>
                      </a:r>
                      <a:endParaRPr kumimoji="1" lang="en-US" altLang="ko-KR" sz="12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‘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26.05.18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~ ‘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26.05.29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차 결함 시정조치 결과 확인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해당 개발 기간에 개발한 화면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보고서 점검</a:t>
                      </a: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450282"/>
                  </a:ext>
                </a:extLst>
              </a:tr>
              <a:tr h="473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6004" marB="36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 시정조치</a:t>
                      </a: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‘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26.06.01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~ ‘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25.06.12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차 테스트 결함 시정조치 수행</a:t>
                      </a: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588614"/>
                  </a:ext>
                </a:extLst>
              </a:tr>
              <a:tr h="473691">
                <a:tc rowSpan="2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3</a:t>
                      </a: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차</a:t>
                      </a:r>
                      <a:endParaRPr kumimoji="1" lang="en-US" altLang="ko-KR" sz="12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TF </a:t>
                      </a: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담당</a:t>
                      </a:r>
                      <a:endParaRPr kumimoji="1" lang="en-US" altLang="ko-KR" sz="12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단위 테스트 수행</a:t>
                      </a:r>
                      <a:endParaRPr kumimoji="1" lang="en-US" altLang="ko-KR" sz="12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‘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26.06.15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~ ‘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25.06.26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차 결함 시정조치 결과 확인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해당 개발 기간에 개발한 화면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보고서 점검</a:t>
                      </a: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027622"/>
                  </a:ext>
                </a:extLst>
              </a:tr>
              <a:tr h="473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6004" marB="36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 시정조치</a:t>
                      </a: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’26.06.29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~ 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‘26.07.10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3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차 테스트 결함 시정조치</a:t>
                      </a: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304071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2531D563-62F8-F810-0F12-EB9F6557982A}"/>
              </a:ext>
            </a:extLst>
          </p:cNvPr>
          <p:cNvSpPr/>
          <p:nvPr/>
        </p:nvSpPr>
        <p:spPr>
          <a:xfrm>
            <a:off x="415926" y="5410351"/>
            <a:ext cx="9074148" cy="430887"/>
          </a:xfrm>
          <a:prstGeom prst="rect">
            <a:avLst/>
          </a:prstGeom>
        </p:spPr>
        <p:txBody>
          <a:bodyPr wrap="squar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fontAlgn="ctr"/>
            <a:r>
              <a:rPr lang="en-US" altLang="ko-KR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※ TF</a:t>
            </a: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담당의 단위 테스트 대상은 </a:t>
            </a:r>
            <a:r>
              <a:rPr lang="en-US" altLang="ko-KR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QA</a:t>
            </a: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품질담당 테스트를 통과한 케이스를 시나리오 형태로 제공</a:t>
            </a:r>
            <a:r>
              <a:rPr lang="en-US" altLang="ko-KR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,  </a:t>
            </a: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앞 차수에서 수행하지 못한</a:t>
            </a:r>
            <a:r>
              <a:rPr lang="en-US" altLang="ko-KR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 </a:t>
            </a: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테스트 케이스는 다음 차수에 </a:t>
            </a:r>
            <a:endParaRPr lang="en-US" altLang="ko-KR" sz="1100" spc="-100" dirty="0">
              <a:ln>
                <a:solidFill>
                  <a:srgbClr val="0C376A">
                    <a:alpha val="0"/>
                  </a:srgbClr>
                </a:solidFill>
              </a:ln>
              <a:ea typeface="맑은 고딕" pitchFamily="50" charset="-127"/>
            </a:endParaRPr>
          </a:p>
          <a:p>
            <a:pPr fontAlgn="ctr"/>
            <a:r>
              <a:rPr lang="en-US" altLang="ko-KR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   </a:t>
            </a: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포함하여 수행</a:t>
            </a:r>
            <a:endParaRPr lang="en-US" altLang="ko-KR" sz="1100" spc="-100" dirty="0">
              <a:ln>
                <a:solidFill>
                  <a:srgbClr val="0C376A">
                    <a:alpha val="0"/>
                  </a:srgbClr>
                </a:solidFill>
              </a:ln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3866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456F70A7-39B9-E7B2-273A-0BB3FB7F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단위 테스트 수행계획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851162E-79DF-448A-2AC1-C373711685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 smtClean="0"/>
              <a:t>단위 </a:t>
            </a:r>
            <a:r>
              <a:rPr lang="ko-KR" altLang="en-US" dirty="0"/>
              <a:t>테스트 조직 및 역할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3E112C6-7C16-24B5-8396-0D449EC12CF9}"/>
              </a:ext>
            </a:extLst>
          </p:cNvPr>
          <p:cNvGraphicFramePr>
            <a:graphicFrameLocks noGrp="1"/>
          </p:cNvGraphicFramePr>
          <p:nvPr/>
        </p:nvGraphicFramePr>
        <p:xfrm>
          <a:off x="415923" y="5103973"/>
          <a:ext cx="9074148" cy="1342314"/>
        </p:xfrm>
        <a:graphic>
          <a:graphicData uri="http://schemas.openxmlformats.org/drawingml/2006/table">
            <a:tbl>
              <a:tblPr/>
              <a:tblGrid>
                <a:gridCol w="1045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136">
                  <a:extLst>
                    <a:ext uri="{9D8B030D-6E8A-4147-A177-3AD203B41FA5}">
                      <a16:colId xmlns:a16="http://schemas.microsoft.com/office/drawing/2014/main" val="3973475915"/>
                    </a:ext>
                  </a:extLst>
                </a:gridCol>
                <a:gridCol w="6983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주체</a:t>
                      </a:r>
                    </a:p>
                  </a:txBody>
                  <a:tcPr marL="53989" marR="53989" marT="53991" marB="539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담당</a:t>
                      </a:r>
                    </a:p>
                  </a:txBody>
                  <a:tcPr marL="53989" marR="53989" marT="53991" marB="5399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단위 테스트 역할</a:t>
                      </a:r>
                    </a:p>
                  </a:txBody>
                  <a:tcPr marL="53989" marR="53989" marT="53991" marB="5399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수행사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53989" marR="53989" marT="53991" marB="539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PL/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개발자</a:t>
                      </a:r>
                    </a:p>
                  </a:txBody>
                  <a:tcPr marL="53989" marR="53989" marT="53991" marB="5399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 수행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(1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차 검증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 케이스 작성 및 보완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비정상 케이스 등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53989" marR="53989" marT="53991" marB="5399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7840"/>
                  </a:ext>
                </a:extLst>
              </a:tr>
              <a:tr h="2851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itchFamily="18" charset="0"/>
                      </a:endParaRPr>
                    </a:p>
                  </a:txBody>
                  <a:tcPr marL="53989" marR="53989" marT="53991" marB="5399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QA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담당자</a:t>
                      </a:r>
                    </a:p>
                  </a:txBody>
                  <a:tcPr marL="53989" marR="53989" marT="53991" marB="5399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QA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품질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 수행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(2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차 검증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 케이스 보완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품질 확인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53989" marR="53989" marT="53991" marB="5399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고객사</a:t>
                      </a:r>
                    </a:p>
                  </a:txBody>
                  <a:tcPr marL="53989" marR="53989" marT="53991" marB="539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사업 추진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TF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53989" marR="53989" marT="53991" marB="5399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각 업무별 고객 테스트 수행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업무 </a:t>
                      </a:r>
                      <a:r>
                        <a:rPr kumimoji="1" lang="ko-KR" altLang="en-US" sz="1200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로직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업무 흐름 점검 등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</a:p>
                  </a:txBody>
                  <a:tcPr marL="53989" marR="53989" marT="53991" marB="5399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304366"/>
                  </a:ext>
                </a:extLst>
              </a:tr>
            </a:tbl>
          </a:graphicData>
        </a:graphic>
      </p:graphicFrame>
      <p:cxnSp>
        <p:nvCxnSpPr>
          <p:cNvPr id="4" name="직선 연결선 96">
            <a:extLst>
              <a:ext uri="{FF2B5EF4-FFF2-40B4-BE49-F238E27FC236}">
                <a16:creationId xmlns:a16="http://schemas.microsoft.com/office/drawing/2014/main" id="{88B0E3BB-AAFA-9C8B-DE25-676FC931BC5D}"/>
              </a:ext>
            </a:extLst>
          </p:cNvPr>
          <p:cNvCxnSpPr>
            <a:cxnSpLocks noChangeShapeType="1"/>
            <a:stCxn id="11" idx="3"/>
            <a:endCxn id="6" idx="1"/>
          </p:cNvCxnSpPr>
          <p:nvPr/>
        </p:nvCxnSpPr>
        <p:spPr bwMode="auto">
          <a:xfrm>
            <a:off x="4139740" y="1426619"/>
            <a:ext cx="1600967" cy="1913"/>
          </a:xfrm>
          <a:prstGeom prst="line">
            <a:avLst/>
          </a:prstGeom>
          <a:noFill/>
          <a:ln w="9525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" name="그룹 122">
            <a:extLst>
              <a:ext uri="{FF2B5EF4-FFF2-40B4-BE49-F238E27FC236}">
                <a16:creationId xmlns:a16="http://schemas.microsoft.com/office/drawing/2014/main" id="{2DDC7560-E250-9D38-DE1D-12D982DC2410}"/>
              </a:ext>
            </a:extLst>
          </p:cNvPr>
          <p:cNvGrpSpPr>
            <a:grpSpLocks/>
          </p:cNvGrpSpPr>
          <p:nvPr/>
        </p:nvGrpSpPr>
        <p:grpSpPr bwMode="auto">
          <a:xfrm>
            <a:off x="5740707" y="1231347"/>
            <a:ext cx="2781505" cy="786572"/>
            <a:chOff x="4808984" y="1556792"/>
            <a:chExt cx="1224136" cy="57606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8F4A730-F091-9114-856A-627D1AABC66F}"/>
                </a:ext>
              </a:extLst>
            </p:cNvPr>
            <p:cNvSpPr/>
            <p:nvPr/>
          </p:nvSpPr>
          <p:spPr>
            <a:xfrm>
              <a:off x="4808984" y="1556792"/>
              <a:ext cx="1224136" cy="288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ko-KR" altLang="en-US" spc="-100" dirty="0" err="1">
                  <a:ln>
                    <a:solidFill>
                      <a:srgbClr val="0C376A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굴림" panose="020B0600000101010101" pitchFamily="50" charset="-127"/>
                </a:rPr>
                <a:t>수행사</a:t>
              </a:r>
              <a:endParaRPr lang="ko-KR" altLang="en-US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B54D92C-10BC-3F29-EFF2-EFE0BA362763}"/>
                </a:ext>
              </a:extLst>
            </p:cNvPr>
            <p:cNvSpPr/>
            <p:nvPr/>
          </p:nvSpPr>
          <p:spPr>
            <a:xfrm>
              <a:off x="4808984" y="1845617"/>
              <a:ext cx="1224136" cy="287239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ko-KR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굴림" panose="020B0600000101010101" pitchFamily="50" charset="-127"/>
                </a:rPr>
                <a:t>PM</a:t>
              </a:r>
              <a:endParaRPr lang="ko-KR" altLang="en-US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endParaRPr>
            </a:p>
          </p:txBody>
        </p:sp>
      </p:grpSp>
      <p:grpSp>
        <p:nvGrpSpPr>
          <p:cNvPr id="8" name="그룹 125">
            <a:extLst>
              <a:ext uri="{FF2B5EF4-FFF2-40B4-BE49-F238E27FC236}">
                <a16:creationId xmlns:a16="http://schemas.microsoft.com/office/drawing/2014/main" id="{6E9416EF-6404-0E6C-B7EC-97AE48081234}"/>
              </a:ext>
            </a:extLst>
          </p:cNvPr>
          <p:cNvGrpSpPr>
            <a:grpSpLocks/>
          </p:cNvGrpSpPr>
          <p:nvPr/>
        </p:nvGrpSpPr>
        <p:grpSpPr bwMode="auto">
          <a:xfrm>
            <a:off x="964540" y="1229519"/>
            <a:ext cx="3175200" cy="788400"/>
            <a:chOff x="2288544" y="1984378"/>
            <a:chExt cx="1224000" cy="576064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52F08FF-E705-BE0C-20B4-D64944BE9F2D}"/>
                </a:ext>
              </a:extLst>
            </p:cNvPr>
            <p:cNvSpPr/>
            <p:nvPr/>
          </p:nvSpPr>
          <p:spPr>
            <a:xfrm>
              <a:off x="2288544" y="1984378"/>
              <a:ext cx="1224000" cy="2880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ko-KR" altLang="en-US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굴림" panose="020B0600000101010101" pitchFamily="50" charset="-127"/>
                </a:rPr>
                <a:t>고객사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EB12DEC-E8BB-8947-CEC3-1B2190AE006A}"/>
                </a:ext>
              </a:extLst>
            </p:cNvPr>
            <p:cNvSpPr/>
            <p:nvPr/>
          </p:nvSpPr>
          <p:spPr>
            <a:xfrm>
              <a:off x="2288544" y="2272410"/>
              <a:ext cx="1224000" cy="28803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ko-KR" altLang="en-US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굴림" panose="020B0600000101010101" pitchFamily="50" charset="-127"/>
                </a:rPr>
                <a:t>사업 총괄</a:t>
              </a:r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F3BEA5C-167D-74EC-BCA4-EAFFD4886A6E}"/>
              </a:ext>
            </a:extLst>
          </p:cNvPr>
          <p:cNvSpPr/>
          <p:nvPr/>
        </p:nvSpPr>
        <p:spPr>
          <a:xfrm>
            <a:off x="2735478" y="2998233"/>
            <a:ext cx="1337587" cy="355078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부서 </a:t>
            </a:r>
            <a:r>
              <a:rPr lang="en-US" altLang="ko-KR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A</a:t>
            </a:r>
            <a:endParaRPr lang="ko-KR" altLang="en-US" sz="1200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굴림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8DE6043-2E9F-1F3F-268E-3D3D9AF43F74}"/>
              </a:ext>
            </a:extLst>
          </p:cNvPr>
          <p:cNvSpPr/>
          <p:nvPr/>
        </p:nvSpPr>
        <p:spPr>
          <a:xfrm>
            <a:off x="2735478" y="3452027"/>
            <a:ext cx="1337587" cy="355078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부서 </a:t>
            </a:r>
            <a:r>
              <a:rPr lang="en-US" altLang="ko-KR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C</a:t>
            </a:r>
            <a:endParaRPr lang="ko-KR" altLang="en-US" sz="1200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굴림" panose="020B0600000101010101" pitchFamily="50" charset="-127"/>
            </a:endParaRPr>
          </a:p>
        </p:txBody>
      </p:sp>
      <p:grpSp>
        <p:nvGrpSpPr>
          <p:cNvPr id="15" name="그룹 136">
            <a:extLst>
              <a:ext uri="{FF2B5EF4-FFF2-40B4-BE49-F238E27FC236}">
                <a16:creationId xmlns:a16="http://schemas.microsoft.com/office/drawing/2014/main" id="{7A8BF93D-BCF8-CFBC-4E86-1D2F6B4F491B}"/>
              </a:ext>
            </a:extLst>
          </p:cNvPr>
          <p:cNvGrpSpPr>
            <a:grpSpLocks/>
          </p:cNvGrpSpPr>
          <p:nvPr/>
        </p:nvGrpSpPr>
        <p:grpSpPr bwMode="auto">
          <a:xfrm>
            <a:off x="4452222" y="1196752"/>
            <a:ext cx="1000512" cy="717550"/>
            <a:chOff x="4133847" y="2698746"/>
            <a:chExt cx="912826" cy="918353"/>
          </a:xfrm>
        </p:grpSpPr>
        <p:grpSp>
          <p:nvGrpSpPr>
            <p:cNvPr id="16" name="그룹 140">
              <a:extLst>
                <a:ext uri="{FF2B5EF4-FFF2-40B4-BE49-F238E27FC236}">
                  <a16:creationId xmlns:a16="http://schemas.microsoft.com/office/drawing/2014/main" id="{AD9BA437-F4D5-A522-D620-3379BADE74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3847" y="2698746"/>
              <a:ext cx="912826" cy="918353"/>
              <a:chOff x="3254079" y="7607683"/>
              <a:chExt cx="1347249" cy="1355406"/>
            </a:xfrm>
          </p:grpSpPr>
          <p:sp>
            <p:nvSpPr>
              <p:cNvPr id="18" name="Freeform 10">
                <a:extLst>
                  <a:ext uri="{FF2B5EF4-FFF2-40B4-BE49-F238E27FC236}">
                    <a16:creationId xmlns:a16="http://schemas.microsoft.com/office/drawing/2014/main" id="{E2795CBF-3EA5-3E92-1BEC-323B173FC985}"/>
                  </a:ext>
                </a:extLst>
              </p:cNvPr>
              <p:cNvSpPr>
                <a:spLocks/>
              </p:cNvSpPr>
              <p:nvPr/>
            </p:nvSpPr>
            <p:spPr bwMode="auto">
              <a:xfrm rot="7803830">
                <a:off x="3678249" y="7587923"/>
                <a:ext cx="731679" cy="771200"/>
              </a:xfrm>
              <a:custGeom>
                <a:avLst/>
                <a:gdLst>
                  <a:gd name="T0" fmla="*/ 2038 w 2038"/>
                  <a:gd name="T1" fmla="*/ 2106 h 2106"/>
                  <a:gd name="T2" fmla="*/ 1982 w 2038"/>
                  <a:gd name="T3" fmla="*/ 2100 h 2106"/>
                  <a:gd name="T4" fmla="*/ 1878 w 2038"/>
                  <a:gd name="T5" fmla="*/ 2084 h 2106"/>
                  <a:gd name="T6" fmla="*/ 1786 w 2038"/>
                  <a:gd name="T7" fmla="*/ 2062 h 2106"/>
                  <a:gd name="T8" fmla="*/ 1680 w 2038"/>
                  <a:gd name="T9" fmla="*/ 2032 h 2106"/>
                  <a:gd name="T10" fmla="*/ 1566 w 2038"/>
                  <a:gd name="T11" fmla="*/ 1988 h 2106"/>
                  <a:gd name="T12" fmla="*/ 1444 w 2038"/>
                  <a:gd name="T13" fmla="*/ 1930 h 2106"/>
                  <a:gd name="T14" fmla="*/ 1322 w 2038"/>
                  <a:gd name="T15" fmla="*/ 1858 h 2106"/>
                  <a:gd name="T16" fmla="*/ 1200 w 2038"/>
                  <a:gd name="T17" fmla="*/ 1764 h 2106"/>
                  <a:gd name="T18" fmla="*/ 1142 w 2038"/>
                  <a:gd name="T19" fmla="*/ 1712 h 2106"/>
                  <a:gd name="T20" fmla="*/ 1084 w 2038"/>
                  <a:gd name="T21" fmla="*/ 1652 h 2106"/>
                  <a:gd name="T22" fmla="*/ 1030 w 2038"/>
                  <a:gd name="T23" fmla="*/ 1588 h 2106"/>
                  <a:gd name="T24" fmla="*/ 978 w 2038"/>
                  <a:gd name="T25" fmla="*/ 1518 h 2106"/>
                  <a:gd name="T26" fmla="*/ 930 w 2038"/>
                  <a:gd name="T27" fmla="*/ 1442 h 2106"/>
                  <a:gd name="T28" fmla="*/ 884 w 2038"/>
                  <a:gd name="T29" fmla="*/ 1358 h 2106"/>
                  <a:gd name="T30" fmla="*/ 844 w 2038"/>
                  <a:gd name="T31" fmla="*/ 1270 h 2106"/>
                  <a:gd name="T32" fmla="*/ 808 w 2038"/>
                  <a:gd name="T33" fmla="*/ 1174 h 2106"/>
                  <a:gd name="T34" fmla="*/ 778 w 2038"/>
                  <a:gd name="T35" fmla="*/ 1070 h 2106"/>
                  <a:gd name="T36" fmla="*/ 754 w 2038"/>
                  <a:gd name="T37" fmla="*/ 960 h 2106"/>
                  <a:gd name="T38" fmla="*/ 734 w 2038"/>
                  <a:gd name="T39" fmla="*/ 842 h 2106"/>
                  <a:gd name="T40" fmla="*/ 722 w 2038"/>
                  <a:gd name="T41" fmla="*/ 716 h 2106"/>
                  <a:gd name="T42" fmla="*/ 718 w 2038"/>
                  <a:gd name="T43" fmla="*/ 582 h 2106"/>
                  <a:gd name="T44" fmla="*/ 738 w 2038"/>
                  <a:gd name="T45" fmla="*/ 290 h 2106"/>
                  <a:gd name="T46" fmla="*/ 250 w 2038"/>
                  <a:gd name="T47" fmla="*/ 290 h 2106"/>
                  <a:gd name="T48" fmla="*/ 272 w 2038"/>
                  <a:gd name="T49" fmla="*/ 582 h 2106"/>
                  <a:gd name="T50" fmla="*/ 274 w 2038"/>
                  <a:gd name="T51" fmla="*/ 630 h 2106"/>
                  <a:gd name="T52" fmla="*/ 288 w 2038"/>
                  <a:gd name="T53" fmla="*/ 746 h 2106"/>
                  <a:gd name="T54" fmla="*/ 306 w 2038"/>
                  <a:gd name="T55" fmla="*/ 844 h 2106"/>
                  <a:gd name="T56" fmla="*/ 334 w 2038"/>
                  <a:gd name="T57" fmla="*/ 958 h 2106"/>
                  <a:gd name="T58" fmla="*/ 374 w 2038"/>
                  <a:gd name="T59" fmla="*/ 1082 h 2106"/>
                  <a:gd name="T60" fmla="*/ 428 w 2038"/>
                  <a:gd name="T61" fmla="*/ 1214 h 2106"/>
                  <a:gd name="T62" fmla="*/ 498 w 2038"/>
                  <a:gd name="T63" fmla="*/ 1348 h 2106"/>
                  <a:gd name="T64" fmla="*/ 586 w 2038"/>
                  <a:gd name="T65" fmla="*/ 1482 h 2106"/>
                  <a:gd name="T66" fmla="*/ 638 w 2038"/>
                  <a:gd name="T67" fmla="*/ 1548 h 2106"/>
                  <a:gd name="T68" fmla="*/ 694 w 2038"/>
                  <a:gd name="T69" fmla="*/ 1612 h 2106"/>
                  <a:gd name="T70" fmla="*/ 756 w 2038"/>
                  <a:gd name="T71" fmla="*/ 1674 h 2106"/>
                  <a:gd name="T72" fmla="*/ 826 w 2038"/>
                  <a:gd name="T73" fmla="*/ 1734 h 2106"/>
                  <a:gd name="T74" fmla="*/ 900 w 2038"/>
                  <a:gd name="T75" fmla="*/ 1790 h 2106"/>
                  <a:gd name="T76" fmla="*/ 980 w 2038"/>
                  <a:gd name="T77" fmla="*/ 1844 h 2106"/>
                  <a:gd name="T78" fmla="*/ 1068 w 2038"/>
                  <a:gd name="T79" fmla="*/ 1894 h 2106"/>
                  <a:gd name="T80" fmla="*/ 1162 w 2038"/>
                  <a:gd name="T81" fmla="*/ 1940 h 2106"/>
                  <a:gd name="T82" fmla="*/ 1264 w 2038"/>
                  <a:gd name="T83" fmla="*/ 1982 h 2106"/>
                  <a:gd name="T84" fmla="*/ 1372 w 2038"/>
                  <a:gd name="T85" fmla="*/ 2018 h 2106"/>
                  <a:gd name="T86" fmla="*/ 1490 w 2038"/>
                  <a:gd name="T87" fmla="*/ 2048 h 2106"/>
                  <a:gd name="T88" fmla="*/ 1614 w 2038"/>
                  <a:gd name="T89" fmla="*/ 2072 h 2106"/>
                  <a:gd name="T90" fmla="*/ 1746 w 2038"/>
                  <a:gd name="T91" fmla="*/ 2090 h 2106"/>
                  <a:gd name="T92" fmla="*/ 1888 w 2038"/>
                  <a:gd name="T93" fmla="*/ 2102 h 2106"/>
                  <a:gd name="T94" fmla="*/ 2038 w 2038"/>
                  <a:gd name="T95" fmla="*/ 2106 h 210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38"/>
                  <a:gd name="T145" fmla="*/ 0 h 2106"/>
                  <a:gd name="T146" fmla="*/ 2038 w 2038"/>
                  <a:gd name="T147" fmla="*/ 2106 h 210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38" h="2106">
                    <a:moveTo>
                      <a:pt x="2038" y="2106"/>
                    </a:moveTo>
                    <a:lnTo>
                      <a:pt x="2038" y="2106"/>
                    </a:lnTo>
                    <a:lnTo>
                      <a:pt x="2024" y="2104"/>
                    </a:lnTo>
                    <a:lnTo>
                      <a:pt x="1982" y="2100"/>
                    </a:lnTo>
                    <a:lnTo>
                      <a:pt x="1918" y="2092"/>
                    </a:lnTo>
                    <a:lnTo>
                      <a:pt x="1878" y="2084"/>
                    </a:lnTo>
                    <a:lnTo>
                      <a:pt x="1834" y="2074"/>
                    </a:lnTo>
                    <a:lnTo>
                      <a:pt x="1786" y="2062"/>
                    </a:lnTo>
                    <a:lnTo>
                      <a:pt x="1734" y="2048"/>
                    </a:lnTo>
                    <a:lnTo>
                      <a:pt x="1680" y="2032"/>
                    </a:lnTo>
                    <a:lnTo>
                      <a:pt x="1624" y="2012"/>
                    </a:lnTo>
                    <a:lnTo>
                      <a:pt x="1566" y="1988"/>
                    </a:lnTo>
                    <a:lnTo>
                      <a:pt x="1506" y="1962"/>
                    </a:lnTo>
                    <a:lnTo>
                      <a:pt x="1444" y="1930"/>
                    </a:lnTo>
                    <a:lnTo>
                      <a:pt x="1382" y="1896"/>
                    </a:lnTo>
                    <a:lnTo>
                      <a:pt x="1322" y="1858"/>
                    </a:lnTo>
                    <a:lnTo>
                      <a:pt x="1260" y="1814"/>
                    </a:lnTo>
                    <a:lnTo>
                      <a:pt x="1200" y="1764"/>
                    </a:lnTo>
                    <a:lnTo>
                      <a:pt x="1170" y="1738"/>
                    </a:lnTo>
                    <a:lnTo>
                      <a:pt x="1142" y="1712"/>
                    </a:lnTo>
                    <a:lnTo>
                      <a:pt x="1112" y="1682"/>
                    </a:lnTo>
                    <a:lnTo>
                      <a:pt x="1084" y="1652"/>
                    </a:lnTo>
                    <a:lnTo>
                      <a:pt x="1056" y="1622"/>
                    </a:lnTo>
                    <a:lnTo>
                      <a:pt x="1030" y="1588"/>
                    </a:lnTo>
                    <a:lnTo>
                      <a:pt x="1004" y="1554"/>
                    </a:lnTo>
                    <a:lnTo>
                      <a:pt x="978" y="1518"/>
                    </a:lnTo>
                    <a:lnTo>
                      <a:pt x="954" y="1480"/>
                    </a:lnTo>
                    <a:lnTo>
                      <a:pt x="930" y="1442"/>
                    </a:lnTo>
                    <a:lnTo>
                      <a:pt x="906" y="1400"/>
                    </a:lnTo>
                    <a:lnTo>
                      <a:pt x="884" y="1358"/>
                    </a:lnTo>
                    <a:lnTo>
                      <a:pt x="864" y="1316"/>
                    </a:lnTo>
                    <a:lnTo>
                      <a:pt x="844" y="1270"/>
                    </a:lnTo>
                    <a:lnTo>
                      <a:pt x="826" y="1222"/>
                    </a:lnTo>
                    <a:lnTo>
                      <a:pt x="808" y="1174"/>
                    </a:lnTo>
                    <a:lnTo>
                      <a:pt x="792" y="1122"/>
                    </a:lnTo>
                    <a:lnTo>
                      <a:pt x="778" y="1070"/>
                    </a:lnTo>
                    <a:lnTo>
                      <a:pt x="766" y="1016"/>
                    </a:lnTo>
                    <a:lnTo>
                      <a:pt x="754" y="960"/>
                    </a:lnTo>
                    <a:lnTo>
                      <a:pt x="744" y="902"/>
                    </a:lnTo>
                    <a:lnTo>
                      <a:pt x="734" y="842"/>
                    </a:lnTo>
                    <a:lnTo>
                      <a:pt x="728" y="780"/>
                    </a:lnTo>
                    <a:lnTo>
                      <a:pt x="722" y="716"/>
                    </a:lnTo>
                    <a:lnTo>
                      <a:pt x="720" y="650"/>
                    </a:lnTo>
                    <a:lnTo>
                      <a:pt x="718" y="582"/>
                    </a:lnTo>
                    <a:lnTo>
                      <a:pt x="988" y="582"/>
                    </a:lnTo>
                    <a:lnTo>
                      <a:pt x="738" y="290"/>
                    </a:lnTo>
                    <a:lnTo>
                      <a:pt x="494" y="0"/>
                    </a:lnTo>
                    <a:lnTo>
                      <a:pt x="250" y="290"/>
                    </a:lnTo>
                    <a:lnTo>
                      <a:pt x="0" y="582"/>
                    </a:lnTo>
                    <a:lnTo>
                      <a:pt x="272" y="582"/>
                    </a:lnTo>
                    <a:lnTo>
                      <a:pt x="274" y="630"/>
                    </a:lnTo>
                    <a:lnTo>
                      <a:pt x="282" y="702"/>
                    </a:lnTo>
                    <a:lnTo>
                      <a:pt x="288" y="746"/>
                    </a:lnTo>
                    <a:lnTo>
                      <a:pt x="296" y="794"/>
                    </a:lnTo>
                    <a:lnTo>
                      <a:pt x="306" y="844"/>
                    </a:lnTo>
                    <a:lnTo>
                      <a:pt x="318" y="900"/>
                    </a:lnTo>
                    <a:lnTo>
                      <a:pt x="334" y="958"/>
                    </a:lnTo>
                    <a:lnTo>
                      <a:pt x="352" y="1020"/>
                    </a:lnTo>
                    <a:lnTo>
                      <a:pt x="374" y="1082"/>
                    </a:lnTo>
                    <a:lnTo>
                      <a:pt x="398" y="1148"/>
                    </a:lnTo>
                    <a:lnTo>
                      <a:pt x="428" y="1214"/>
                    </a:lnTo>
                    <a:lnTo>
                      <a:pt x="460" y="1280"/>
                    </a:lnTo>
                    <a:lnTo>
                      <a:pt x="498" y="1348"/>
                    </a:lnTo>
                    <a:lnTo>
                      <a:pt x="540" y="1414"/>
                    </a:lnTo>
                    <a:lnTo>
                      <a:pt x="586" y="1482"/>
                    </a:lnTo>
                    <a:lnTo>
                      <a:pt x="612" y="1514"/>
                    </a:lnTo>
                    <a:lnTo>
                      <a:pt x="638" y="1548"/>
                    </a:lnTo>
                    <a:lnTo>
                      <a:pt x="666" y="1580"/>
                    </a:lnTo>
                    <a:lnTo>
                      <a:pt x="694" y="1612"/>
                    </a:lnTo>
                    <a:lnTo>
                      <a:pt x="724" y="1642"/>
                    </a:lnTo>
                    <a:lnTo>
                      <a:pt x="756" y="1674"/>
                    </a:lnTo>
                    <a:lnTo>
                      <a:pt x="790" y="1704"/>
                    </a:lnTo>
                    <a:lnTo>
                      <a:pt x="826" y="1734"/>
                    </a:lnTo>
                    <a:lnTo>
                      <a:pt x="862" y="1762"/>
                    </a:lnTo>
                    <a:lnTo>
                      <a:pt x="900" y="1790"/>
                    </a:lnTo>
                    <a:lnTo>
                      <a:pt x="940" y="1818"/>
                    </a:lnTo>
                    <a:lnTo>
                      <a:pt x="980" y="1844"/>
                    </a:lnTo>
                    <a:lnTo>
                      <a:pt x="1024" y="1870"/>
                    </a:lnTo>
                    <a:lnTo>
                      <a:pt x="1068" y="1894"/>
                    </a:lnTo>
                    <a:lnTo>
                      <a:pt x="1114" y="1918"/>
                    </a:lnTo>
                    <a:lnTo>
                      <a:pt x="1162" y="1940"/>
                    </a:lnTo>
                    <a:lnTo>
                      <a:pt x="1212" y="1962"/>
                    </a:lnTo>
                    <a:lnTo>
                      <a:pt x="1264" y="1982"/>
                    </a:lnTo>
                    <a:lnTo>
                      <a:pt x="1318" y="2000"/>
                    </a:lnTo>
                    <a:lnTo>
                      <a:pt x="1372" y="2018"/>
                    </a:lnTo>
                    <a:lnTo>
                      <a:pt x="1430" y="2034"/>
                    </a:lnTo>
                    <a:lnTo>
                      <a:pt x="1490" y="2048"/>
                    </a:lnTo>
                    <a:lnTo>
                      <a:pt x="1550" y="2060"/>
                    </a:lnTo>
                    <a:lnTo>
                      <a:pt x="1614" y="2072"/>
                    </a:lnTo>
                    <a:lnTo>
                      <a:pt x="1680" y="2082"/>
                    </a:lnTo>
                    <a:lnTo>
                      <a:pt x="1746" y="2090"/>
                    </a:lnTo>
                    <a:lnTo>
                      <a:pt x="1816" y="2096"/>
                    </a:lnTo>
                    <a:lnTo>
                      <a:pt x="1888" y="2102"/>
                    </a:lnTo>
                    <a:lnTo>
                      <a:pt x="1962" y="2104"/>
                    </a:lnTo>
                    <a:lnTo>
                      <a:pt x="2038" y="2106"/>
                    </a:lnTo>
                    <a:close/>
                  </a:path>
                </a:pathLst>
              </a:custGeom>
              <a:solidFill>
                <a:srgbClr val="FFFFFF">
                  <a:lumMod val="50000"/>
                </a:srgbClr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9pPr>
              </a:lstStyle>
              <a:p>
                <a:pPr indent="-180944" algn="ctr" latinLnBrk="0">
                  <a:spcAft>
                    <a:spcPts val="240"/>
                  </a:spcAft>
                  <a:buClr>
                    <a:prstClr val="white">
                      <a:lumMod val="65000"/>
                    </a:prstClr>
                  </a:buClr>
                  <a:buSzPct val="80000"/>
                  <a:defRPr/>
                </a:pPr>
                <a:endParaRPr lang="ko-KR" altLang="en-US" sz="1000" kern="0" dirty="0">
                  <a:solidFill>
                    <a:prstClr val="white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9" name="Freeform 10">
                <a:extLst>
                  <a:ext uri="{FF2B5EF4-FFF2-40B4-BE49-F238E27FC236}">
                    <a16:creationId xmlns:a16="http://schemas.microsoft.com/office/drawing/2014/main" id="{64F9E8C5-02E7-D0B8-4254-2A146CBE9704}"/>
                  </a:ext>
                </a:extLst>
              </p:cNvPr>
              <p:cNvSpPr>
                <a:spLocks/>
              </p:cNvSpPr>
              <p:nvPr/>
            </p:nvSpPr>
            <p:spPr bwMode="auto">
              <a:xfrm rot="15002690">
                <a:off x="3849888" y="8211649"/>
                <a:ext cx="731679" cy="771200"/>
              </a:xfrm>
              <a:custGeom>
                <a:avLst/>
                <a:gdLst>
                  <a:gd name="T0" fmla="*/ 2038 w 2038"/>
                  <a:gd name="T1" fmla="*/ 2106 h 2106"/>
                  <a:gd name="T2" fmla="*/ 1982 w 2038"/>
                  <a:gd name="T3" fmla="*/ 2100 h 2106"/>
                  <a:gd name="T4" fmla="*/ 1878 w 2038"/>
                  <a:gd name="T5" fmla="*/ 2084 h 2106"/>
                  <a:gd name="T6" fmla="*/ 1786 w 2038"/>
                  <a:gd name="T7" fmla="*/ 2062 h 2106"/>
                  <a:gd name="T8" fmla="*/ 1680 w 2038"/>
                  <a:gd name="T9" fmla="*/ 2032 h 2106"/>
                  <a:gd name="T10" fmla="*/ 1566 w 2038"/>
                  <a:gd name="T11" fmla="*/ 1988 h 2106"/>
                  <a:gd name="T12" fmla="*/ 1444 w 2038"/>
                  <a:gd name="T13" fmla="*/ 1930 h 2106"/>
                  <a:gd name="T14" fmla="*/ 1322 w 2038"/>
                  <a:gd name="T15" fmla="*/ 1858 h 2106"/>
                  <a:gd name="T16" fmla="*/ 1200 w 2038"/>
                  <a:gd name="T17" fmla="*/ 1764 h 2106"/>
                  <a:gd name="T18" fmla="*/ 1142 w 2038"/>
                  <a:gd name="T19" fmla="*/ 1712 h 2106"/>
                  <a:gd name="T20" fmla="*/ 1084 w 2038"/>
                  <a:gd name="T21" fmla="*/ 1652 h 2106"/>
                  <a:gd name="T22" fmla="*/ 1030 w 2038"/>
                  <a:gd name="T23" fmla="*/ 1588 h 2106"/>
                  <a:gd name="T24" fmla="*/ 978 w 2038"/>
                  <a:gd name="T25" fmla="*/ 1518 h 2106"/>
                  <a:gd name="T26" fmla="*/ 930 w 2038"/>
                  <a:gd name="T27" fmla="*/ 1442 h 2106"/>
                  <a:gd name="T28" fmla="*/ 884 w 2038"/>
                  <a:gd name="T29" fmla="*/ 1358 h 2106"/>
                  <a:gd name="T30" fmla="*/ 844 w 2038"/>
                  <a:gd name="T31" fmla="*/ 1270 h 2106"/>
                  <a:gd name="T32" fmla="*/ 808 w 2038"/>
                  <a:gd name="T33" fmla="*/ 1174 h 2106"/>
                  <a:gd name="T34" fmla="*/ 778 w 2038"/>
                  <a:gd name="T35" fmla="*/ 1070 h 2106"/>
                  <a:gd name="T36" fmla="*/ 754 w 2038"/>
                  <a:gd name="T37" fmla="*/ 960 h 2106"/>
                  <a:gd name="T38" fmla="*/ 734 w 2038"/>
                  <a:gd name="T39" fmla="*/ 842 h 2106"/>
                  <a:gd name="T40" fmla="*/ 722 w 2038"/>
                  <a:gd name="T41" fmla="*/ 716 h 2106"/>
                  <a:gd name="T42" fmla="*/ 718 w 2038"/>
                  <a:gd name="T43" fmla="*/ 582 h 2106"/>
                  <a:gd name="T44" fmla="*/ 738 w 2038"/>
                  <a:gd name="T45" fmla="*/ 290 h 2106"/>
                  <a:gd name="T46" fmla="*/ 250 w 2038"/>
                  <a:gd name="T47" fmla="*/ 290 h 2106"/>
                  <a:gd name="T48" fmla="*/ 272 w 2038"/>
                  <a:gd name="T49" fmla="*/ 582 h 2106"/>
                  <a:gd name="T50" fmla="*/ 274 w 2038"/>
                  <a:gd name="T51" fmla="*/ 630 h 2106"/>
                  <a:gd name="T52" fmla="*/ 288 w 2038"/>
                  <a:gd name="T53" fmla="*/ 746 h 2106"/>
                  <a:gd name="T54" fmla="*/ 306 w 2038"/>
                  <a:gd name="T55" fmla="*/ 844 h 2106"/>
                  <a:gd name="T56" fmla="*/ 334 w 2038"/>
                  <a:gd name="T57" fmla="*/ 958 h 2106"/>
                  <a:gd name="T58" fmla="*/ 374 w 2038"/>
                  <a:gd name="T59" fmla="*/ 1082 h 2106"/>
                  <a:gd name="T60" fmla="*/ 428 w 2038"/>
                  <a:gd name="T61" fmla="*/ 1214 h 2106"/>
                  <a:gd name="T62" fmla="*/ 498 w 2038"/>
                  <a:gd name="T63" fmla="*/ 1348 h 2106"/>
                  <a:gd name="T64" fmla="*/ 586 w 2038"/>
                  <a:gd name="T65" fmla="*/ 1482 h 2106"/>
                  <a:gd name="T66" fmla="*/ 638 w 2038"/>
                  <a:gd name="T67" fmla="*/ 1548 h 2106"/>
                  <a:gd name="T68" fmla="*/ 694 w 2038"/>
                  <a:gd name="T69" fmla="*/ 1612 h 2106"/>
                  <a:gd name="T70" fmla="*/ 756 w 2038"/>
                  <a:gd name="T71" fmla="*/ 1674 h 2106"/>
                  <a:gd name="T72" fmla="*/ 826 w 2038"/>
                  <a:gd name="T73" fmla="*/ 1734 h 2106"/>
                  <a:gd name="T74" fmla="*/ 900 w 2038"/>
                  <a:gd name="T75" fmla="*/ 1790 h 2106"/>
                  <a:gd name="T76" fmla="*/ 980 w 2038"/>
                  <a:gd name="T77" fmla="*/ 1844 h 2106"/>
                  <a:gd name="T78" fmla="*/ 1068 w 2038"/>
                  <a:gd name="T79" fmla="*/ 1894 h 2106"/>
                  <a:gd name="T80" fmla="*/ 1162 w 2038"/>
                  <a:gd name="T81" fmla="*/ 1940 h 2106"/>
                  <a:gd name="T82" fmla="*/ 1264 w 2038"/>
                  <a:gd name="T83" fmla="*/ 1982 h 2106"/>
                  <a:gd name="T84" fmla="*/ 1372 w 2038"/>
                  <a:gd name="T85" fmla="*/ 2018 h 2106"/>
                  <a:gd name="T86" fmla="*/ 1490 w 2038"/>
                  <a:gd name="T87" fmla="*/ 2048 h 2106"/>
                  <a:gd name="T88" fmla="*/ 1614 w 2038"/>
                  <a:gd name="T89" fmla="*/ 2072 h 2106"/>
                  <a:gd name="T90" fmla="*/ 1746 w 2038"/>
                  <a:gd name="T91" fmla="*/ 2090 h 2106"/>
                  <a:gd name="T92" fmla="*/ 1888 w 2038"/>
                  <a:gd name="T93" fmla="*/ 2102 h 2106"/>
                  <a:gd name="T94" fmla="*/ 2038 w 2038"/>
                  <a:gd name="T95" fmla="*/ 2106 h 210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38"/>
                  <a:gd name="T145" fmla="*/ 0 h 2106"/>
                  <a:gd name="T146" fmla="*/ 2038 w 2038"/>
                  <a:gd name="T147" fmla="*/ 2106 h 210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38" h="2106">
                    <a:moveTo>
                      <a:pt x="2038" y="2106"/>
                    </a:moveTo>
                    <a:lnTo>
                      <a:pt x="2038" y="2106"/>
                    </a:lnTo>
                    <a:lnTo>
                      <a:pt x="2024" y="2104"/>
                    </a:lnTo>
                    <a:lnTo>
                      <a:pt x="1982" y="2100"/>
                    </a:lnTo>
                    <a:lnTo>
                      <a:pt x="1918" y="2092"/>
                    </a:lnTo>
                    <a:lnTo>
                      <a:pt x="1878" y="2084"/>
                    </a:lnTo>
                    <a:lnTo>
                      <a:pt x="1834" y="2074"/>
                    </a:lnTo>
                    <a:lnTo>
                      <a:pt x="1786" y="2062"/>
                    </a:lnTo>
                    <a:lnTo>
                      <a:pt x="1734" y="2048"/>
                    </a:lnTo>
                    <a:lnTo>
                      <a:pt x="1680" y="2032"/>
                    </a:lnTo>
                    <a:lnTo>
                      <a:pt x="1624" y="2012"/>
                    </a:lnTo>
                    <a:lnTo>
                      <a:pt x="1566" y="1988"/>
                    </a:lnTo>
                    <a:lnTo>
                      <a:pt x="1506" y="1962"/>
                    </a:lnTo>
                    <a:lnTo>
                      <a:pt x="1444" y="1930"/>
                    </a:lnTo>
                    <a:lnTo>
                      <a:pt x="1382" y="1896"/>
                    </a:lnTo>
                    <a:lnTo>
                      <a:pt x="1322" y="1858"/>
                    </a:lnTo>
                    <a:lnTo>
                      <a:pt x="1260" y="1814"/>
                    </a:lnTo>
                    <a:lnTo>
                      <a:pt x="1200" y="1764"/>
                    </a:lnTo>
                    <a:lnTo>
                      <a:pt x="1170" y="1738"/>
                    </a:lnTo>
                    <a:lnTo>
                      <a:pt x="1142" y="1712"/>
                    </a:lnTo>
                    <a:lnTo>
                      <a:pt x="1112" y="1682"/>
                    </a:lnTo>
                    <a:lnTo>
                      <a:pt x="1084" y="1652"/>
                    </a:lnTo>
                    <a:lnTo>
                      <a:pt x="1056" y="1622"/>
                    </a:lnTo>
                    <a:lnTo>
                      <a:pt x="1030" y="1588"/>
                    </a:lnTo>
                    <a:lnTo>
                      <a:pt x="1004" y="1554"/>
                    </a:lnTo>
                    <a:lnTo>
                      <a:pt x="978" y="1518"/>
                    </a:lnTo>
                    <a:lnTo>
                      <a:pt x="954" y="1480"/>
                    </a:lnTo>
                    <a:lnTo>
                      <a:pt x="930" y="1442"/>
                    </a:lnTo>
                    <a:lnTo>
                      <a:pt x="906" y="1400"/>
                    </a:lnTo>
                    <a:lnTo>
                      <a:pt x="884" y="1358"/>
                    </a:lnTo>
                    <a:lnTo>
                      <a:pt x="864" y="1316"/>
                    </a:lnTo>
                    <a:lnTo>
                      <a:pt x="844" y="1270"/>
                    </a:lnTo>
                    <a:lnTo>
                      <a:pt x="826" y="1222"/>
                    </a:lnTo>
                    <a:lnTo>
                      <a:pt x="808" y="1174"/>
                    </a:lnTo>
                    <a:lnTo>
                      <a:pt x="792" y="1122"/>
                    </a:lnTo>
                    <a:lnTo>
                      <a:pt x="778" y="1070"/>
                    </a:lnTo>
                    <a:lnTo>
                      <a:pt x="766" y="1016"/>
                    </a:lnTo>
                    <a:lnTo>
                      <a:pt x="754" y="960"/>
                    </a:lnTo>
                    <a:lnTo>
                      <a:pt x="744" y="902"/>
                    </a:lnTo>
                    <a:lnTo>
                      <a:pt x="734" y="842"/>
                    </a:lnTo>
                    <a:lnTo>
                      <a:pt x="728" y="780"/>
                    </a:lnTo>
                    <a:lnTo>
                      <a:pt x="722" y="716"/>
                    </a:lnTo>
                    <a:lnTo>
                      <a:pt x="720" y="650"/>
                    </a:lnTo>
                    <a:lnTo>
                      <a:pt x="718" y="582"/>
                    </a:lnTo>
                    <a:lnTo>
                      <a:pt x="988" y="582"/>
                    </a:lnTo>
                    <a:lnTo>
                      <a:pt x="738" y="290"/>
                    </a:lnTo>
                    <a:lnTo>
                      <a:pt x="494" y="0"/>
                    </a:lnTo>
                    <a:lnTo>
                      <a:pt x="250" y="290"/>
                    </a:lnTo>
                    <a:lnTo>
                      <a:pt x="0" y="582"/>
                    </a:lnTo>
                    <a:lnTo>
                      <a:pt x="272" y="582"/>
                    </a:lnTo>
                    <a:lnTo>
                      <a:pt x="274" y="630"/>
                    </a:lnTo>
                    <a:lnTo>
                      <a:pt x="282" y="702"/>
                    </a:lnTo>
                    <a:lnTo>
                      <a:pt x="288" y="746"/>
                    </a:lnTo>
                    <a:lnTo>
                      <a:pt x="296" y="794"/>
                    </a:lnTo>
                    <a:lnTo>
                      <a:pt x="306" y="844"/>
                    </a:lnTo>
                    <a:lnTo>
                      <a:pt x="318" y="900"/>
                    </a:lnTo>
                    <a:lnTo>
                      <a:pt x="334" y="958"/>
                    </a:lnTo>
                    <a:lnTo>
                      <a:pt x="352" y="1020"/>
                    </a:lnTo>
                    <a:lnTo>
                      <a:pt x="374" y="1082"/>
                    </a:lnTo>
                    <a:lnTo>
                      <a:pt x="398" y="1148"/>
                    </a:lnTo>
                    <a:lnTo>
                      <a:pt x="428" y="1214"/>
                    </a:lnTo>
                    <a:lnTo>
                      <a:pt x="460" y="1280"/>
                    </a:lnTo>
                    <a:lnTo>
                      <a:pt x="498" y="1348"/>
                    </a:lnTo>
                    <a:lnTo>
                      <a:pt x="540" y="1414"/>
                    </a:lnTo>
                    <a:lnTo>
                      <a:pt x="586" y="1482"/>
                    </a:lnTo>
                    <a:lnTo>
                      <a:pt x="612" y="1514"/>
                    </a:lnTo>
                    <a:lnTo>
                      <a:pt x="638" y="1548"/>
                    </a:lnTo>
                    <a:lnTo>
                      <a:pt x="666" y="1580"/>
                    </a:lnTo>
                    <a:lnTo>
                      <a:pt x="694" y="1612"/>
                    </a:lnTo>
                    <a:lnTo>
                      <a:pt x="724" y="1642"/>
                    </a:lnTo>
                    <a:lnTo>
                      <a:pt x="756" y="1674"/>
                    </a:lnTo>
                    <a:lnTo>
                      <a:pt x="790" y="1704"/>
                    </a:lnTo>
                    <a:lnTo>
                      <a:pt x="826" y="1734"/>
                    </a:lnTo>
                    <a:lnTo>
                      <a:pt x="862" y="1762"/>
                    </a:lnTo>
                    <a:lnTo>
                      <a:pt x="900" y="1790"/>
                    </a:lnTo>
                    <a:lnTo>
                      <a:pt x="940" y="1818"/>
                    </a:lnTo>
                    <a:lnTo>
                      <a:pt x="980" y="1844"/>
                    </a:lnTo>
                    <a:lnTo>
                      <a:pt x="1024" y="1870"/>
                    </a:lnTo>
                    <a:lnTo>
                      <a:pt x="1068" y="1894"/>
                    </a:lnTo>
                    <a:lnTo>
                      <a:pt x="1114" y="1918"/>
                    </a:lnTo>
                    <a:lnTo>
                      <a:pt x="1162" y="1940"/>
                    </a:lnTo>
                    <a:lnTo>
                      <a:pt x="1212" y="1962"/>
                    </a:lnTo>
                    <a:lnTo>
                      <a:pt x="1264" y="1982"/>
                    </a:lnTo>
                    <a:lnTo>
                      <a:pt x="1318" y="2000"/>
                    </a:lnTo>
                    <a:lnTo>
                      <a:pt x="1372" y="2018"/>
                    </a:lnTo>
                    <a:lnTo>
                      <a:pt x="1430" y="2034"/>
                    </a:lnTo>
                    <a:lnTo>
                      <a:pt x="1490" y="2048"/>
                    </a:lnTo>
                    <a:lnTo>
                      <a:pt x="1550" y="2060"/>
                    </a:lnTo>
                    <a:lnTo>
                      <a:pt x="1614" y="2072"/>
                    </a:lnTo>
                    <a:lnTo>
                      <a:pt x="1680" y="2082"/>
                    </a:lnTo>
                    <a:lnTo>
                      <a:pt x="1746" y="2090"/>
                    </a:lnTo>
                    <a:lnTo>
                      <a:pt x="1816" y="2096"/>
                    </a:lnTo>
                    <a:lnTo>
                      <a:pt x="1888" y="2102"/>
                    </a:lnTo>
                    <a:lnTo>
                      <a:pt x="1962" y="2104"/>
                    </a:lnTo>
                    <a:lnTo>
                      <a:pt x="2038" y="2106"/>
                    </a:lnTo>
                    <a:close/>
                  </a:path>
                </a:pathLst>
              </a:custGeom>
              <a:solidFill>
                <a:srgbClr val="FFFFFF">
                  <a:lumMod val="50000"/>
                </a:srgbClr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9pPr>
              </a:lstStyle>
              <a:p>
                <a:pPr indent="-180944" algn="ctr" latinLnBrk="0">
                  <a:spcAft>
                    <a:spcPts val="240"/>
                  </a:spcAft>
                  <a:buClr>
                    <a:prstClr val="white">
                      <a:lumMod val="65000"/>
                    </a:prstClr>
                  </a:buClr>
                  <a:buSzPct val="80000"/>
                  <a:defRPr/>
                </a:pPr>
                <a:endParaRPr lang="ko-KR" altLang="en-US" sz="1000" kern="0" dirty="0">
                  <a:solidFill>
                    <a:prstClr val="white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0" name="Freeform 10">
                <a:extLst>
                  <a:ext uri="{FF2B5EF4-FFF2-40B4-BE49-F238E27FC236}">
                    <a16:creationId xmlns:a16="http://schemas.microsoft.com/office/drawing/2014/main" id="{572DFA93-2D5A-ED03-EBCB-EF6BC313C1B3}"/>
                  </a:ext>
                </a:extLst>
              </p:cNvPr>
              <p:cNvSpPr>
                <a:spLocks/>
              </p:cNvSpPr>
              <p:nvPr/>
            </p:nvSpPr>
            <p:spPr bwMode="auto">
              <a:xfrm rot="696736">
                <a:off x="3254079" y="8060484"/>
                <a:ext cx="745337" cy="752671"/>
              </a:xfrm>
              <a:custGeom>
                <a:avLst/>
                <a:gdLst>
                  <a:gd name="T0" fmla="*/ 2038 w 2038"/>
                  <a:gd name="T1" fmla="*/ 2106 h 2106"/>
                  <a:gd name="T2" fmla="*/ 1982 w 2038"/>
                  <a:gd name="T3" fmla="*/ 2100 h 2106"/>
                  <a:gd name="T4" fmla="*/ 1878 w 2038"/>
                  <a:gd name="T5" fmla="*/ 2084 h 2106"/>
                  <a:gd name="T6" fmla="*/ 1786 w 2038"/>
                  <a:gd name="T7" fmla="*/ 2062 h 2106"/>
                  <a:gd name="T8" fmla="*/ 1680 w 2038"/>
                  <a:gd name="T9" fmla="*/ 2032 h 2106"/>
                  <a:gd name="T10" fmla="*/ 1566 w 2038"/>
                  <a:gd name="T11" fmla="*/ 1988 h 2106"/>
                  <a:gd name="T12" fmla="*/ 1444 w 2038"/>
                  <a:gd name="T13" fmla="*/ 1930 h 2106"/>
                  <a:gd name="T14" fmla="*/ 1322 w 2038"/>
                  <a:gd name="T15" fmla="*/ 1858 h 2106"/>
                  <a:gd name="T16" fmla="*/ 1200 w 2038"/>
                  <a:gd name="T17" fmla="*/ 1764 h 2106"/>
                  <a:gd name="T18" fmla="*/ 1142 w 2038"/>
                  <a:gd name="T19" fmla="*/ 1712 h 2106"/>
                  <a:gd name="T20" fmla="*/ 1084 w 2038"/>
                  <a:gd name="T21" fmla="*/ 1652 h 2106"/>
                  <a:gd name="T22" fmla="*/ 1030 w 2038"/>
                  <a:gd name="T23" fmla="*/ 1588 h 2106"/>
                  <a:gd name="T24" fmla="*/ 978 w 2038"/>
                  <a:gd name="T25" fmla="*/ 1518 h 2106"/>
                  <a:gd name="T26" fmla="*/ 930 w 2038"/>
                  <a:gd name="T27" fmla="*/ 1442 h 2106"/>
                  <a:gd name="T28" fmla="*/ 884 w 2038"/>
                  <a:gd name="T29" fmla="*/ 1358 h 2106"/>
                  <a:gd name="T30" fmla="*/ 844 w 2038"/>
                  <a:gd name="T31" fmla="*/ 1270 h 2106"/>
                  <a:gd name="T32" fmla="*/ 808 w 2038"/>
                  <a:gd name="T33" fmla="*/ 1174 h 2106"/>
                  <a:gd name="T34" fmla="*/ 778 w 2038"/>
                  <a:gd name="T35" fmla="*/ 1070 h 2106"/>
                  <a:gd name="T36" fmla="*/ 754 w 2038"/>
                  <a:gd name="T37" fmla="*/ 960 h 2106"/>
                  <a:gd name="T38" fmla="*/ 734 w 2038"/>
                  <a:gd name="T39" fmla="*/ 842 h 2106"/>
                  <a:gd name="T40" fmla="*/ 722 w 2038"/>
                  <a:gd name="T41" fmla="*/ 716 h 2106"/>
                  <a:gd name="T42" fmla="*/ 718 w 2038"/>
                  <a:gd name="T43" fmla="*/ 582 h 2106"/>
                  <a:gd name="T44" fmla="*/ 738 w 2038"/>
                  <a:gd name="T45" fmla="*/ 290 h 2106"/>
                  <a:gd name="T46" fmla="*/ 250 w 2038"/>
                  <a:gd name="T47" fmla="*/ 290 h 2106"/>
                  <a:gd name="T48" fmla="*/ 272 w 2038"/>
                  <a:gd name="T49" fmla="*/ 582 h 2106"/>
                  <a:gd name="T50" fmla="*/ 274 w 2038"/>
                  <a:gd name="T51" fmla="*/ 630 h 2106"/>
                  <a:gd name="T52" fmla="*/ 288 w 2038"/>
                  <a:gd name="T53" fmla="*/ 746 h 2106"/>
                  <a:gd name="T54" fmla="*/ 306 w 2038"/>
                  <a:gd name="T55" fmla="*/ 844 h 2106"/>
                  <a:gd name="T56" fmla="*/ 334 w 2038"/>
                  <a:gd name="T57" fmla="*/ 958 h 2106"/>
                  <a:gd name="T58" fmla="*/ 374 w 2038"/>
                  <a:gd name="T59" fmla="*/ 1082 h 2106"/>
                  <a:gd name="T60" fmla="*/ 428 w 2038"/>
                  <a:gd name="T61" fmla="*/ 1214 h 2106"/>
                  <a:gd name="T62" fmla="*/ 498 w 2038"/>
                  <a:gd name="T63" fmla="*/ 1348 h 2106"/>
                  <a:gd name="T64" fmla="*/ 586 w 2038"/>
                  <a:gd name="T65" fmla="*/ 1482 h 2106"/>
                  <a:gd name="T66" fmla="*/ 638 w 2038"/>
                  <a:gd name="T67" fmla="*/ 1548 h 2106"/>
                  <a:gd name="T68" fmla="*/ 694 w 2038"/>
                  <a:gd name="T69" fmla="*/ 1612 h 2106"/>
                  <a:gd name="T70" fmla="*/ 756 w 2038"/>
                  <a:gd name="T71" fmla="*/ 1674 h 2106"/>
                  <a:gd name="T72" fmla="*/ 826 w 2038"/>
                  <a:gd name="T73" fmla="*/ 1734 h 2106"/>
                  <a:gd name="T74" fmla="*/ 900 w 2038"/>
                  <a:gd name="T75" fmla="*/ 1790 h 2106"/>
                  <a:gd name="T76" fmla="*/ 980 w 2038"/>
                  <a:gd name="T77" fmla="*/ 1844 h 2106"/>
                  <a:gd name="T78" fmla="*/ 1068 w 2038"/>
                  <a:gd name="T79" fmla="*/ 1894 h 2106"/>
                  <a:gd name="T80" fmla="*/ 1162 w 2038"/>
                  <a:gd name="T81" fmla="*/ 1940 h 2106"/>
                  <a:gd name="T82" fmla="*/ 1264 w 2038"/>
                  <a:gd name="T83" fmla="*/ 1982 h 2106"/>
                  <a:gd name="T84" fmla="*/ 1372 w 2038"/>
                  <a:gd name="T85" fmla="*/ 2018 h 2106"/>
                  <a:gd name="T86" fmla="*/ 1490 w 2038"/>
                  <a:gd name="T87" fmla="*/ 2048 h 2106"/>
                  <a:gd name="T88" fmla="*/ 1614 w 2038"/>
                  <a:gd name="T89" fmla="*/ 2072 h 2106"/>
                  <a:gd name="T90" fmla="*/ 1746 w 2038"/>
                  <a:gd name="T91" fmla="*/ 2090 h 2106"/>
                  <a:gd name="T92" fmla="*/ 1888 w 2038"/>
                  <a:gd name="T93" fmla="*/ 2102 h 2106"/>
                  <a:gd name="T94" fmla="*/ 2038 w 2038"/>
                  <a:gd name="T95" fmla="*/ 2106 h 210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38"/>
                  <a:gd name="T145" fmla="*/ 0 h 2106"/>
                  <a:gd name="T146" fmla="*/ 2038 w 2038"/>
                  <a:gd name="T147" fmla="*/ 2106 h 210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38" h="2106">
                    <a:moveTo>
                      <a:pt x="2038" y="2106"/>
                    </a:moveTo>
                    <a:lnTo>
                      <a:pt x="2038" y="2106"/>
                    </a:lnTo>
                    <a:lnTo>
                      <a:pt x="2024" y="2104"/>
                    </a:lnTo>
                    <a:lnTo>
                      <a:pt x="1982" y="2100"/>
                    </a:lnTo>
                    <a:lnTo>
                      <a:pt x="1918" y="2092"/>
                    </a:lnTo>
                    <a:lnTo>
                      <a:pt x="1878" y="2084"/>
                    </a:lnTo>
                    <a:lnTo>
                      <a:pt x="1834" y="2074"/>
                    </a:lnTo>
                    <a:lnTo>
                      <a:pt x="1786" y="2062"/>
                    </a:lnTo>
                    <a:lnTo>
                      <a:pt x="1734" y="2048"/>
                    </a:lnTo>
                    <a:lnTo>
                      <a:pt x="1680" y="2032"/>
                    </a:lnTo>
                    <a:lnTo>
                      <a:pt x="1624" y="2012"/>
                    </a:lnTo>
                    <a:lnTo>
                      <a:pt x="1566" y="1988"/>
                    </a:lnTo>
                    <a:lnTo>
                      <a:pt x="1506" y="1962"/>
                    </a:lnTo>
                    <a:lnTo>
                      <a:pt x="1444" y="1930"/>
                    </a:lnTo>
                    <a:lnTo>
                      <a:pt x="1382" y="1896"/>
                    </a:lnTo>
                    <a:lnTo>
                      <a:pt x="1322" y="1858"/>
                    </a:lnTo>
                    <a:lnTo>
                      <a:pt x="1260" y="1814"/>
                    </a:lnTo>
                    <a:lnTo>
                      <a:pt x="1200" y="1764"/>
                    </a:lnTo>
                    <a:lnTo>
                      <a:pt x="1170" y="1738"/>
                    </a:lnTo>
                    <a:lnTo>
                      <a:pt x="1142" y="1712"/>
                    </a:lnTo>
                    <a:lnTo>
                      <a:pt x="1112" y="1682"/>
                    </a:lnTo>
                    <a:lnTo>
                      <a:pt x="1084" y="1652"/>
                    </a:lnTo>
                    <a:lnTo>
                      <a:pt x="1056" y="1622"/>
                    </a:lnTo>
                    <a:lnTo>
                      <a:pt x="1030" y="1588"/>
                    </a:lnTo>
                    <a:lnTo>
                      <a:pt x="1004" y="1554"/>
                    </a:lnTo>
                    <a:lnTo>
                      <a:pt x="978" y="1518"/>
                    </a:lnTo>
                    <a:lnTo>
                      <a:pt x="954" y="1480"/>
                    </a:lnTo>
                    <a:lnTo>
                      <a:pt x="930" y="1442"/>
                    </a:lnTo>
                    <a:lnTo>
                      <a:pt x="906" y="1400"/>
                    </a:lnTo>
                    <a:lnTo>
                      <a:pt x="884" y="1358"/>
                    </a:lnTo>
                    <a:lnTo>
                      <a:pt x="864" y="1316"/>
                    </a:lnTo>
                    <a:lnTo>
                      <a:pt x="844" y="1270"/>
                    </a:lnTo>
                    <a:lnTo>
                      <a:pt x="826" y="1222"/>
                    </a:lnTo>
                    <a:lnTo>
                      <a:pt x="808" y="1174"/>
                    </a:lnTo>
                    <a:lnTo>
                      <a:pt x="792" y="1122"/>
                    </a:lnTo>
                    <a:lnTo>
                      <a:pt x="778" y="1070"/>
                    </a:lnTo>
                    <a:lnTo>
                      <a:pt x="766" y="1016"/>
                    </a:lnTo>
                    <a:lnTo>
                      <a:pt x="754" y="960"/>
                    </a:lnTo>
                    <a:lnTo>
                      <a:pt x="744" y="902"/>
                    </a:lnTo>
                    <a:lnTo>
                      <a:pt x="734" y="842"/>
                    </a:lnTo>
                    <a:lnTo>
                      <a:pt x="728" y="780"/>
                    </a:lnTo>
                    <a:lnTo>
                      <a:pt x="722" y="716"/>
                    </a:lnTo>
                    <a:lnTo>
                      <a:pt x="720" y="650"/>
                    </a:lnTo>
                    <a:lnTo>
                      <a:pt x="718" y="582"/>
                    </a:lnTo>
                    <a:lnTo>
                      <a:pt x="988" y="582"/>
                    </a:lnTo>
                    <a:lnTo>
                      <a:pt x="738" y="290"/>
                    </a:lnTo>
                    <a:lnTo>
                      <a:pt x="494" y="0"/>
                    </a:lnTo>
                    <a:lnTo>
                      <a:pt x="250" y="290"/>
                    </a:lnTo>
                    <a:lnTo>
                      <a:pt x="0" y="582"/>
                    </a:lnTo>
                    <a:lnTo>
                      <a:pt x="272" y="582"/>
                    </a:lnTo>
                    <a:lnTo>
                      <a:pt x="274" y="630"/>
                    </a:lnTo>
                    <a:lnTo>
                      <a:pt x="282" y="702"/>
                    </a:lnTo>
                    <a:lnTo>
                      <a:pt x="288" y="746"/>
                    </a:lnTo>
                    <a:lnTo>
                      <a:pt x="296" y="794"/>
                    </a:lnTo>
                    <a:lnTo>
                      <a:pt x="306" y="844"/>
                    </a:lnTo>
                    <a:lnTo>
                      <a:pt x="318" y="900"/>
                    </a:lnTo>
                    <a:lnTo>
                      <a:pt x="334" y="958"/>
                    </a:lnTo>
                    <a:lnTo>
                      <a:pt x="352" y="1020"/>
                    </a:lnTo>
                    <a:lnTo>
                      <a:pt x="374" y="1082"/>
                    </a:lnTo>
                    <a:lnTo>
                      <a:pt x="398" y="1148"/>
                    </a:lnTo>
                    <a:lnTo>
                      <a:pt x="428" y="1214"/>
                    </a:lnTo>
                    <a:lnTo>
                      <a:pt x="460" y="1280"/>
                    </a:lnTo>
                    <a:lnTo>
                      <a:pt x="498" y="1348"/>
                    </a:lnTo>
                    <a:lnTo>
                      <a:pt x="540" y="1414"/>
                    </a:lnTo>
                    <a:lnTo>
                      <a:pt x="586" y="1482"/>
                    </a:lnTo>
                    <a:lnTo>
                      <a:pt x="612" y="1514"/>
                    </a:lnTo>
                    <a:lnTo>
                      <a:pt x="638" y="1548"/>
                    </a:lnTo>
                    <a:lnTo>
                      <a:pt x="666" y="1580"/>
                    </a:lnTo>
                    <a:lnTo>
                      <a:pt x="694" y="1612"/>
                    </a:lnTo>
                    <a:lnTo>
                      <a:pt x="724" y="1642"/>
                    </a:lnTo>
                    <a:lnTo>
                      <a:pt x="756" y="1674"/>
                    </a:lnTo>
                    <a:lnTo>
                      <a:pt x="790" y="1704"/>
                    </a:lnTo>
                    <a:lnTo>
                      <a:pt x="826" y="1734"/>
                    </a:lnTo>
                    <a:lnTo>
                      <a:pt x="862" y="1762"/>
                    </a:lnTo>
                    <a:lnTo>
                      <a:pt x="900" y="1790"/>
                    </a:lnTo>
                    <a:lnTo>
                      <a:pt x="940" y="1818"/>
                    </a:lnTo>
                    <a:lnTo>
                      <a:pt x="980" y="1844"/>
                    </a:lnTo>
                    <a:lnTo>
                      <a:pt x="1024" y="1870"/>
                    </a:lnTo>
                    <a:lnTo>
                      <a:pt x="1068" y="1894"/>
                    </a:lnTo>
                    <a:lnTo>
                      <a:pt x="1114" y="1918"/>
                    </a:lnTo>
                    <a:lnTo>
                      <a:pt x="1162" y="1940"/>
                    </a:lnTo>
                    <a:lnTo>
                      <a:pt x="1212" y="1962"/>
                    </a:lnTo>
                    <a:lnTo>
                      <a:pt x="1264" y="1982"/>
                    </a:lnTo>
                    <a:lnTo>
                      <a:pt x="1318" y="2000"/>
                    </a:lnTo>
                    <a:lnTo>
                      <a:pt x="1372" y="2018"/>
                    </a:lnTo>
                    <a:lnTo>
                      <a:pt x="1430" y="2034"/>
                    </a:lnTo>
                    <a:lnTo>
                      <a:pt x="1490" y="2048"/>
                    </a:lnTo>
                    <a:lnTo>
                      <a:pt x="1550" y="2060"/>
                    </a:lnTo>
                    <a:lnTo>
                      <a:pt x="1614" y="2072"/>
                    </a:lnTo>
                    <a:lnTo>
                      <a:pt x="1680" y="2082"/>
                    </a:lnTo>
                    <a:lnTo>
                      <a:pt x="1746" y="2090"/>
                    </a:lnTo>
                    <a:lnTo>
                      <a:pt x="1816" y="2096"/>
                    </a:lnTo>
                    <a:lnTo>
                      <a:pt x="1888" y="2102"/>
                    </a:lnTo>
                    <a:lnTo>
                      <a:pt x="1962" y="2104"/>
                    </a:lnTo>
                    <a:lnTo>
                      <a:pt x="2038" y="2106"/>
                    </a:lnTo>
                    <a:close/>
                  </a:path>
                </a:pathLst>
              </a:custGeom>
              <a:solidFill>
                <a:srgbClr val="FFFFFF">
                  <a:lumMod val="50000"/>
                </a:srgbClr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b="1" kern="1200">
                    <a:solidFill>
                      <a:schemeClr val="tx1"/>
                    </a:solidFill>
                    <a:latin typeface="Arial" charset="0"/>
                    <a:ea typeface="가는각진제목체" pitchFamily="18" charset="-127"/>
                    <a:cs typeface="+mn-cs"/>
                  </a:defRPr>
                </a:lvl9pPr>
              </a:lstStyle>
              <a:p>
                <a:pPr indent="-180944" algn="ctr" latinLnBrk="0">
                  <a:spcAft>
                    <a:spcPts val="240"/>
                  </a:spcAft>
                  <a:buClr>
                    <a:prstClr val="white">
                      <a:lumMod val="65000"/>
                    </a:prstClr>
                  </a:buClr>
                  <a:buSzPct val="80000"/>
                  <a:defRPr/>
                </a:pPr>
                <a:endParaRPr lang="ko-KR" altLang="en-US" sz="1000" kern="0" dirty="0">
                  <a:solidFill>
                    <a:prstClr val="white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17" name="TextBox 62">
              <a:extLst>
                <a:ext uri="{FF2B5EF4-FFF2-40B4-BE49-F238E27FC236}">
                  <a16:creationId xmlns:a16="http://schemas.microsoft.com/office/drawing/2014/main" id="{8CC8E40F-AC5B-793D-D2F3-687A9C51D205}"/>
                </a:ext>
              </a:extLst>
            </p:cNvPr>
            <p:cNvSpPr txBox="1"/>
            <p:nvPr/>
          </p:nvSpPr>
          <p:spPr>
            <a:xfrm>
              <a:off x="4284659" y="3051170"/>
              <a:ext cx="720000" cy="324000"/>
            </a:xfrm>
            <a:prstGeom prst="rect">
              <a:avLst/>
            </a:prstGeom>
            <a:noFill/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Arial" charset="0"/>
                  <a:ea typeface="가는각진제목체" pitchFamily="18" charset="-127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ko-KR" altLang="en-US" sz="11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협조체계</a:t>
              </a:r>
            </a:p>
          </p:txBody>
        </p:sp>
      </p:grpSp>
      <p:cxnSp>
        <p:nvCxnSpPr>
          <p:cNvPr id="21" name="꺾인 연결선 77">
            <a:extLst>
              <a:ext uri="{FF2B5EF4-FFF2-40B4-BE49-F238E27FC236}">
                <a16:creationId xmlns:a16="http://schemas.microsoft.com/office/drawing/2014/main" id="{B08137EA-1AD1-0CAF-8773-C8C3732C6C86}"/>
              </a:ext>
            </a:extLst>
          </p:cNvPr>
          <p:cNvCxnSpPr>
            <a:cxnSpLocks noChangeShapeType="1"/>
            <a:stCxn id="24" idx="0"/>
            <a:endCxn id="7" idx="2"/>
          </p:cNvCxnSpPr>
          <p:nvPr/>
        </p:nvCxnSpPr>
        <p:spPr bwMode="auto">
          <a:xfrm flipV="1">
            <a:off x="7129657" y="2017919"/>
            <a:ext cx="1803" cy="332951"/>
          </a:xfrm>
          <a:prstGeom prst="straightConnector1">
            <a:avLst/>
          </a:prstGeom>
          <a:noFill/>
          <a:ln w="9525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모서리가 둥근 직사각형 62">
            <a:extLst>
              <a:ext uri="{FF2B5EF4-FFF2-40B4-BE49-F238E27FC236}">
                <a16:creationId xmlns:a16="http://schemas.microsoft.com/office/drawing/2014/main" id="{50F3C965-6F5F-3621-B4FB-28484E1FA9A8}"/>
              </a:ext>
            </a:extLst>
          </p:cNvPr>
          <p:cNvSpPr/>
          <p:nvPr/>
        </p:nvSpPr>
        <p:spPr>
          <a:xfrm>
            <a:off x="677583" y="2352963"/>
            <a:ext cx="3754377" cy="2575496"/>
          </a:xfrm>
          <a:prstGeom prst="roundRect">
            <a:avLst>
              <a:gd name="adj" fmla="val 6378"/>
            </a:avLst>
          </a:prstGeom>
          <a:noFill/>
          <a:ln w="12700" cap="flat" cmpd="sng" algn="ctr">
            <a:solidFill>
              <a:schemeClr val="tx1"/>
            </a:solidFill>
            <a:prstDash val="sysDot"/>
          </a:ln>
          <a:effectLst/>
        </p:spPr>
        <p:txBody>
          <a:bodyPr anchor="b"/>
          <a:lstStyle/>
          <a:p>
            <a:pPr algn="ctr" latinLnBrk="0">
              <a:defRPr/>
            </a:pPr>
            <a:endParaRPr lang="en-US" altLang="ko-KR" sz="1200" b="1" kern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4" name="모서리가 둥근 직사각형 42">
            <a:extLst>
              <a:ext uri="{FF2B5EF4-FFF2-40B4-BE49-F238E27FC236}">
                <a16:creationId xmlns:a16="http://schemas.microsoft.com/office/drawing/2014/main" id="{5689A639-C691-A42F-F73B-66DA2CC8B710}"/>
              </a:ext>
            </a:extLst>
          </p:cNvPr>
          <p:cNvSpPr/>
          <p:nvPr/>
        </p:nvSpPr>
        <p:spPr>
          <a:xfrm>
            <a:off x="4985835" y="2350870"/>
            <a:ext cx="4287645" cy="762505"/>
          </a:xfrm>
          <a:prstGeom prst="roundRect">
            <a:avLst>
              <a:gd name="adj" fmla="val 6378"/>
            </a:avLst>
          </a:prstGeom>
          <a:noFill/>
          <a:ln w="12700" cap="flat" cmpd="sng" algn="ctr">
            <a:solidFill>
              <a:schemeClr val="tx1"/>
            </a:solidFill>
            <a:prstDash val="sysDot"/>
          </a:ln>
          <a:effectLst/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120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5" name="모서리가 둥근 직사각형 43">
            <a:extLst>
              <a:ext uri="{FF2B5EF4-FFF2-40B4-BE49-F238E27FC236}">
                <a16:creationId xmlns:a16="http://schemas.microsoft.com/office/drawing/2014/main" id="{F13FA716-7232-1B26-73D3-F318A9CA3006}"/>
              </a:ext>
            </a:extLst>
          </p:cNvPr>
          <p:cNvSpPr/>
          <p:nvPr/>
        </p:nvSpPr>
        <p:spPr>
          <a:xfrm>
            <a:off x="4985835" y="3219737"/>
            <a:ext cx="4287645" cy="1708722"/>
          </a:xfrm>
          <a:prstGeom prst="roundRect">
            <a:avLst>
              <a:gd name="adj" fmla="val 6378"/>
            </a:avLst>
          </a:prstGeom>
          <a:noFill/>
          <a:ln w="12700" cap="flat" cmpd="sng" algn="ctr">
            <a:solidFill>
              <a:schemeClr val="tx1"/>
            </a:solidFill>
            <a:prstDash val="sysDot"/>
          </a:ln>
          <a:effectLst/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120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87A9B1-7E52-1461-34AA-BD575970060E}"/>
              </a:ext>
            </a:extLst>
          </p:cNvPr>
          <p:cNvSpPr/>
          <p:nvPr/>
        </p:nvSpPr>
        <p:spPr>
          <a:xfrm>
            <a:off x="5828994" y="3535849"/>
            <a:ext cx="658930" cy="734575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lIns="36000" tIns="36000" rIns="36000" bIns="3600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굴림" panose="020B0600000101010101" pitchFamily="50" charset="-127"/>
              </a:rPr>
              <a:t>업무</a:t>
            </a:r>
            <a:r>
              <a:rPr lang="en-US" altLang="ko-KR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굴림" panose="020B0600000101010101" pitchFamily="50" charset="-127"/>
              </a:rPr>
              <a:t>A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432A858-D667-0C68-13DC-C5285B94C251}"/>
              </a:ext>
            </a:extLst>
          </p:cNvPr>
          <p:cNvSpPr/>
          <p:nvPr/>
        </p:nvSpPr>
        <p:spPr>
          <a:xfrm>
            <a:off x="6582324" y="3535849"/>
            <a:ext cx="745714" cy="734575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lIns="36000" tIns="36000" rIns="36000" bIns="3600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굴림" panose="020B0600000101010101" pitchFamily="50" charset="-127"/>
              </a:rPr>
              <a:t>업무</a:t>
            </a:r>
            <a:r>
              <a:rPr lang="en-US" altLang="ko-KR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굴림" panose="020B0600000101010101" pitchFamily="50" charset="-127"/>
              </a:rPr>
              <a:t>B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432BC45-9D4B-9A69-8FE9-32DD1CABB107}"/>
              </a:ext>
            </a:extLst>
          </p:cNvPr>
          <p:cNvSpPr/>
          <p:nvPr/>
        </p:nvSpPr>
        <p:spPr>
          <a:xfrm>
            <a:off x="7453931" y="3535849"/>
            <a:ext cx="899181" cy="734575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lIns="36000" tIns="36000" rIns="36000" bIns="3600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굴림" panose="020B0600000101010101" pitchFamily="50" charset="-127"/>
              </a:rPr>
              <a:t>업무</a:t>
            </a:r>
            <a:r>
              <a:rPr lang="en-US" altLang="ko-KR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굴림" panose="020B0600000101010101" pitchFamily="50" charset="-127"/>
              </a:rPr>
              <a:t>C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BE5BBFD-43A8-392F-CC49-4ED82FD4C885}"/>
              </a:ext>
            </a:extLst>
          </p:cNvPr>
          <p:cNvSpPr/>
          <p:nvPr/>
        </p:nvSpPr>
        <p:spPr>
          <a:xfrm>
            <a:off x="5047462" y="3535849"/>
            <a:ext cx="670530" cy="734575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lIns="36000" tIns="36000" rIns="36000" bIns="3600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공통</a:t>
            </a:r>
          </a:p>
        </p:txBody>
      </p:sp>
      <p:cxnSp>
        <p:nvCxnSpPr>
          <p:cNvPr id="32" name="꺾인 연결선 164">
            <a:extLst>
              <a:ext uri="{FF2B5EF4-FFF2-40B4-BE49-F238E27FC236}">
                <a16:creationId xmlns:a16="http://schemas.microsoft.com/office/drawing/2014/main" id="{76385854-4B17-8789-6B86-75C8F4048239}"/>
              </a:ext>
            </a:extLst>
          </p:cNvPr>
          <p:cNvCxnSpPr>
            <a:cxnSpLocks noChangeShapeType="1"/>
            <a:stCxn id="24" idx="2"/>
            <a:endCxn id="29" idx="0"/>
          </p:cNvCxnSpPr>
          <p:nvPr/>
        </p:nvCxnSpPr>
        <p:spPr bwMode="auto">
          <a:xfrm rot="5400000">
            <a:off x="6044956" y="2451147"/>
            <a:ext cx="422474" cy="1746931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7F7F7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꺾인 연결선 165">
            <a:extLst>
              <a:ext uri="{FF2B5EF4-FFF2-40B4-BE49-F238E27FC236}">
                <a16:creationId xmlns:a16="http://schemas.microsoft.com/office/drawing/2014/main" id="{28D6AD37-B2FC-1812-47E2-E53E4AA8955C}"/>
              </a:ext>
            </a:extLst>
          </p:cNvPr>
          <p:cNvCxnSpPr>
            <a:cxnSpLocks noChangeShapeType="1"/>
            <a:stCxn id="27" idx="0"/>
            <a:endCxn id="24" idx="2"/>
          </p:cNvCxnSpPr>
          <p:nvPr/>
        </p:nvCxnSpPr>
        <p:spPr bwMode="auto">
          <a:xfrm rot="5400000" flipH="1" flipV="1">
            <a:off x="6831182" y="3237374"/>
            <a:ext cx="422474" cy="174477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7F7F7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1B512A9-805C-CE1E-F1CA-EDBDC4477EBD}"/>
              </a:ext>
            </a:extLst>
          </p:cNvPr>
          <p:cNvSpPr/>
          <p:nvPr/>
        </p:nvSpPr>
        <p:spPr>
          <a:xfrm>
            <a:off x="5106503" y="4381352"/>
            <a:ext cx="4074641" cy="359986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PL/</a:t>
            </a:r>
            <a:r>
              <a:rPr lang="ko-KR" altLang="en-US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프로그램 개발자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2A4CE44-7406-BBC2-5E73-204A1195EB70}"/>
              </a:ext>
            </a:extLst>
          </p:cNvPr>
          <p:cNvSpPr/>
          <p:nvPr/>
        </p:nvSpPr>
        <p:spPr>
          <a:xfrm>
            <a:off x="5106503" y="2526923"/>
            <a:ext cx="4074640" cy="36373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QA </a:t>
            </a:r>
            <a:r>
              <a:rPr lang="ko-KR" altLang="en-US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담당자</a:t>
            </a:r>
          </a:p>
        </p:txBody>
      </p:sp>
      <p:cxnSp>
        <p:nvCxnSpPr>
          <p:cNvPr id="36" name="꺾인 연결선 176">
            <a:extLst>
              <a:ext uri="{FF2B5EF4-FFF2-40B4-BE49-F238E27FC236}">
                <a16:creationId xmlns:a16="http://schemas.microsoft.com/office/drawing/2014/main" id="{D2C3A336-1A10-2034-790F-3E20D5ADE37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432822" y="2839013"/>
            <a:ext cx="422474" cy="971199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7F7F7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28A59F-B0DB-9432-D486-C108B5EE3B17}"/>
              </a:ext>
            </a:extLst>
          </p:cNvPr>
          <p:cNvSpPr/>
          <p:nvPr/>
        </p:nvSpPr>
        <p:spPr>
          <a:xfrm>
            <a:off x="8457399" y="3535849"/>
            <a:ext cx="723744" cy="734575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lIns="36000" tIns="36000" rIns="36000" bIns="3600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굴림" panose="020B0600000101010101" pitchFamily="50" charset="-127"/>
              </a:rPr>
              <a:t>업무</a:t>
            </a:r>
            <a:r>
              <a:rPr lang="en-US" altLang="ko-KR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굴림" panose="020B0600000101010101" pitchFamily="50" charset="-127"/>
              </a:rPr>
              <a:t>D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296E7AE-09C8-4605-2836-3D29A3C488F3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7903523" y="3320258"/>
            <a:ext cx="1" cy="215591"/>
          </a:xfrm>
          <a:prstGeom prst="line">
            <a:avLst/>
          </a:prstGeom>
          <a:noFill/>
          <a:ln w="9525" algn="ctr">
            <a:solidFill>
              <a:srgbClr val="7F7F7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79AECCF-7C71-90C3-4F7E-DC5183ADB922}"/>
              </a:ext>
            </a:extLst>
          </p:cNvPr>
          <p:cNvSpPr/>
          <p:nvPr/>
        </p:nvSpPr>
        <p:spPr>
          <a:xfrm>
            <a:off x="2735478" y="3915346"/>
            <a:ext cx="1337587" cy="355078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부서 </a:t>
            </a:r>
            <a:r>
              <a:rPr lang="en-US" altLang="ko-KR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E</a:t>
            </a:r>
            <a:endParaRPr lang="ko-KR" altLang="en-US" sz="1200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굴림" panose="020B0600000101010101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E34F60C-6589-C4CF-2031-6B4BA8C8267D}"/>
              </a:ext>
            </a:extLst>
          </p:cNvPr>
          <p:cNvSpPr/>
          <p:nvPr/>
        </p:nvSpPr>
        <p:spPr>
          <a:xfrm>
            <a:off x="1081269" y="2998233"/>
            <a:ext cx="1337587" cy="355078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정보화실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C950FF9-B781-52C5-7E4A-513650DCC3F8}"/>
              </a:ext>
            </a:extLst>
          </p:cNvPr>
          <p:cNvSpPr/>
          <p:nvPr/>
        </p:nvSpPr>
        <p:spPr>
          <a:xfrm>
            <a:off x="1081269" y="3452027"/>
            <a:ext cx="1337587" cy="355078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부서 </a:t>
            </a:r>
            <a:r>
              <a:rPr lang="en-US" altLang="ko-KR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B</a:t>
            </a:r>
            <a:endParaRPr lang="ko-KR" altLang="en-US" sz="1200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굴림" panose="020B0600000101010101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AA6839D-08C7-F4E7-86E8-BA4DF1F2D107}"/>
              </a:ext>
            </a:extLst>
          </p:cNvPr>
          <p:cNvSpPr/>
          <p:nvPr/>
        </p:nvSpPr>
        <p:spPr>
          <a:xfrm>
            <a:off x="1081269" y="3915346"/>
            <a:ext cx="1337587" cy="355078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부서 </a:t>
            </a:r>
            <a:r>
              <a:rPr lang="en-US" altLang="ko-KR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D</a:t>
            </a:r>
            <a:endParaRPr lang="ko-KR" altLang="en-US" sz="1200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굴림" panose="020B0600000101010101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B2D4B94-74C1-19E3-350C-2FB5C5F23168}"/>
              </a:ext>
            </a:extLst>
          </p:cNvPr>
          <p:cNvSpPr/>
          <p:nvPr/>
        </p:nvSpPr>
        <p:spPr>
          <a:xfrm>
            <a:off x="1066857" y="2482594"/>
            <a:ext cx="2995680" cy="388348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사업 추진 </a:t>
            </a:r>
            <a:r>
              <a:rPr kumimoji="1"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TF</a:t>
            </a:r>
            <a:endParaRPr kumimoji="1" lang="ko-KR" altLang="en-US" sz="1400" b="1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굴림" panose="020B0600000101010101" pitchFamily="50" charset="-127"/>
            </a:endParaRPr>
          </a:p>
        </p:txBody>
      </p:sp>
      <p:cxnSp>
        <p:nvCxnSpPr>
          <p:cNvPr id="45" name="꺾인 연결선 77">
            <a:extLst>
              <a:ext uri="{FF2B5EF4-FFF2-40B4-BE49-F238E27FC236}">
                <a16:creationId xmlns:a16="http://schemas.microsoft.com/office/drawing/2014/main" id="{EF3298AC-E687-5A4F-5BC4-5C95222C2D64}"/>
              </a:ext>
            </a:extLst>
          </p:cNvPr>
          <p:cNvCxnSpPr>
            <a:cxnSpLocks noChangeShapeType="1"/>
            <a:stCxn id="22" idx="0"/>
            <a:endCxn id="12" idx="2"/>
          </p:cNvCxnSpPr>
          <p:nvPr/>
        </p:nvCxnSpPr>
        <p:spPr bwMode="auto">
          <a:xfrm flipH="1" flipV="1">
            <a:off x="2552140" y="2017919"/>
            <a:ext cx="2632" cy="335044"/>
          </a:xfrm>
          <a:prstGeom prst="straightConnector1">
            <a:avLst/>
          </a:prstGeom>
          <a:noFill/>
          <a:ln w="9525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5E6E566-EA47-8B26-5645-02DF00CD7AF7}"/>
              </a:ext>
            </a:extLst>
          </p:cNvPr>
          <p:cNvSpPr/>
          <p:nvPr/>
        </p:nvSpPr>
        <p:spPr>
          <a:xfrm>
            <a:off x="2735478" y="4397716"/>
            <a:ext cx="1337587" cy="355078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부서 </a:t>
            </a:r>
            <a:r>
              <a:rPr lang="en-US" altLang="ko-KR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G</a:t>
            </a:r>
            <a:endParaRPr lang="ko-KR" altLang="en-US" sz="1200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굴림" panose="020B0600000101010101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8CF9E75-C105-7193-CCA9-AA1CBB3C33DA}"/>
              </a:ext>
            </a:extLst>
          </p:cNvPr>
          <p:cNvSpPr/>
          <p:nvPr/>
        </p:nvSpPr>
        <p:spPr>
          <a:xfrm>
            <a:off x="1081269" y="4397716"/>
            <a:ext cx="1337587" cy="355078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부서 </a:t>
            </a:r>
            <a:r>
              <a:rPr lang="en-US" altLang="ko-KR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F</a:t>
            </a:r>
            <a:endParaRPr lang="ko-KR" altLang="en-US" sz="1200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굴림" panose="020B0600000101010101" pitchFamily="50" charset="-127"/>
            </a:endParaRPr>
          </a:p>
        </p:txBody>
      </p:sp>
      <p:cxnSp>
        <p:nvCxnSpPr>
          <p:cNvPr id="57" name="꺾인 연결선 164">
            <a:extLst>
              <a:ext uri="{FF2B5EF4-FFF2-40B4-BE49-F238E27FC236}">
                <a16:creationId xmlns:a16="http://schemas.microsoft.com/office/drawing/2014/main" id="{9E7231BA-AB8D-D351-7A4B-8E1647DAFE08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7791886" y="2451148"/>
            <a:ext cx="422474" cy="1746931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7F7F7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391150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456F70A7-39B9-E7B2-273A-0BB3FB7F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단위 테스트 수행계획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851162E-79DF-448A-2AC1-C373711685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점검대상 및 절차 상세</a:t>
            </a: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C6759891-88CE-3122-A965-FB0A94385C86}"/>
              </a:ext>
            </a:extLst>
          </p:cNvPr>
          <p:cNvGraphicFramePr>
            <a:graphicFrameLocks noGrp="1"/>
          </p:cNvGraphicFramePr>
          <p:nvPr/>
        </p:nvGraphicFramePr>
        <p:xfrm>
          <a:off x="415925" y="1196975"/>
          <a:ext cx="9074151" cy="5184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8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51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수행주체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절차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점검대상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산출물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9609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E87F5804-620A-08EE-F7B8-B2B971CEE674}"/>
              </a:ext>
            </a:extLst>
          </p:cNvPr>
          <p:cNvSpPr/>
          <p:nvPr/>
        </p:nvSpPr>
        <p:spPr>
          <a:xfrm>
            <a:off x="2496584" y="2162102"/>
            <a:ext cx="1749469" cy="53048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프로그램 개발 </a:t>
            </a:r>
            <a:endParaRPr lang="en-US" altLang="ko-KR" sz="1200" b="1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및</a:t>
            </a:r>
            <a:r>
              <a:rPr lang="en-US" altLang="ko-KR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기능 검증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83D330D-B6A5-339E-0DC7-4054E5E812D6}"/>
              </a:ext>
            </a:extLst>
          </p:cNvPr>
          <p:cNvSpPr/>
          <p:nvPr/>
        </p:nvSpPr>
        <p:spPr>
          <a:xfrm>
            <a:off x="2496584" y="3256774"/>
            <a:ext cx="1749471" cy="46367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차 단위 테스트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AAC269-C75F-5C56-D512-573B730E9A27}"/>
              </a:ext>
            </a:extLst>
          </p:cNvPr>
          <p:cNvSpPr txBox="1"/>
          <p:nvPr/>
        </p:nvSpPr>
        <p:spPr>
          <a:xfrm>
            <a:off x="706363" y="2231053"/>
            <a:ext cx="860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개발자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93B822-E214-C8A2-627E-7F3F628B1088}"/>
              </a:ext>
            </a:extLst>
          </p:cNvPr>
          <p:cNvSpPr txBox="1"/>
          <p:nvPr/>
        </p:nvSpPr>
        <p:spPr>
          <a:xfrm>
            <a:off x="704528" y="3252209"/>
            <a:ext cx="950224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개발자</a:t>
            </a: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/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PL</a:t>
            </a:r>
            <a:endParaRPr lang="ko-KR" altLang="en-US" sz="1400" b="1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7C9815-F719-86A1-5634-1A774654870A}"/>
              </a:ext>
            </a:extLst>
          </p:cNvPr>
          <p:cNvSpPr txBox="1"/>
          <p:nvPr/>
        </p:nvSpPr>
        <p:spPr>
          <a:xfrm>
            <a:off x="7318512" y="2170509"/>
            <a:ext cx="1948714" cy="513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20000"/>
              </a:lnSpc>
              <a:defRPr/>
            </a:pP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단위 테스트 시나리오 보완</a:t>
            </a:r>
            <a:endParaRPr lang="en-US" altLang="ko-KR" sz="1200" b="1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lnSpc>
                <a:spcPct val="120000"/>
              </a:lnSpc>
              <a:defRPr/>
            </a:pP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개발 </a:t>
            </a:r>
            <a:r>
              <a:rPr lang="ko-KR" altLang="en-US" sz="1200" b="1" spc="-100" dirty="0" err="1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증적</a:t>
            </a:r>
            <a:endParaRPr lang="ko-KR" altLang="en-US" sz="1200" b="1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99F136-CCB6-AFCD-7D4F-912886FE8B08}"/>
              </a:ext>
            </a:extLst>
          </p:cNvPr>
          <p:cNvSpPr txBox="1"/>
          <p:nvPr/>
        </p:nvSpPr>
        <p:spPr>
          <a:xfrm>
            <a:off x="7387945" y="3342575"/>
            <a:ext cx="1879281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+mn-ea"/>
                <a:ea typeface="+mn-ea"/>
              </a:defRPr>
            </a:lvl1pPr>
          </a:lstStyle>
          <a:p>
            <a:pPr algn="ctr" latinLnBrk="0">
              <a:lnSpc>
                <a:spcPct val="120000"/>
              </a:lnSpc>
              <a:defRPr/>
            </a:pPr>
            <a:r>
              <a:rPr lang="ko-KR" altLang="en-US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단위 테스트 결과서 작성</a:t>
            </a:r>
            <a:endParaRPr lang="en-US" altLang="ko-KR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FA362FE-2AB8-DBE3-C798-5B2CA181678C}"/>
              </a:ext>
            </a:extLst>
          </p:cNvPr>
          <p:cNvSpPr/>
          <p:nvPr/>
        </p:nvSpPr>
        <p:spPr>
          <a:xfrm>
            <a:off x="2500100" y="4374746"/>
            <a:ext cx="1749471" cy="46367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차 단위 테스트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E05766-6A44-D3C6-8999-5D5A2A6FAEA1}"/>
              </a:ext>
            </a:extLst>
          </p:cNvPr>
          <p:cNvSpPr txBox="1"/>
          <p:nvPr/>
        </p:nvSpPr>
        <p:spPr>
          <a:xfrm>
            <a:off x="705816" y="4350383"/>
            <a:ext cx="887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QA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담당자</a:t>
            </a:r>
            <a:endParaRPr lang="en-US" altLang="ko-KR" sz="1400" b="1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A39AC0-53D4-0C1A-3C4A-8CE50F79F1BC}"/>
              </a:ext>
            </a:extLst>
          </p:cNvPr>
          <p:cNvSpPr txBox="1"/>
          <p:nvPr/>
        </p:nvSpPr>
        <p:spPr>
          <a:xfrm>
            <a:off x="7387945" y="4460547"/>
            <a:ext cx="1879281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latinLnBrk="0">
              <a:lnSpc>
                <a:spcPct val="120000"/>
              </a:lnSpc>
              <a:defRPr/>
            </a:pP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단위 테스트 결과서 작성</a:t>
            </a:r>
            <a:endParaRPr lang="en-US" altLang="ko-KR" sz="1200" b="1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3449A94B-4EC6-A823-B3D8-14122E72CF1F}"/>
              </a:ext>
            </a:extLst>
          </p:cNvPr>
          <p:cNvCxnSpPr>
            <a:stCxn id="38" idx="2"/>
            <a:endCxn id="48" idx="0"/>
          </p:cNvCxnSpPr>
          <p:nvPr/>
        </p:nvCxnSpPr>
        <p:spPr>
          <a:xfrm>
            <a:off x="3371319" y="2692583"/>
            <a:ext cx="1" cy="56419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6555B1D-4AED-E81E-86E5-FB1A51B6618E}"/>
              </a:ext>
            </a:extLst>
          </p:cNvPr>
          <p:cNvCxnSpPr>
            <a:stCxn id="48" idx="2"/>
            <a:endCxn id="53" idx="0"/>
          </p:cNvCxnSpPr>
          <p:nvPr/>
        </p:nvCxnSpPr>
        <p:spPr>
          <a:xfrm>
            <a:off x="3371320" y="3720445"/>
            <a:ext cx="3516" cy="65430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F57470B-66F6-90BC-CCDD-C2BFC581D2C4}"/>
              </a:ext>
            </a:extLst>
          </p:cNvPr>
          <p:cNvSpPr txBox="1"/>
          <p:nvPr/>
        </p:nvSpPr>
        <p:spPr>
          <a:xfrm>
            <a:off x="3545044" y="2703474"/>
            <a:ext cx="923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결함 수정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0FD8B1-1F12-5AAB-955A-BFDBEB329BF6}"/>
              </a:ext>
            </a:extLst>
          </p:cNvPr>
          <p:cNvSpPr txBox="1"/>
          <p:nvPr/>
        </p:nvSpPr>
        <p:spPr>
          <a:xfrm>
            <a:off x="3545044" y="3788306"/>
            <a:ext cx="923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결함 수정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B38BC2-B4E3-EFD2-DD8E-B880B844BA86}"/>
              </a:ext>
            </a:extLst>
          </p:cNvPr>
          <p:cNvSpPr txBox="1"/>
          <p:nvPr/>
        </p:nvSpPr>
        <p:spPr>
          <a:xfrm>
            <a:off x="5061617" y="2231053"/>
            <a:ext cx="1911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기능검증</a:t>
            </a:r>
            <a:endParaRPr lang="en-US" altLang="ko-KR" sz="1200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itchFamily="50" charset="-127"/>
              <a:ea typeface="맑은 고딕" pitchFamily="50" charset="-127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소스코드 기능 검증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99A8EF7-2AF7-0297-E6A7-284879877D76}"/>
              </a:ext>
            </a:extLst>
          </p:cNvPr>
          <p:cNvSpPr txBox="1"/>
          <p:nvPr/>
        </p:nvSpPr>
        <p:spPr>
          <a:xfrm>
            <a:off x="5061616" y="3210056"/>
            <a:ext cx="1911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기능 별 테스트</a:t>
            </a:r>
            <a:endParaRPr lang="en-US" altLang="ko-KR" sz="1200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itchFamily="50" charset="-127"/>
              <a:ea typeface="맑은 고딕" pitchFamily="50" charset="-127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개발</a:t>
            </a:r>
            <a:r>
              <a:rPr lang="en-US" altLang="ko-KR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표준 준수 여부</a:t>
            </a:r>
            <a:endParaRPr lang="en-US" altLang="ko-KR" sz="1200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itchFamily="50" charset="-127"/>
              <a:ea typeface="맑은 고딕" pitchFamily="50" charset="-127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요구사항 반영 점검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43E8E1-9880-7755-0B95-B1476846AAFB}"/>
              </a:ext>
            </a:extLst>
          </p:cNvPr>
          <p:cNvSpPr txBox="1"/>
          <p:nvPr/>
        </p:nvSpPr>
        <p:spPr>
          <a:xfrm>
            <a:off x="5061614" y="4373725"/>
            <a:ext cx="1911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단위 기능 테스트</a:t>
            </a:r>
            <a:endParaRPr lang="en-US" altLang="ko-KR" sz="1200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itchFamily="50" charset="-127"/>
              <a:ea typeface="맑은 고딕" pitchFamily="50" charset="-127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소스코드 품질점검</a:t>
            </a:r>
            <a:endParaRPr lang="en-US" altLang="ko-KR" sz="1200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itchFamily="50" charset="-127"/>
              <a:ea typeface="맑은 고딕" pitchFamily="50" charset="-127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개발 표준 준수 확인</a:t>
            </a:r>
            <a:endParaRPr lang="en-US" altLang="ko-KR" sz="1200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05C94BE-25FE-8B88-3C8D-A2D4D1C38B05}"/>
              </a:ext>
            </a:extLst>
          </p:cNvPr>
          <p:cNvSpPr/>
          <p:nvPr/>
        </p:nvSpPr>
        <p:spPr>
          <a:xfrm>
            <a:off x="2500100" y="5420563"/>
            <a:ext cx="1749471" cy="46367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차 단위 테스트</a:t>
            </a: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F1859D95-5C84-B8AA-2B67-D12F08D5E907}"/>
              </a:ext>
            </a:extLst>
          </p:cNvPr>
          <p:cNvCxnSpPr>
            <a:stCxn id="53" idx="2"/>
            <a:endCxn id="66" idx="0"/>
          </p:cNvCxnSpPr>
          <p:nvPr/>
        </p:nvCxnSpPr>
        <p:spPr>
          <a:xfrm>
            <a:off x="3374836" y="4838417"/>
            <a:ext cx="0" cy="58214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EC6E4A68-0266-476C-7B7D-135F96F6A60C}"/>
              </a:ext>
            </a:extLst>
          </p:cNvPr>
          <p:cNvSpPr txBox="1"/>
          <p:nvPr/>
        </p:nvSpPr>
        <p:spPr>
          <a:xfrm>
            <a:off x="5063552" y="5418523"/>
            <a:ext cx="1911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업무 기능 테스트</a:t>
            </a:r>
            <a:endParaRPr lang="en-US" altLang="ko-KR" sz="1200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itchFamily="50" charset="-127"/>
              <a:ea typeface="맑은 고딕" pitchFamily="50" charset="-127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ko-KR" altLang="en-US" sz="12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요구사항 반영 확인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C6A24E2-D2A7-26C5-1F12-6E6278448D33}"/>
              </a:ext>
            </a:extLst>
          </p:cNvPr>
          <p:cNvSpPr txBox="1"/>
          <p:nvPr/>
        </p:nvSpPr>
        <p:spPr>
          <a:xfrm>
            <a:off x="3545044" y="4918897"/>
            <a:ext cx="923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결함 수정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0DC7A1-2A09-BF83-9321-E78734B641BC}"/>
              </a:ext>
            </a:extLst>
          </p:cNvPr>
          <p:cNvSpPr txBox="1"/>
          <p:nvPr/>
        </p:nvSpPr>
        <p:spPr>
          <a:xfrm>
            <a:off x="705926" y="5400217"/>
            <a:ext cx="881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TF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담당자</a:t>
            </a:r>
            <a:endParaRPr lang="en-US" altLang="ko-KR" sz="1400" b="1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75F1B18-4BB5-3559-5989-F6D071D46BB8}"/>
              </a:ext>
            </a:extLst>
          </p:cNvPr>
          <p:cNvSpPr txBox="1"/>
          <p:nvPr/>
        </p:nvSpPr>
        <p:spPr>
          <a:xfrm>
            <a:off x="7387945" y="5418523"/>
            <a:ext cx="18792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ko-KR" sz="1200" b="1" dirty="0">
                <a:solidFill>
                  <a:srgbClr val="000000"/>
                </a:solidFill>
                <a:latin typeface="맑은 고딕"/>
                <a:ea typeface="맑은 고딕"/>
              </a:rPr>
              <a:t>-</a:t>
            </a:r>
          </a:p>
        </p:txBody>
      </p:sp>
      <p:cxnSp>
        <p:nvCxnSpPr>
          <p:cNvPr id="88" name="꺾인 연결선 34">
            <a:extLst>
              <a:ext uri="{FF2B5EF4-FFF2-40B4-BE49-F238E27FC236}">
                <a16:creationId xmlns:a16="http://schemas.microsoft.com/office/drawing/2014/main" id="{D3E98D7C-4DD7-5EE6-2BBA-5C434CAEAFEA}"/>
              </a:ext>
            </a:extLst>
          </p:cNvPr>
          <p:cNvCxnSpPr>
            <a:cxnSpLocks/>
          </p:cNvCxnSpPr>
          <p:nvPr/>
        </p:nvCxnSpPr>
        <p:spPr>
          <a:xfrm flipH="1" flipV="1">
            <a:off x="4248899" y="2435457"/>
            <a:ext cx="3516" cy="3236751"/>
          </a:xfrm>
          <a:prstGeom prst="bentConnector3">
            <a:avLst>
              <a:gd name="adj1" fmla="val -6501706"/>
            </a:avLst>
          </a:prstGeom>
          <a:ln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76C08189-B4FA-E0C2-03FE-55D7039F1AAC}"/>
              </a:ext>
            </a:extLst>
          </p:cNvPr>
          <p:cNvCxnSpPr>
            <a:cxnSpLocks/>
          </p:cNvCxnSpPr>
          <p:nvPr/>
        </p:nvCxnSpPr>
        <p:spPr>
          <a:xfrm>
            <a:off x="4252415" y="3488609"/>
            <a:ext cx="2228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514C7AC7-F83A-4403-EE9A-3490DBF6E967}"/>
              </a:ext>
            </a:extLst>
          </p:cNvPr>
          <p:cNvCxnSpPr>
            <a:cxnSpLocks/>
          </p:cNvCxnSpPr>
          <p:nvPr/>
        </p:nvCxnSpPr>
        <p:spPr>
          <a:xfrm>
            <a:off x="4252415" y="4616223"/>
            <a:ext cx="2228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79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456F70A7-39B9-E7B2-273A-0BB3FB7F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단위 테스트 </a:t>
            </a:r>
            <a:r>
              <a:rPr lang="ko-KR" altLang="en-US" dirty="0" err="1"/>
              <a:t>수행계획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851162E-79DF-448A-2AC1-C373711685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점검대상 및 절차 </a:t>
            </a:r>
            <a:r>
              <a:rPr lang="ko-KR" altLang="en-US" dirty="0" smtClean="0"/>
              <a:t>상세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테스트 대상 현황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E9F8BF-CD73-BC0D-12F3-C60ECD564297}"/>
              </a:ext>
            </a:extLst>
          </p:cNvPr>
          <p:cNvSpPr txBox="1">
            <a:spLocks/>
          </p:cNvSpPr>
          <p:nvPr/>
        </p:nvSpPr>
        <p:spPr>
          <a:xfrm>
            <a:off x="406085" y="1196975"/>
            <a:ext cx="9073580" cy="5211763"/>
          </a:xfrm>
          <a:prstGeom prst="rect">
            <a:avLst/>
          </a:prstGeom>
        </p:spPr>
        <p:txBody>
          <a:bodyPr lIns="0" rIns="0"/>
          <a:lstStyle>
            <a:lvl1pPr marL="227013" indent="-227013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"/>
              <a:defRPr sz="14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19100" indent="-1841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"/>
              <a:defRPr sz="12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587375" indent="-125413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12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763588" indent="-142875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tabLst>
                <a:tab pos="720725" algn="l"/>
              </a:tabLst>
              <a:defRPr sz="12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190625" indent="-117475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defRPr sz="12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 smtClean="0"/>
              <a:t>데이터허브</a:t>
            </a:r>
            <a:endParaRPr lang="en-US" altLang="ko-KR" dirty="0"/>
          </a:p>
        </p:txBody>
      </p:sp>
      <p:graphicFrame>
        <p:nvGraphicFramePr>
          <p:cNvPr id="14" name="Group 378">
            <a:extLst>
              <a:ext uri="{FF2B5EF4-FFF2-40B4-BE49-F238E27FC236}">
                <a16:creationId xmlns:a16="http://schemas.microsoft.com/office/drawing/2014/main" id="{C5591EF6-84D9-900D-71D4-FF9239311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021034"/>
              </p:ext>
            </p:extLst>
          </p:nvPr>
        </p:nvGraphicFramePr>
        <p:xfrm>
          <a:off x="426335" y="1672657"/>
          <a:ext cx="8894646" cy="3921899"/>
        </p:xfrm>
        <a:graphic>
          <a:graphicData uri="http://schemas.openxmlformats.org/drawingml/2006/table">
            <a:tbl>
              <a:tblPr/>
              <a:tblGrid>
                <a:gridCol w="2356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82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업무 </a:t>
                      </a:r>
                      <a:r>
                        <a:rPr kumimoji="1" lang="ko-KR" altLang="en-US" sz="1200" b="1" kern="1200" spc="-100" dirty="0" err="1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대분류</a:t>
                      </a:r>
                      <a:endParaRPr kumimoji="1"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 err="1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프로그램수</a:t>
                      </a:r>
                      <a:endParaRPr kumimoji="1"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주요 </a:t>
                      </a:r>
                      <a:r>
                        <a:rPr kumimoji="1" lang="ko-KR" altLang="en-US" sz="1200" b="1" kern="1200" spc="-100" dirty="0" err="1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테스트대상</a:t>
                      </a:r>
                      <a:r>
                        <a:rPr kumimoji="1" lang="ko-KR" altLang="en-US" sz="1200" b="1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endParaRPr kumimoji="1"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6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 err="1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공통기능</a:t>
                      </a: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200" kern="1200" spc="-100" dirty="0" err="1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데이터허브</a:t>
                      </a: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포털 운영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10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사용자 관리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 err="1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메인화면</a:t>
                      </a: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구성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분류체계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 err="1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비식별화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모델링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CMS.,</a:t>
                      </a:r>
                      <a:r>
                        <a:rPr kumimoji="1" lang="en-US" altLang="ko-KR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데이터 유통</a:t>
                      </a:r>
                      <a:r>
                        <a:rPr kumimoji="1" lang="en-US" altLang="ko-KR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UI , MCP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6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보안 거버넌스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(Secure Guard)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4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사용자 </a:t>
                      </a:r>
                      <a:r>
                        <a:rPr kumimoji="1" lang="ko-KR" altLang="en-US" sz="1200" kern="1200" spc="-100" dirty="0" err="1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공통관리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내부 사용자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권한 제어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시각화 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Drag &amp; Drop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0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데이터 패브릭</a:t>
                      </a:r>
                      <a:r>
                        <a:rPr kumimoji="1" lang="en-US" altLang="ko-KR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(Data Fabric)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14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통합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인터페이스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</a:t>
                      </a:r>
                      <a:r>
                        <a:rPr kumimoji="1" lang="en-US" altLang="ko-KR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UI/UX, </a:t>
                      </a:r>
                      <a:r>
                        <a:rPr kumimoji="1" lang="ko-KR" altLang="en-US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데이터 카탈로그</a:t>
                      </a:r>
                      <a:r>
                        <a:rPr kumimoji="1" lang="en-US" altLang="ko-KR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품질 검증</a:t>
                      </a:r>
                      <a:r>
                        <a:rPr kumimoji="1" lang="en-US" altLang="ko-KR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수집</a:t>
                      </a:r>
                      <a:r>
                        <a:rPr kumimoji="1" lang="en-US" altLang="ko-KR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마이그레이션</a:t>
                      </a:r>
                      <a:r>
                        <a:rPr kumimoji="1" lang="en-US" altLang="ko-KR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baseline="0" dirty="0" err="1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외부연계</a:t>
                      </a:r>
                      <a:r>
                        <a:rPr kumimoji="1" lang="en-US" altLang="ko-KR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유통</a:t>
                      </a:r>
                      <a:r>
                        <a:rPr kumimoji="1" lang="en-US" altLang="ko-KR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표준 </a:t>
                      </a:r>
                      <a:r>
                        <a:rPr kumimoji="1" lang="en-US" altLang="ko-KR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API, AI · DT </a:t>
                      </a:r>
                      <a:r>
                        <a:rPr kumimoji="1" lang="ko-KR" altLang="en-US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수집</a:t>
                      </a:r>
                      <a:r>
                        <a:rPr kumimoji="1" lang="en-US" altLang="ko-KR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통계 </a:t>
                      </a:r>
                      <a:r>
                        <a:rPr kumimoji="1" lang="en-US" altLang="ko-KR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· </a:t>
                      </a:r>
                      <a:r>
                        <a:rPr kumimoji="1" lang="ko-KR" altLang="en-US" sz="1200" kern="1200" spc="-100" baseline="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리포트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6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 err="1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개인인화</a:t>
                      </a: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대시보드 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(Dashboard)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데이터 정제 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UII, </a:t>
                      </a:r>
                      <a:r>
                        <a:rPr kumimoji="1" lang="ko-KR" altLang="en-US" sz="1200" kern="1200" spc="-100" dirty="0" err="1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생성형</a:t>
                      </a: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AI </a:t>
                      </a: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모니터링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6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데이터 무결성 모니터링 및 동기화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데이터 불일치 자동 동기화 및 복원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6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데이터 자산 분류 체계 관리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데이터 분류 등록 및 수정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897246"/>
                  </a:ext>
                </a:extLst>
              </a:tr>
              <a:tr h="4056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데이터 등급 분류 및 보안 등급 관리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 smtClean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데이터 등급 관리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089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669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E9F8BF-CD73-BC0D-12F3-C60ECD564297}"/>
              </a:ext>
            </a:extLst>
          </p:cNvPr>
          <p:cNvSpPr txBox="1">
            <a:spLocks/>
          </p:cNvSpPr>
          <p:nvPr/>
        </p:nvSpPr>
        <p:spPr>
          <a:xfrm>
            <a:off x="406085" y="1196975"/>
            <a:ext cx="9073580" cy="5211763"/>
          </a:xfrm>
          <a:prstGeom prst="rect">
            <a:avLst/>
          </a:prstGeom>
        </p:spPr>
        <p:txBody>
          <a:bodyPr lIns="0" tIns="0" rIns="0" bIns="0"/>
          <a:lstStyle>
            <a:lvl1pPr marL="227013" indent="-227013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"/>
              <a:defRPr sz="14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19100" indent="-1841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"/>
              <a:defRPr sz="12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587375" indent="-125413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12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763588" indent="-142875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tabLst>
                <a:tab pos="720725" algn="l"/>
              </a:tabLst>
              <a:defRPr sz="12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190625" indent="-117475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defRPr sz="12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결함관리 절차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sz="500" dirty="0"/>
          </a:p>
          <a:p>
            <a:r>
              <a:rPr lang="ko-KR" altLang="en-US" dirty="0"/>
              <a:t>단위 테스트 주요 산출물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456F70A7-39B9-E7B2-273A-0BB3FB7F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단위 테스트 관리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851162E-79DF-448A-2AC1-C373711685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3.1 </a:t>
            </a:r>
            <a:r>
              <a:rPr lang="ko-KR" altLang="en-US" dirty="0"/>
              <a:t>결함관리 절차 및 산출물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0677C03-452D-787E-EB26-A25A3264057D}"/>
              </a:ext>
            </a:extLst>
          </p:cNvPr>
          <p:cNvGraphicFramePr>
            <a:graphicFrameLocks noGrp="1"/>
          </p:cNvGraphicFramePr>
          <p:nvPr/>
        </p:nvGraphicFramePr>
        <p:xfrm>
          <a:off x="415925" y="1556792"/>
          <a:ext cx="9074149" cy="1864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4149">
                  <a:extLst>
                    <a:ext uri="{9D8B030D-6E8A-4147-A177-3AD203B41FA5}">
                      <a16:colId xmlns:a16="http://schemas.microsoft.com/office/drawing/2014/main" val="1188016012"/>
                    </a:ext>
                  </a:extLst>
                </a:gridCol>
              </a:tblGrid>
              <a:tr h="186477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478104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90FBE975-E1B8-4F3A-B1F2-C43EC7CF8C77}"/>
              </a:ext>
            </a:extLst>
          </p:cNvPr>
          <p:cNvGrpSpPr>
            <a:grpSpLocks/>
          </p:cNvGrpSpPr>
          <p:nvPr/>
        </p:nvGrpSpPr>
        <p:grpSpPr bwMode="auto">
          <a:xfrm>
            <a:off x="499331" y="1621364"/>
            <a:ext cx="5533789" cy="1726728"/>
            <a:chOff x="14335" y="20716"/>
            <a:chExt cx="42622" cy="17860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7DFD6B21-ECE6-4311-53C4-969713C88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17" y="20716"/>
              <a:ext cx="21440" cy="1786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89611" tIns="72000" rIns="89611" bIns="44806" anchor="ctr" anchorCtr="0" upright="1">
              <a:noAutofit/>
            </a:bodyPr>
            <a:lstStyle/>
            <a:p>
              <a:pPr algn="just">
                <a:lnSpc>
                  <a:spcPts val="1400"/>
                </a:lnSpc>
                <a:spcAft>
                  <a:spcPts val="0"/>
                </a:spcAft>
              </a:pPr>
              <a:r>
                <a:rPr lang="en-US" sz="1000" b="1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 </a:t>
              </a:r>
              <a:endParaRPr lang="ko-KR" sz="1000" b="1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9D113955-5E0F-AD74-C533-BEA6A6B12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4" y="20716"/>
              <a:ext cx="11365" cy="17860"/>
            </a:xfrm>
            <a:prstGeom prst="rect">
              <a:avLst/>
            </a:prstGeom>
            <a:solidFill>
              <a:srgbClr val="EAF1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89611" tIns="72000" rIns="89611" bIns="44806" anchor="ctr" anchorCtr="0" upright="1">
              <a:noAutofit/>
            </a:bodyPr>
            <a:lstStyle/>
            <a:p>
              <a:pPr algn="just">
                <a:lnSpc>
                  <a:spcPts val="1400"/>
                </a:lnSpc>
                <a:spcAft>
                  <a:spcPts val="0"/>
                </a:spcAft>
              </a:pPr>
              <a:r>
                <a:rPr lang="en-US" sz="1000" b="1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 </a:t>
              </a:r>
              <a:endParaRPr lang="ko-KR" sz="1000" b="1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C5545167-6EC9-57D3-19AD-E45461537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5" y="20716"/>
              <a:ext cx="8669" cy="17860"/>
            </a:xfrm>
            <a:prstGeom prst="rect">
              <a:avLst/>
            </a:prstGeom>
            <a:solidFill>
              <a:srgbClr val="DAEE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89611" tIns="72000" rIns="89611" bIns="44806" anchor="ctr" anchorCtr="0" upright="1">
              <a:noAutofit/>
            </a:bodyPr>
            <a:lstStyle/>
            <a:p>
              <a:pPr algn="just">
                <a:lnSpc>
                  <a:spcPts val="1400"/>
                </a:lnSpc>
                <a:spcAft>
                  <a:spcPts val="0"/>
                </a:spcAft>
              </a:pPr>
              <a:r>
                <a:rPr lang="en-US" sz="1000" b="1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 </a:t>
              </a:r>
              <a:endParaRPr lang="ko-KR" sz="1000" b="1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4848BE83-B0FD-A27A-C993-7D59E6325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14" y="26622"/>
              <a:ext cx="5826" cy="2699"/>
            </a:xfrm>
            <a:prstGeom prst="rect">
              <a:avLst/>
            </a:prstGeom>
            <a:solidFill>
              <a:srgbClr val="DBE5F1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ctr" anchorCtr="0" upright="1">
              <a:noAutofit/>
            </a:bodyPr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b="1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결함 등록</a:t>
              </a: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8D6DCDD8-381C-ADE1-F3DD-0E7F12CF8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4" y="26622"/>
              <a:ext cx="5826" cy="2699"/>
            </a:xfrm>
            <a:prstGeom prst="rect">
              <a:avLst/>
            </a:prstGeom>
            <a:solidFill>
              <a:srgbClr val="DBE5F1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ctr" anchorCtr="0" upright="1">
              <a:noAutofit/>
            </a:bodyPr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b="1" spc="-100" dirty="0" err="1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검토중</a:t>
              </a:r>
              <a:endParaRPr lang="ko-KR" altLang="en-US" sz="10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32E9359D-3004-DAF3-541F-B95588E62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57" y="26622"/>
              <a:ext cx="5826" cy="2699"/>
            </a:xfrm>
            <a:prstGeom prst="rect">
              <a:avLst/>
            </a:prstGeom>
            <a:solidFill>
              <a:srgbClr val="DBE5F1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ctr" anchorCtr="0" upright="1">
              <a:noAutofit/>
            </a:bodyPr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b="1" spc="-100" dirty="0" err="1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조치중</a:t>
              </a:r>
              <a:endParaRPr lang="ko-KR" altLang="en-US" sz="10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66AD4492-D160-62B8-E48D-96BF19699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2" y="26622"/>
              <a:ext cx="5810" cy="2699"/>
            </a:xfrm>
            <a:prstGeom prst="rect">
              <a:avLst/>
            </a:prstGeom>
            <a:solidFill>
              <a:srgbClr val="DBE5F1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ctr" anchorCtr="0" upright="1">
              <a:noAutofit/>
            </a:bodyPr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b="1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조치완료</a:t>
              </a: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CE4D1478-9921-D630-76AB-92E70C04E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4" y="31289"/>
              <a:ext cx="6287" cy="2699"/>
            </a:xfrm>
            <a:prstGeom prst="rect">
              <a:avLst/>
            </a:prstGeom>
            <a:solidFill>
              <a:srgbClr val="DBE5F1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ctr" anchorCtr="0" upright="1">
              <a:noAutofit/>
            </a:bodyPr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b="1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결함 아님</a:t>
              </a:r>
            </a:p>
          </p:txBody>
        </p:sp>
        <p:cxnSp>
          <p:nvCxnSpPr>
            <p:cNvPr id="19" name="AutoShape 10">
              <a:extLst>
                <a:ext uri="{FF2B5EF4-FFF2-40B4-BE49-F238E27FC236}">
                  <a16:creationId xmlns:a16="http://schemas.microsoft.com/office/drawing/2014/main" id="{B148D07E-E33F-8236-CE01-455D8E6CE483}"/>
                </a:ext>
              </a:extLst>
            </p:cNvPr>
            <p:cNvCxnSpPr>
              <a:cxnSpLocks noChangeShapeType="1"/>
              <a:stCxn id="8" idx="3"/>
              <a:endCxn id="11" idx="1"/>
            </p:cNvCxnSpPr>
            <p:nvPr/>
          </p:nvCxnSpPr>
          <p:spPr bwMode="auto">
            <a:xfrm>
              <a:off x="21240" y="27971"/>
              <a:ext cx="5334" cy="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AutoShape 11">
              <a:extLst>
                <a:ext uri="{FF2B5EF4-FFF2-40B4-BE49-F238E27FC236}">
                  <a16:creationId xmlns:a16="http://schemas.microsoft.com/office/drawing/2014/main" id="{9F1FDBF2-AB1B-7A02-9A13-A7CD9D23CFC6}"/>
                </a:ext>
              </a:extLst>
            </p:cNvPr>
            <p:cNvCxnSpPr>
              <a:cxnSpLocks noChangeShapeType="1"/>
              <a:stCxn id="11" idx="3"/>
              <a:endCxn id="16" idx="1"/>
            </p:cNvCxnSpPr>
            <p:nvPr/>
          </p:nvCxnSpPr>
          <p:spPr bwMode="auto">
            <a:xfrm>
              <a:off x="32400" y="27971"/>
              <a:ext cx="6557" cy="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12">
              <a:extLst>
                <a:ext uri="{FF2B5EF4-FFF2-40B4-BE49-F238E27FC236}">
                  <a16:creationId xmlns:a16="http://schemas.microsoft.com/office/drawing/2014/main" id="{F756AC68-7511-5807-E3A2-6A097FB99365}"/>
                </a:ext>
              </a:extLst>
            </p:cNvPr>
            <p:cNvCxnSpPr>
              <a:cxnSpLocks noChangeShapeType="1"/>
              <a:stCxn id="16" idx="3"/>
              <a:endCxn id="17" idx="1"/>
            </p:cNvCxnSpPr>
            <p:nvPr/>
          </p:nvCxnSpPr>
          <p:spPr bwMode="auto">
            <a:xfrm>
              <a:off x="44783" y="27971"/>
              <a:ext cx="3699" cy="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3">
              <a:extLst>
                <a:ext uri="{FF2B5EF4-FFF2-40B4-BE49-F238E27FC236}">
                  <a16:creationId xmlns:a16="http://schemas.microsoft.com/office/drawing/2014/main" id="{13C602AA-0615-5F64-7F4D-DE1D883DB37A}"/>
                </a:ext>
              </a:extLst>
            </p:cNvPr>
            <p:cNvCxnSpPr>
              <a:cxnSpLocks noChangeShapeType="1"/>
              <a:stCxn id="11" idx="3"/>
              <a:endCxn id="18" idx="1"/>
            </p:cNvCxnSpPr>
            <p:nvPr/>
          </p:nvCxnSpPr>
          <p:spPr bwMode="auto">
            <a:xfrm>
              <a:off x="21240" y="27971"/>
              <a:ext cx="5334" cy="4667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AutoShape 13">
              <a:extLst>
                <a:ext uri="{FF2B5EF4-FFF2-40B4-BE49-F238E27FC236}">
                  <a16:creationId xmlns:a16="http://schemas.microsoft.com/office/drawing/2014/main" id="{76055112-FE4A-5DE5-99EF-3D0C7D4972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400" y="27971"/>
              <a:ext cx="6601" cy="4714"/>
            </a:xfrm>
            <a:prstGeom prst="bentConnector3">
              <a:avLst>
                <a:gd name="adj1" fmla="val 63125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" name="Rectangle 9">
              <a:extLst>
                <a:ext uri="{FF2B5EF4-FFF2-40B4-BE49-F238E27FC236}">
                  <a16:creationId xmlns:a16="http://schemas.microsoft.com/office/drawing/2014/main" id="{F53A7076-204F-7350-6456-29EE59FF8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1" y="31336"/>
              <a:ext cx="6287" cy="2698"/>
            </a:xfrm>
            <a:prstGeom prst="rect">
              <a:avLst/>
            </a:prstGeom>
            <a:solidFill>
              <a:srgbClr val="DBE5F1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ctr" anchorCtr="0" upright="1">
              <a:noAutofit/>
            </a:bodyPr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b="1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결함 아님</a:t>
              </a:r>
            </a:p>
          </p:txBody>
        </p:sp>
        <p:sp>
          <p:nvSpPr>
            <p:cNvPr id="25" name="Rectangle 4">
              <a:extLst>
                <a:ext uri="{FF2B5EF4-FFF2-40B4-BE49-F238E27FC236}">
                  <a16:creationId xmlns:a16="http://schemas.microsoft.com/office/drawing/2014/main" id="{A29D54CA-2300-B704-E87C-5020B1E3D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9" y="21142"/>
              <a:ext cx="7714" cy="2762"/>
            </a:xfrm>
            <a:prstGeom prst="rect">
              <a:avLst/>
            </a:prstGeom>
            <a:solidFill>
              <a:srgbClr val="B6DD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89611" tIns="72000" rIns="89611" bIns="44806" anchor="ctr" anchorCtr="0" upright="1">
              <a:noAutofit/>
            </a:bodyPr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000" b="1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TF</a:t>
              </a:r>
              <a:r>
                <a:rPr lang="ko-KR" altLang="en-US" sz="1000" b="1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담당</a:t>
              </a:r>
              <a:r>
                <a:rPr lang="en-US" altLang="ko-KR" sz="1000" b="1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b="1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테스트</a:t>
              </a:r>
            </a:p>
          </p:txBody>
        </p:sp>
        <p:sp>
          <p:nvSpPr>
            <p:cNvPr id="26" name="Rectangle 4">
              <a:extLst>
                <a:ext uri="{FF2B5EF4-FFF2-40B4-BE49-F238E27FC236}">
                  <a16:creationId xmlns:a16="http://schemas.microsoft.com/office/drawing/2014/main" id="{923D343D-1F37-9F93-1934-8A0622982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96" y="21141"/>
              <a:ext cx="10362" cy="2762"/>
            </a:xfrm>
            <a:prstGeom prst="rect">
              <a:avLst/>
            </a:prstGeom>
            <a:solidFill>
              <a:srgbClr val="D6E3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89611" tIns="72000" rIns="89611" bIns="44806" anchor="ctr" anchorCtr="0" upright="1">
              <a:noAutofit/>
            </a:bodyPr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b="1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QA</a:t>
              </a:r>
              <a:r>
                <a:rPr lang="ko-KR" altLang="en-US" sz="1000" b="1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품질담당</a:t>
              </a:r>
            </a:p>
          </p:txBody>
        </p:sp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F4F43009-E16B-A525-2CA3-1F1A164E2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1" y="21141"/>
              <a:ext cx="20597" cy="276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89611" tIns="72000" rIns="89611" bIns="44806" anchor="ctr" anchorCtr="0" upright="1">
              <a:noAutofit/>
            </a:bodyPr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b="1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개발자</a:t>
              </a: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59F7190A-D500-D1EB-1D68-00B07432F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7" y="34715"/>
              <a:ext cx="5826" cy="2699"/>
            </a:xfrm>
            <a:prstGeom prst="rect">
              <a:avLst/>
            </a:prstGeom>
            <a:solidFill>
              <a:srgbClr val="DBE5F1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ctr" anchorCtr="0" upright="1">
              <a:noAutofit/>
            </a:bodyPr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b="1" spc="-100" dirty="0">
                  <a:ln>
                    <a:solidFill>
                      <a:srgbClr val="0C376A">
                        <a:alpha val="0"/>
                      </a:srgbClr>
                    </a:solidFill>
                  </a:ln>
                  <a:latin typeface="맑은 고딕" pitchFamily="50" charset="-127"/>
                  <a:ea typeface="맑은 고딕" pitchFamily="50" charset="-127"/>
                </a:rPr>
                <a:t>조치확인</a:t>
              </a:r>
            </a:p>
          </p:txBody>
        </p:sp>
        <p:cxnSp>
          <p:nvCxnSpPr>
            <p:cNvPr id="29" name="AutoShape 13">
              <a:extLst>
                <a:ext uri="{FF2B5EF4-FFF2-40B4-BE49-F238E27FC236}">
                  <a16:creationId xmlns:a16="http://schemas.microsoft.com/office/drawing/2014/main" id="{284B5A31-6F3C-D5C5-2D87-8722891BDF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32948" y="17626"/>
              <a:ext cx="6744" cy="30134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AutoShape 13">
              <a:extLst>
                <a:ext uri="{FF2B5EF4-FFF2-40B4-BE49-F238E27FC236}">
                  <a16:creationId xmlns:a16="http://schemas.microsoft.com/office/drawing/2014/main" id="{C8987A14-2EE9-973C-CCE8-380DA650EE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15637" y="32011"/>
              <a:ext cx="5394" cy="1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4582CC-E5B4-F306-05D2-464C5B0BF001}"/>
              </a:ext>
            </a:extLst>
          </p:cNvPr>
          <p:cNvSpPr/>
          <p:nvPr/>
        </p:nvSpPr>
        <p:spPr>
          <a:xfrm>
            <a:off x="6099856" y="1615300"/>
            <a:ext cx="3379810" cy="1806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auto">
              <a:lnSpc>
                <a:spcPts val="1500"/>
              </a:lnSpc>
              <a:spcAft>
                <a:spcPts val="0"/>
              </a:spcAft>
              <a:buSzPts val="600"/>
              <a:buFont typeface="Wingdings" panose="05000000000000000000" pitchFamily="2" charset="2"/>
              <a:buChar char="l"/>
              <a:tabLst>
                <a:tab pos="504190" algn="l"/>
              </a:tabLst>
            </a:pPr>
            <a:r>
              <a:rPr lang="ko-KR" altLang="ko-KR" sz="1100" b="1" spc="-100" dirty="0" err="1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검토중</a:t>
            </a:r>
            <a:r>
              <a:rPr lang="en-US" altLang="ko-KR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 : QA</a:t>
            </a: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가</a:t>
            </a:r>
            <a:r>
              <a:rPr lang="ko-KR" altLang="ko-KR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 해당 결함을 담당 개발자에게 할당한 상태</a:t>
            </a:r>
          </a:p>
          <a:p>
            <a:pPr marL="342900" indent="-342900" fontAlgn="auto">
              <a:lnSpc>
                <a:spcPts val="1500"/>
              </a:lnSpc>
              <a:spcAft>
                <a:spcPts val="0"/>
              </a:spcAft>
              <a:buSzPts val="600"/>
              <a:buFont typeface="Wingdings" panose="05000000000000000000" pitchFamily="2" charset="2"/>
              <a:buChar char="l"/>
              <a:tabLst>
                <a:tab pos="504190" algn="l"/>
              </a:tabLst>
            </a:pPr>
            <a:r>
              <a:rPr lang="ko-KR" altLang="ko-KR" sz="1100" b="1" spc="-100" dirty="0" err="1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조치중</a:t>
            </a:r>
            <a:r>
              <a:rPr lang="en-US" altLang="ko-KR" sz="11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 : </a:t>
            </a:r>
            <a:r>
              <a:rPr lang="ko-KR" altLang="ko-KR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개발자가 해당 결함을 확인하고 수정중인 상태</a:t>
            </a:r>
          </a:p>
          <a:p>
            <a:pPr marL="342900" indent="-342900" fontAlgn="auto">
              <a:lnSpc>
                <a:spcPts val="1500"/>
              </a:lnSpc>
              <a:spcAft>
                <a:spcPts val="0"/>
              </a:spcAft>
              <a:buSzPts val="600"/>
              <a:buFont typeface="Wingdings" panose="05000000000000000000" pitchFamily="2" charset="2"/>
              <a:buChar char="l"/>
              <a:tabLst>
                <a:tab pos="504190" algn="l"/>
              </a:tabLst>
            </a:pPr>
            <a:r>
              <a:rPr lang="ko-KR" altLang="ko-KR" sz="11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조치완료</a:t>
            </a:r>
            <a:r>
              <a:rPr lang="en-US" altLang="ko-KR" sz="11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 : </a:t>
            </a:r>
            <a:r>
              <a:rPr lang="ko-KR" altLang="ko-KR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개발자가 해당 결함의 오류사항을 수정하여 테스트환경에 반영하고 확인자가 재테스트를 완료한 상태</a:t>
            </a:r>
          </a:p>
          <a:p>
            <a:pPr marL="342900" indent="-342900" fontAlgn="auto">
              <a:lnSpc>
                <a:spcPts val="1500"/>
              </a:lnSpc>
              <a:spcAft>
                <a:spcPts val="0"/>
              </a:spcAft>
              <a:buSzPts val="600"/>
              <a:buFont typeface="Wingdings" panose="05000000000000000000" pitchFamily="2" charset="2"/>
              <a:buChar char="l"/>
              <a:tabLst>
                <a:tab pos="504190" algn="l"/>
              </a:tabLst>
            </a:pPr>
            <a:r>
              <a:rPr lang="ko-KR" altLang="ko-KR" sz="11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결함</a:t>
            </a:r>
            <a:r>
              <a:rPr lang="en-US" altLang="ko-KR" sz="11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ko-KR" sz="11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아님</a:t>
            </a:r>
            <a:r>
              <a:rPr lang="en-US" altLang="ko-KR" sz="11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 : </a:t>
            </a:r>
            <a:r>
              <a:rPr lang="ko-KR" altLang="ko-KR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결함 검토 결과</a:t>
            </a:r>
            <a:r>
              <a:rPr lang="en-US" altLang="ko-KR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ko-KR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itchFamily="50" charset="-127"/>
                <a:ea typeface="맑은 고딕" pitchFamily="50" charset="-127"/>
              </a:rPr>
              <a:t>테스트 오류 등의 이유로 결함이 아닌 것으로 판단된 경우</a:t>
            </a:r>
          </a:p>
        </p:txBody>
      </p:sp>
      <p:graphicFrame>
        <p:nvGraphicFramePr>
          <p:cNvPr id="33" name="Group 378">
            <a:extLst>
              <a:ext uri="{FF2B5EF4-FFF2-40B4-BE49-F238E27FC236}">
                <a16:creationId xmlns:a16="http://schemas.microsoft.com/office/drawing/2014/main" id="{E2DA02C6-243A-AD2A-63F5-C2096971582A}"/>
              </a:ext>
            </a:extLst>
          </p:cNvPr>
          <p:cNvGraphicFramePr>
            <a:graphicFrameLocks noGrp="1"/>
          </p:cNvGraphicFramePr>
          <p:nvPr/>
        </p:nvGraphicFramePr>
        <p:xfrm>
          <a:off x="415925" y="3871512"/>
          <a:ext cx="9074148" cy="2520000"/>
        </p:xfrm>
        <a:graphic>
          <a:graphicData uri="http://schemas.openxmlformats.org/drawingml/2006/table">
            <a:tbl>
              <a:tblPr/>
              <a:tblGrid>
                <a:gridCol w="1598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7886">
                  <a:extLst>
                    <a:ext uri="{9D8B030D-6E8A-4147-A177-3AD203B41FA5}">
                      <a16:colId xmlns:a16="http://schemas.microsoft.com/office/drawing/2014/main" val="3815778065"/>
                    </a:ext>
                  </a:extLst>
                </a:gridCol>
                <a:gridCol w="6167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산출물명</a:t>
                      </a:r>
                      <a:endParaRPr kumimoji="1"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담당 조직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내용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단위테스트계획서</a:t>
                      </a:r>
                      <a:endParaRPr kumimoji="1" lang="ko-KR" altLang="en-US" sz="12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QA</a:t>
                      </a: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품질담당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indent="-87313" algn="l" rtl="0" fontAlgn="base" latinLnBrk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200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총괄테스트계획서의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내용에 준하여 기술한다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단위테스트시나리오</a:t>
                      </a:r>
                      <a:endParaRPr kumimoji="1" lang="ko-KR" altLang="en-US" sz="12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개발팀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indent="-87313" algn="l" rtl="0" fontAlgn="base" latinLnBrk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단위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프로그램 내의 업무 흐름에 대한 정확성을 보장하고 최종 사용자 환경에서 요청되는 업무에 대해 확인할 수 있는 단위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테스트를 기술한다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각각의 단위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테스트에 대해 테스트 케이스와 시나리오 및 예상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결과 등을 정의한다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결함관리시스템</a:t>
                      </a:r>
                      <a:endParaRPr kumimoji="1" lang="en-US" altLang="ko-KR" sz="12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개발팀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indent="-87313" algn="l" rtl="0" fontAlgn="base" latinLnBrk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 수행 시 발생된 오류 사항을 결함관리시스템을 통해 등록하며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결함에 대한 시정조치 담당자 지정 및 조치가 완료될 때까지 관리한다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단위테스트결과서</a:t>
                      </a:r>
                      <a:endParaRPr kumimoji="1" lang="ko-KR" altLang="en-US" sz="12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QA</a:t>
                      </a:r>
                      <a:r>
                        <a:rPr kumimoji="1" lang="ko-KR" altLang="en-US" sz="12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품질담당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indent="-87313" algn="l" rtl="0" fontAlgn="base" latinLnBrk="1">
                        <a:lnSpc>
                          <a:spcPts val="1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단위 테스트 대상 프로그램과 테스트 일자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 내용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입력 데이터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수행결과 등 요약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기술한다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145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456F70A7-39B9-E7B2-273A-0BB3FB7F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단위 테스트 관리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851162E-79DF-448A-2AC1-C373711685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3.2 </a:t>
            </a:r>
            <a:r>
              <a:rPr lang="ko-KR" altLang="en-US" dirty="0"/>
              <a:t>관리지표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E9F8BF-CD73-BC0D-12F3-C60ECD564297}"/>
              </a:ext>
            </a:extLst>
          </p:cNvPr>
          <p:cNvSpPr txBox="1">
            <a:spLocks/>
          </p:cNvSpPr>
          <p:nvPr/>
        </p:nvSpPr>
        <p:spPr>
          <a:xfrm>
            <a:off x="406085" y="1196975"/>
            <a:ext cx="9073580" cy="5211763"/>
          </a:xfrm>
          <a:prstGeom prst="rect">
            <a:avLst/>
          </a:prstGeom>
        </p:spPr>
        <p:txBody>
          <a:bodyPr lIns="0" rIns="0"/>
          <a:lstStyle>
            <a:lvl1pPr marL="227013" indent="-227013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"/>
              <a:defRPr sz="14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19100" indent="-1841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"/>
              <a:defRPr sz="12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587375" indent="-125413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12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763588" indent="-142875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tabLst>
                <a:tab pos="720725" algn="l"/>
              </a:tabLst>
              <a:defRPr sz="12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190625" indent="-117475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defRPr sz="12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단위 테스트 완료 기준</a:t>
            </a:r>
            <a:endParaRPr lang="en-US" altLang="ko-KR" dirty="0"/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ko-KR" altLang="en-US" sz="1200" b="0" spc="-100" dirty="0">
                <a:ln>
                  <a:solidFill>
                    <a:srgbClr val="0C376A">
                      <a:alpha val="0"/>
                    </a:srgbClr>
                  </a:solidFill>
                </a:ln>
              </a:rPr>
              <a:t>단위 테스트 완료 기준은 향후 통합 테스트 진행 여부의 기준 근거로 활용하며</a:t>
            </a:r>
            <a:r>
              <a:rPr lang="en-US" altLang="ko-KR" sz="1200" b="0" spc="-100" dirty="0">
                <a:ln>
                  <a:solidFill>
                    <a:srgbClr val="0C376A">
                      <a:alpha val="0"/>
                    </a:srgbClr>
                  </a:solidFill>
                </a:ln>
              </a:rPr>
              <a:t>,</a:t>
            </a:r>
            <a:r>
              <a:rPr lang="ko-KR" altLang="en-US" sz="1200" b="0" spc="-100" dirty="0">
                <a:ln>
                  <a:solidFill>
                    <a:srgbClr val="0C376A">
                      <a:alpha val="0"/>
                    </a:srgbClr>
                  </a:solidFill>
                </a:ln>
              </a:rPr>
              <a:t> 기능적 결함을 제거하여 프로그램의 완성도를 높인다</a:t>
            </a:r>
            <a:r>
              <a:rPr lang="en-US" altLang="ko-KR" sz="1200" b="0" spc="-100" dirty="0">
                <a:ln>
                  <a:solidFill>
                    <a:srgbClr val="0C376A">
                      <a:alpha val="0"/>
                    </a:srgbClr>
                  </a:solidFill>
                </a:ln>
              </a:rPr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sz="500" dirty="0"/>
          </a:p>
          <a:p>
            <a:r>
              <a:rPr lang="ko-KR" altLang="en-US" dirty="0"/>
              <a:t>단위 테스트 진척 관리 지표</a:t>
            </a:r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197B7B-66FB-5920-973F-4EA22BE44410}"/>
              </a:ext>
            </a:extLst>
          </p:cNvPr>
          <p:cNvSpPr/>
          <p:nvPr/>
        </p:nvSpPr>
        <p:spPr>
          <a:xfrm>
            <a:off x="7246344" y="1209707"/>
            <a:ext cx="2253572" cy="295466"/>
          </a:xfrm>
          <a:prstGeom prst="rect">
            <a:avLst/>
          </a:prstGeom>
        </p:spPr>
        <p:txBody>
          <a:bodyPr wrap="squar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fontAlgn="ctr" hangingPunct="1">
              <a:lnSpc>
                <a:spcPct val="120000"/>
              </a:lnSpc>
            </a:pPr>
            <a:r>
              <a:rPr lang="en-US" altLang="ko-KR" sz="1100" b="1" dirty="0">
                <a:ea typeface="맑은 고딕" panose="020B0503020000020004" pitchFamily="50" charset="-127"/>
              </a:rPr>
              <a:t>※ </a:t>
            </a:r>
            <a:r>
              <a:rPr lang="ko-KR" altLang="en-US" sz="1100" b="1" dirty="0">
                <a:ea typeface="맑은 고딕" panose="020B0503020000020004" pitchFamily="50" charset="-127"/>
              </a:rPr>
              <a:t>기준 지표 </a:t>
            </a:r>
            <a:r>
              <a:rPr lang="en-US" altLang="ko-KR" sz="1100" b="1" dirty="0">
                <a:ea typeface="맑은 고딕" panose="020B0503020000020004" pitchFamily="50" charset="-127"/>
              </a:rPr>
              <a:t>: </a:t>
            </a:r>
            <a:r>
              <a:rPr lang="ko-KR" altLang="en-US" sz="1100" b="1" dirty="0" err="1">
                <a:ea typeface="맑은 고딕" panose="020B0503020000020004" pitchFamily="50" charset="-127"/>
              </a:rPr>
              <a:t>단위테스트결과서</a:t>
            </a:r>
            <a:endParaRPr lang="en-US" altLang="ko-KR" sz="1100" b="1" dirty="0">
              <a:ea typeface="맑은 고딕" panose="020B0503020000020004" pitchFamily="50" charset="-127"/>
            </a:endParaRPr>
          </a:p>
        </p:txBody>
      </p:sp>
      <p:graphicFrame>
        <p:nvGraphicFramePr>
          <p:cNvPr id="13" name="Group 413">
            <a:extLst>
              <a:ext uri="{FF2B5EF4-FFF2-40B4-BE49-F238E27FC236}">
                <a16:creationId xmlns:a16="http://schemas.microsoft.com/office/drawing/2014/main" id="{4CEA42C3-ADE0-A308-3889-1E183FD7F409}"/>
              </a:ext>
            </a:extLst>
          </p:cNvPr>
          <p:cNvGraphicFramePr>
            <a:graphicFrameLocks noGrp="1"/>
          </p:cNvGraphicFramePr>
          <p:nvPr/>
        </p:nvGraphicFramePr>
        <p:xfrm>
          <a:off x="426335" y="1908848"/>
          <a:ext cx="9053330" cy="1512000"/>
        </p:xfrm>
        <a:graphic>
          <a:graphicData uri="http://schemas.openxmlformats.org/drawingml/2006/table">
            <a:tbl>
              <a:tblPr/>
              <a:tblGrid>
                <a:gridCol w="186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완료 기준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계산식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비 고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 </a:t>
                      </a:r>
                      <a:r>
                        <a:rPr kumimoji="1" lang="ko-KR" altLang="en-US" sz="1200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완료율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: 100% 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(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최종 완료 화면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보고서 수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 (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전체 테스트 대상 화면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보고서 수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최종 완료 배치프로그램 수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전체 테스트대상 배치프로그램 수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타당한 사유가 있어서 개발 단계 이후 조치하기로 합의된 사항은 제외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결함 </a:t>
                      </a:r>
                      <a:r>
                        <a:rPr kumimoji="1" lang="ko-KR" altLang="en-US" sz="1200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조치율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: 100%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조치 완료 결함 수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전체 조치 대상 결함 수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Group 378">
            <a:extLst>
              <a:ext uri="{FF2B5EF4-FFF2-40B4-BE49-F238E27FC236}">
                <a16:creationId xmlns:a16="http://schemas.microsoft.com/office/drawing/2014/main" id="{C5591EF6-84D9-900D-71D4-FF9239311F5D}"/>
              </a:ext>
            </a:extLst>
          </p:cNvPr>
          <p:cNvGraphicFramePr>
            <a:graphicFrameLocks noGrp="1"/>
          </p:cNvGraphicFramePr>
          <p:nvPr/>
        </p:nvGraphicFramePr>
        <p:xfrm>
          <a:off x="426335" y="4149080"/>
          <a:ext cx="9053330" cy="2160000"/>
        </p:xfrm>
        <a:graphic>
          <a:graphicData uri="http://schemas.openxmlformats.org/drawingml/2006/table">
            <a:tbl>
              <a:tblPr/>
              <a:tblGrid>
                <a:gridCol w="1876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4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9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주요 관리 항목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진척 관리 지표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내 용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관리 주기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진척률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개발자 테스트 </a:t>
                      </a:r>
                      <a:r>
                        <a:rPr kumimoji="1" lang="ko-KR" altLang="en-US" sz="1200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진척률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완료 건수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전체 수행 대상 건수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QA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품질점검 </a:t>
                      </a:r>
                      <a:r>
                        <a:rPr kumimoji="1" lang="ko-KR" altLang="en-US" sz="1200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진척률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QA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검토 완료 건수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전체 수행 대상 건수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업무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TF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담당 테스트 </a:t>
                      </a:r>
                      <a:r>
                        <a:rPr kumimoji="1" lang="ko-KR" altLang="en-US" sz="1200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진척률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TF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담당 검토 완료 건수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전체 수행 대상 건수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개선사항 </a:t>
                      </a:r>
                      <a:r>
                        <a:rPr kumimoji="1" lang="ko-KR" altLang="en-US" sz="1200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조치율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단위 테스트 개선사항 </a:t>
                      </a:r>
                      <a:r>
                        <a:rPr kumimoji="1" lang="ko-KR" altLang="en-US" sz="1200" kern="1200" spc="-10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조치율</a:t>
                      </a:r>
                      <a:endParaRPr kumimoji="1" lang="ko-KR" altLang="en-US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개선사항 반영 건수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전체 개선사항 건수</a:t>
                      </a:r>
                      <a:endParaRPr kumimoji="1" lang="en-US" altLang="ko-KR" sz="120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생산성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개발자 테스트 평균 생산성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일일 평균 테스트 완료 건수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화면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보고서 등 </a:t>
                      </a:r>
                      <a:r>
                        <a:rPr kumimoji="1" lang="en-US" altLang="ko-KR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매월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9163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456F70A7-39B9-E7B2-273A-0BB3FB7F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단위 테스트 관리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851162E-79DF-448A-2AC1-C373711685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고려사항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77F4DF-2046-9CAA-2E5C-3775FBFE507A}"/>
              </a:ext>
            </a:extLst>
          </p:cNvPr>
          <p:cNvSpPr/>
          <p:nvPr/>
        </p:nvSpPr>
        <p:spPr>
          <a:xfrm>
            <a:off x="2675651" y="1412776"/>
            <a:ext cx="6733478" cy="151770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>
            <a:lvl1pPr marL="171450" indent="-1714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mar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메인 화면 및 보고서를 대상으로 함</a:t>
            </a:r>
          </a:p>
          <a:p>
            <a:pPr marL="0" indent="0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   </a:t>
            </a:r>
            <a:r>
              <a:rPr lang="en-US" altLang="ko-KR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-  </a:t>
            </a:r>
            <a:r>
              <a:rPr lang="ko-KR" altLang="en-US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메인 화면 외 팝업</a:t>
            </a:r>
            <a:r>
              <a:rPr lang="en-US" altLang="ko-KR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/</a:t>
            </a:r>
            <a:r>
              <a:rPr lang="ko-KR" altLang="en-US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탭</a:t>
            </a:r>
            <a:r>
              <a:rPr lang="en-US" altLang="ko-KR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/</a:t>
            </a:r>
            <a:r>
              <a:rPr lang="ko-KR" altLang="en-US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보고서 화면은 단위 테스트 시나리오 기준으로 테스트 진행</a:t>
            </a:r>
            <a:endParaRPr lang="en-US" altLang="ko-KR" sz="1400" spc="-100" dirty="0">
              <a:ln>
                <a:solidFill>
                  <a:srgbClr val="0C376A">
                    <a:alpha val="0"/>
                  </a:srgbClr>
                </a:solidFill>
              </a:ln>
              <a:ea typeface="맑은 고딕" pitchFamily="50" charset="-127"/>
            </a:endParaRPr>
          </a:p>
          <a:p>
            <a:pPr marL="0" indent="0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   -  </a:t>
            </a:r>
            <a:r>
              <a:rPr lang="ko-KR" altLang="en-US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배치 프로그램 검증은 별도 진행 예정</a:t>
            </a:r>
            <a:endParaRPr lang="en-US" altLang="ko-KR" sz="1400" spc="-100" dirty="0">
              <a:ln>
                <a:solidFill>
                  <a:srgbClr val="0C376A">
                    <a:alpha val="0"/>
                  </a:srgbClr>
                </a:solidFill>
              </a:ln>
              <a:ea typeface="맑은 고딕" pitchFamily="50" charset="-127"/>
            </a:endParaRPr>
          </a:p>
          <a:p>
            <a:pPr marL="0" indent="0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   -  </a:t>
            </a:r>
            <a:r>
              <a:rPr lang="ko-KR" altLang="en-US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업무처리절차 테스트는 통합 테스트 단계에서 수행 예정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9B6B55-43A6-0C79-6771-1E92812E7F3E}"/>
              </a:ext>
            </a:extLst>
          </p:cNvPr>
          <p:cNvSpPr/>
          <p:nvPr/>
        </p:nvSpPr>
        <p:spPr>
          <a:xfrm>
            <a:off x="567256" y="1412776"/>
            <a:ext cx="1939389" cy="1517709"/>
          </a:xfrm>
          <a:prstGeom prst="rect">
            <a:avLst/>
          </a:prstGeom>
          <a:solidFill>
            <a:sysClr val="windowText" lastClr="000000">
              <a:lumMod val="50000"/>
              <a:lumOff val="50000"/>
            </a:sysClr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/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ea typeface="맑은 고딕" pitchFamily="50" charset="-127"/>
              </a:rPr>
              <a:t>화면 위주</a:t>
            </a:r>
            <a:endParaRPr lang="en-US" altLang="ko-KR" sz="1400" b="1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schemeClr val="bg1"/>
              </a:solidFill>
              <a:ea typeface="맑은 고딕" pitchFamily="50" charset="-127"/>
            </a:endParaRPr>
          </a:p>
          <a:p>
            <a:pPr algn="ctr" eaLnBrk="1" latinLnBrk="0" hangingPunct="1"/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ea typeface="맑은 고딕" pitchFamily="50" charset="-127"/>
              </a:rPr>
              <a:t>테스트 수행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2EFAFF-EA45-EDE4-5818-F18A9ED9D368}"/>
              </a:ext>
            </a:extLst>
          </p:cNvPr>
          <p:cNvSpPr/>
          <p:nvPr/>
        </p:nvSpPr>
        <p:spPr>
          <a:xfrm>
            <a:off x="2684018" y="3082759"/>
            <a:ext cx="6733478" cy="295844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>
            <a:lvl1pPr marL="171450" indent="-1714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개발이 진행되는 서버 및 </a:t>
            </a:r>
            <a:r>
              <a:rPr lang="en-US" altLang="ko-KR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DB</a:t>
            </a: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에서 테스트를 수행하는 관계로 테스트 검증 중            일부 서비스 제공이 원활하지 않을 수 있음</a:t>
            </a:r>
            <a:r>
              <a:rPr kumimoji="0" lang="en-US" altLang="ko-KR" sz="1400" b="1" dirty="0">
                <a:solidFill>
                  <a:srgbClr val="000000"/>
                </a:solidFill>
                <a:latin typeface="+mn-ea"/>
                <a:ea typeface="+mn-ea"/>
              </a:rPr>
              <a:t/>
            </a:r>
            <a:br>
              <a:rPr kumimoji="0" lang="en-US" altLang="ko-KR" sz="1400" b="1" dirty="0">
                <a:solidFill>
                  <a:srgbClr val="000000"/>
                </a:solidFill>
                <a:latin typeface="+mn-ea"/>
                <a:ea typeface="+mn-ea"/>
              </a:rPr>
            </a:br>
            <a:r>
              <a:rPr lang="en-US" altLang="ko-KR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- </a:t>
            </a:r>
            <a:r>
              <a:rPr lang="ko-KR" altLang="en-US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기능 테스트 시 반복 현상</a:t>
            </a:r>
            <a:r>
              <a:rPr lang="en-US" altLang="ko-KR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 (Infinite Loop), </a:t>
            </a:r>
            <a:r>
              <a:rPr lang="ko-KR" altLang="en-US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시스템 멈춤</a:t>
            </a:r>
            <a:r>
              <a:rPr lang="en-US" altLang="ko-KR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/</a:t>
            </a:r>
            <a:r>
              <a:rPr lang="ko-KR" altLang="en-US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재시작</a:t>
            </a:r>
            <a:r>
              <a:rPr lang="en-US" altLang="ko-KR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 </a:t>
            </a:r>
            <a:r>
              <a:rPr lang="ko-KR" altLang="en-US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등</a:t>
            </a:r>
            <a:endParaRPr lang="en-US" altLang="ko-KR" sz="1400" spc="-100" dirty="0">
              <a:ln>
                <a:solidFill>
                  <a:srgbClr val="0C376A">
                    <a:alpha val="0"/>
                  </a:srgbClr>
                </a:solidFill>
              </a:ln>
              <a:ea typeface="맑은 고딕" pitchFamily="50" charset="-127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ko-KR" altLang="en-US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   </a:t>
            </a:r>
            <a:r>
              <a:rPr lang="en-US" altLang="ko-KR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- </a:t>
            </a:r>
            <a:r>
              <a:rPr lang="ko-KR" altLang="en-US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데이터 이관 수행 시 테스트 데이터 삭제</a:t>
            </a:r>
            <a:r>
              <a:rPr lang="en-US" altLang="ko-KR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, </a:t>
            </a:r>
            <a:r>
              <a:rPr lang="ko-KR" altLang="en-US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성능 이슈 발생 가능</a:t>
            </a:r>
            <a:endParaRPr lang="en-US" altLang="ko-KR" sz="1400" spc="-100" dirty="0">
              <a:ln>
                <a:solidFill>
                  <a:srgbClr val="0C376A">
                    <a:alpha val="0"/>
                  </a:srgbClr>
                </a:solidFill>
              </a:ln>
              <a:ea typeface="맑은 고딕" pitchFamily="50" charset="-127"/>
            </a:endParaRPr>
          </a:p>
          <a:p>
            <a:pPr eaLnBrk="1" latinLnBrk="0" hangingPunct="1">
              <a:lnSpc>
                <a:spcPct val="150000"/>
              </a:lnSpc>
            </a:pPr>
            <a:endParaRPr kumimoji="0" lang="en-US" altLang="ko-KR" sz="13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고객 화면 검토 결과에 대한 반영 진행</a:t>
            </a:r>
            <a:endParaRPr lang="en-US" altLang="ko-KR" sz="1400" b="1" spc="-100" dirty="0">
              <a:ln>
                <a:solidFill>
                  <a:srgbClr val="0C376A">
                    <a:alpha val="0"/>
                  </a:srgbClr>
                </a:solidFill>
              </a:ln>
              <a:ea typeface="맑은 고딕" pitchFamily="50" charset="-127"/>
            </a:endParaRPr>
          </a:p>
          <a:p>
            <a:pPr marL="0" indent="0" latinLnBrk="0">
              <a:lnSpc>
                <a:spcPct val="150000"/>
              </a:lnSpc>
            </a:pPr>
            <a:r>
              <a:rPr lang="ko-KR" altLang="en-US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   </a:t>
            </a:r>
            <a:r>
              <a:rPr lang="en-US" altLang="ko-KR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- </a:t>
            </a:r>
            <a:r>
              <a:rPr lang="ko-KR" altLang="en-US" sz="1400" spc="-100" dirty="0">
                <a:ln>
                  <a:solidFill>
                    <a:srgbClr val="0C376A">
                      <a:alpha val="0"/>
                    </a:srgbClr>
                  </a:solidFill>
                </a:ln>
                <a:ea typeface="맑은 고딕" pitchFamily="50" charset="-127"/>
              </a:rPr>
              <a:t>화면 기능 변경이나 테스트 시나리오 변경 가능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131439-867A-0D4E-0A78-3119B11B60C7}"/>
              </a:ext>
            </a:extLst>
          </p:cNvPr>
          <p:cNvSpPr/>
          <p:nvPr/>
        </p:nvSpPr>
        <p:spPr>
          <a:xfrm>
            <a:off x="577296" y="3082759"/>
            <a:ext cx="1937716" cy="2958446"/>
          </a:xfrm>
          <a:prstGeom prst="rect">
            <a:avLst/>
          </a:prstGeom>
          <a:solidFill>
            <a:sysClr val="windowText" lastClr="000000">
              <a:lumMod val="50000"/>
              <a:lumOff val="50000"/>
            </a:sysClr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/>
            <a:r>
              <a:rPr lang="ko-KR" altLang="en-US" sz="14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schemeClr val="bg1"/>
                </a:solidFill>
                <a:ea typeface="맑은 고딕" pitchFamily="50" charset="-127"/>
              </a:rPr>
              <a:t>개발과 병행수행에 따른 제약사항</a:t>
            </a:r>
          </a:p>
        </p:txBody>
      </p:sp>
    </p:spTree>
    <p:extLst>
      <p:ext uri="{BB962C8B-B14F-4D97-AF65-F5344CB8AC3E}">
        <p14:creationId xmlns:p14="http://schemas.microsoft.com/office/powerpoint/2010/main" val="2899668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456F70A7-39B9-E7B2-273A-0BB3FB7F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  <a:r>
              <a:rPr lang="en-US" altLang="ko-KR" dirty="0"/>
              <a:t>. </a:t>
            </a:r>
            <a:r>
              <a:rPr lang="ko-KR" altLang="en-US" dirty="0"/>
              <a:t>단위 테스트 검증 내용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EF8C758-692C-BF76-847C-FCA9D5A6968F}"/>
              </a:ext>
            </a:extLst>
          </p:cNvPr>
          <p:cNvGraphicFramePr>
            <a:graphicFrameLocks noGrp="1"/>
          </p:cNvGraphicFramePr>
          <p:nvPr/>
        </p:nvGraphicFramePr>
        <p:xfrm>
          <a:off x="419100" y="868239"/>
          <a:ext cx="9070976" cy="5513089"/>
        </p:xfrm>
        <a:graphic>
          <a:graphicData uri="http://schemas.openxmlformats.org/drawingml/2006/table">
            <a:tbl>
              <a:tblPr/>
              <a:tblGrid>
                <a:gridCol w="1691212">
                  <a:extLst>
                    <a:ext uri="{9D8B030D-6E8A-4147-A177-3AD203B41FA5}">
                      <a16:colId xmlns:a16="http://schemas.microsoft.com/office/drawing/2014/main" val="1539869918"/>
                    </a:ext>
                  </a:extLst>
                </a:gridCol>
                <a:gridCol w="7379764">
                  <a:extLst>
                    <a:ext uri="{9D8B030D-6E8A-4147-A177-3AD203B41FA5}">
                      <a16:colId xmlns:a16="http://schemas.microsoft.com/office/drawing/2014/main" val="4096295992"/>
                    </a:ext>
                  </a:extLst>
                </a:gridCol>
              </a:tblGrid>
              <a:tr h="379861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테스트 항목</a:t>
                      </a:r>
                    </a:p>
                  </a:txBody>
                  <a:tcPr marL="35998" marR="35998" marT="36004" marB="36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주요 검증 사항</a:t>
                      </a:r>
                    </a:p>
                  </a:txBody>
                  <a:tcPr marL="35998" marR="35998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431173"/>
                  </a:ext>
                </a:extLst>
              </a:tr>
              <a:tr h="516663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데이터 </a:t>
                      </a:r>
                      <a:r>
                        <a:rPr lang="ko-KR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조작 정확성</a:t>
                      </a:r>
                      <a:r>
                        <a:rPr 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/>
                      </a:r>
                      <a:br>
                        <a:rPr 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</a:br>
                      <a:r>
                        <a:rPr 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</a:t>
                      </a:r>
                      <a:r>
                        <a:rPr lang="ko-KR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입력</a:t>
                      </a:r>
                      <a:r>
                        <a:rPr 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/</a:t>
                      </a:r>
                      <a:r>
                        <a:rPr lang="ko-KR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수정</a:t>
                      </a:r>
                      <a:r>
                        <a:rPr 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/</a:t>
                      </a:r>
                      <a:r>
                        <a:rPr lang="ko-KR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삭제</a:t>
                      </a:r>
                      <a:r>
                        <a:rPr 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68580" marR="6858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화면 상에서 업무를 처리한 후 이에 대한 값이 생성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수정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삭제 되었을 때 데이터 처리 결과가 제대로 반영되는지를 검증함</a:t>
                      </a:r>
                    </a:p>
                  </a:txBody>
                  <a:tcPr marL="68580" marR="68580" marT="36195" marB="36195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279622"/>
                  </a:ext>
                </a:extLst>
              </a:tr>
              <a:tr h="516663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계산의 정확성</a:t>
                      </a:r>
                    </a:p>
                  </a:txBody>
                  <a:tcPr marL="68580" marR="6858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계산을 수행하여 결과값을 특정 기능에 전달하거나 화면에 나타내는 경우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계산식에 따라 정확하게 계산을 수행하는 지를 검증함</a:t>
                      </a:r>
                    </a:p>
                  </a:txBody>
                  <a:tcPr marL="68580" marR="68580" marT="36195" marB="36195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688027"/>
                  </a:ext>
                </a:extLst>
              </a:tr>
              <a:tr h="511096">
                <a:tc row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입력</a:t>
                      </a:r>
                      <a:r>
                        <a:rPr lang="en-US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Validation</a:t>
                      </a:r>
                      <a:endParaRPr lang="ko-KR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68580" marR="6858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입력 창에서 요구하는 특정 형식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예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숫자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문자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일자 표시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이 있는 경우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입력 형식이 올바른 지를 검증함</a:t>
                      </a:r>
                    </a:p>
                  </a:txBody>
                  <a:tcPr marL="68580" marR="68580" marT="36195" marB="36195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9725"/>
                  </a:ext>
                </a:extLst>
              </a:tr>
              <a:tr h="5110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부적절한 입력 또는 업데이트를 허용 하는가 검증</a:t>
                      </a:r>
                    </a:p>
                  </a:txBody>
                  <a:tcPr marL="68580" marR="68580" marT="36195" marB="36195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736825"/>
                  </a:ext>
                </a:extLst>
              </a:tr>
              <a:tr h="51109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데이터 조회</a:t>
                      </a:r>
                    </a:p>
                  </a:txBody>
                  <a:tcPr marL="68580" marR="6858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DB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에 저장된 내용을 어떤 조건을 부여하여 조회하고자 할 때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이의 값이 올바르게 출력되는 지의 기능을 검증함</a:t>
                      </a:r>
                    </a:p>
                  </a:txBody>
                  <a:tcPr marL="68580" marR="68580" marT="36195" marB="36195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215139"/>
                  </a:ext>
                </a:extLst>
              </a:tr>
              <a:tr h="516663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메시지</a:t>
                      </a:r>
                    </a:p>
                  </a:txBody>
                  <a:tcPr marL="68580" marR="6858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시스템에서 특정 기능이 처리되면서 결과에 대한 통보 및 경고나 에러 사항에 대한 내용을 올바르게 출력하는지를 검증함</a:t>
                      </a:r>
                    </a:p>
                  </a:txBody>
                  <a:tcPr marL="68580" marR="68580" marT="36195" marB="36195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162008"/>
                  </a:ext>
                </a:extLst>
              </a:tr>
              <a:tr h="51109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표준 준수</a:t>
                      </a:r>
                    </a:p>
                  </a:txBody>
                  <a:tcPr marL="68580" marR="6858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개발표준정의서에 따라 시스템의 각 구성 요소들이 구현되어 있는지를 검증함</a:t>
                      </a:r>
                    </a:p>
                  </a:txBody>
                  <a:tcPr marL="68580" marR="68580" marT="36195" marB="36195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985934"/>
                  </a:ext>
                </a:extLst>
              </a:tr>
              <a:tr h="51109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사용 용이성</a:t>
                      </a:r>
                    </a:p>
                  </a:txBody>
                  <a:tcPr marL="68580" marR="6858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화면 구성의 일관성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메시지 처리의 일관성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도움말 기능 등</a:t>
                      </a:r>
                    </a:p>
                  </a:txBody>
                  <a:tcPr marL="68580" marR="68580" marT="36195" marB="36195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547310"/>
                  </a:ext>
                </a:extLst>
              </a:tr>
              <a:tr h="51109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화면</a:t>
                      </a:r>
                      <a:r>
                        <a:rPr lang="en-US" altLang="ko-KR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기능</a:t>
                      </a:r>
                      <a:r>
                        <a:rPr lang="en-US" altLang="ko-KR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구성</a:t>
                      </a:r>
                    </a:p>
                  </a:txBody>
                  <a:tcPr marL="68580" marR="6858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화면 내 구성 항목의 누락 또는 오타 등이 없는지를 검증함</a:t>
                      </a:r>
                    </a:p>
                  </a:txBody>
                  <a:tcPr marL="68580" marR="68580" marT="36195" marB="36195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266465"/>
                  </a:ext>
                </a:extLst>
              </a:tr>
              <a:tr h="516663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sz="12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오류 처리 및 복구</a:t>
                      </a:r>
                    </a:p>
                  </a:txBody>
                  <a:tcPr marL="68580" marR="6858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검색 창이나 데이터 입력 창에서 부적절한</a:t>
                      </a:r>
                      <a:r>
                        <a:rPr kumimoji="1" 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(invalid) </a:t>
                      </a:r>
                      <a:r>
                        <a:rPr kumimoji="1" lang="ko-KR" altLang="en-US" sz="120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데이터 값을 넣었을 때 적절한 오류메시지가 뜨고 오류 처리를 하는 가를 검증</a:t>
                      </a:r>
                    </a:p>
                  </a:txBody>
                  <a:tcPr marL="68580" marR="68580" marT="36195" marB="36195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30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3587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26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9631E-38EF-5562-B21C-FCB338DC7D4B}"/>
              </a:ext>
            </a:extLst>
          </p:cNvPr>
          <p:cNvSpPr txBox="1">
            <a:spLocks/>
          </p:cNvSpPr>
          <p:nvPr/>
        </p:nvSpPr>
        <p:spPr bwMode="auto">
          <a:xfrm>
            <a:off x="0" y="152696"/>
            <a:ext cx="9906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733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733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733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733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733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95285" algn="l" rtl="0" fontAlgn="base" latinLnBrk="1">
              <a:spcBef>
                <a:spcPct val="0"/>
              </a:spcBef>
              <a:spcAft>
                <a:spcPct val="0"/>
              </a:spcAft>
              <a:defRPr sz="1517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90570" algn="l" rtl="0" fontAlgn="base" latinLnBrk="1">
              <a:spcBef>
                <a:spcPct val="0"/>
              </a:spcBef>
              <a:spcAft>
                <a:spcPct val="0"/>
              </a:spcAft>
              <a:defRPr sz="1517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485854" algn="l" rtl="0" fontAlgn="base" latinLnBrk="1">
              <a:spcBef>
                <a:spcPct val="0"/>
              </a:spcBef>
              <a:spcAft>
                <a:spcPct val="0"/>
              </a:spcAft>
              <a:defRPr sz="1517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981139" algn="l" rtl="0" fontAlgn="base" latinLnBrk="1">
              <a:spcBef>
                <a:spcPct val="0"/>
              </a:spcBef>
              <a:spcAft>
                <a:spcPct val="0"/>
              </a:spcAft>
              <a:defRPr sz="1517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/>
            <a:r>
              <a:rPr kumimoji="0" lang="en-US" altLang="ko-KR" sz="2000"/>
              <a:t>&lt;</a:t>
            </a:r>
            <a:r>
              <a:rPr kumimoji="0" lang="ko-KR" altLang="en-US" sz="2000"/>
              <a:t>작성 가이드</a:t>
            </a:r>
            <a:r>
              <a:rPr kumimoji="0" lang="en-US" altLang="ko-KR" sz="2000"/>
              <a:t>&gt;</a:t>
            </a:r>
            <a:endParaRPr kumimoji="0" lang="ko-KR" altLang="en-US" sz="200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A7D4468-88C8-0C08-38DB-C0FE5B7D5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6" y="800708"/>
            <a:ext cx="8954099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pPr marL="0" indent="0" eaLnBrk="1" hangingPunct="1">
              <a:lnSpc>
                <a:spcPct val="150000"/>
              </a:lnSpc>
              <a:defRPr/>
            </a:pP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■ 정의 및 용도</a:t>
            </a:r>
            <a:endParaRPr lang="en-US" altLang="ko-KR" sz="1100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58775" indent="-174625"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기능의 정상 작동 및 품질을 점검</a:t>
            </a:r>
            <a:endParaRPr lang="en-US" altLang="ko-KR" sz="1100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58775" indent="-174625"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프로그램에 대해 테스트를 진행하여 기능적 결함을 찾아 내고 조치</a:t>
            </a:r>
            <a:endParaRPr lang="en-US" altLang="ko-KR" sz="1100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58775" indent="-174625"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단위 테스트 시나리오를 기준으로 체계적인 테스트 및 검증</a:t>
            </a:r>
            <a:endParaRPr lang="en-US" altLang="ko-KR" sz="1100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58775" indent="-174625"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endParaRPr lang="en-US" altLang="ko-KR" sz="9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eaLnBrk="1" hangingPunct="1">
              <a:lnSpc>
                <a:spcPct val="150000"/>
              </a:lnSpc>
              <a:defRPr/>
            </a:pP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■ 절차 설명</a:t>
            </a:r>
            <a:endParaRPr lang="en-US" altLang="ko-KR" sz="1200" b="1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58775" marR="0" lvl="1" indent="-174625" defTabSz="914400" eaLnBrk="1" hangingPunct="1">
              <a:lnSpc>
                <a:spcPct val="150000"/>
              </a:lnSpc>
              <a:spcBef>
                <a:spcPct val="20000"/>
              </a:spcBef>
              <a:buClrTx/>
              <a:buSzTx/>
              <a:buFontTx/>
              <a:buChar char="•"/>
              <a:tabLst/>
              <a:defRPr/>
            </a:pPr>
            <a:r>
              <a:rPr lang="ko-KR" altLang="en-US" sz="11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사전 준비 사항</a:t>
            </a:r>
            <a: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/>
            </a:r>
            <a:b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단위 </a:t>
            </a: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 시나리오 작성 및 검토</a:t>
            </a:r>
            <a: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/>
            </a:r>
            <a:b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테스트 환경 구축</a:t>
            </a:r>
            <a:endParaRPr lang="en-US" altLang="ko-KR" sz="1100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58775" marR="0" lvl="1" indent="-174625" defTabSz="914400" eaLnBrk="1" hangingPunct="1">
              <a:lnSpc>
                <a:spcPct val="150000"/>
              </a:lnSpc>
              <a:spcBef>
                <a:spcPct val="20000"/>
              </a:spcBef>
              <a:buClrTx/>
              <a:buSzTx/>
              <a:buFontTx/>
              <a:buChar char="•"/>
              <a:tabLst/>
              <a:defRPr/>
            </a:pPr>
            <a:endParaRPr kumimoji="1" lang="en-US" altLang="ko-KR" sz="500" b="0" i="0" u="none" strike="noStrike" kern="1200" cap="none" spc="-100" normalizeH="0" baseline="0" noProof="0" dirty="0">
              <a:ln>
                <a:solidFill>
                  <a:srgbClr val="0C376A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8775" marR="0" lvl="1" indent="-174625" algn="l" defTabSz="914400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ko-KR" altLang="en-US" sz="1100" b="1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점검 방법</a:t>
            </a:r>
            <a: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/>
            </a:r>
            <a:b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개발자 또는 담당</a:t>
            </a:r>
            <a: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</a:t>
            </a:r>
            <a:r>
              <a:rPr kumimoji="1" lang="ko-KR" altLang="en-US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프로그램 개발 완료 후 시나리오를 기반으로 테스트 수행 후 단위 테스트 결과서 작성 및 테스트결과 증빙</a:t>
            </a:r>
            <a: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/>
            </a:r>
            <a:b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품질담당자는 개발팀의 </a:t>
            </a: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테스트 결과를 확인하고</a:t>
            </a:r>
            <a:r>
              <a:rPr lang="en-US" altLang="ko-KR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시나리오를 기반으로 테스트 수행 후 결함 발생시 개발팀에 피드백</a:t>
            </a:r>
            <a: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/>
            </a:r>
            <a:b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개발팀은 </a:t>
            </a: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결함조치 후 품질담당자에게 테스트 재 요청 </a:t>
            </a:r>
            <a:r>
              <a:rPr lang="en-US" altLang="ko-KR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결함 조치 완료 시 까지 테스트 반복</a:t>
            </a:r>
            <a:r>
              <a:rPr lang="en-US" altLang="ko-KR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358775" marR="0" lvl="1" indent="-174625" algn="l" defTabSz="914400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ko-KR" sz="500" b="0" i="0" u="none" strike="noStrike" kern="1200" cap="none" spc="-100" normalizeH="0" baseline="0" noProof="0" dirty="0">
              <a:ln>
                <a:solidFill>
                  <a:srgbClr val="0C376A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8775" marR="0" lvl="1" indent="-174625" defTabSz="914400" eaLnBrk="1" hangingPunct="1">
              <a:lnSpc>
                <a:spcPct val="150000"/>
              </a:lnSpc>
              <a:spcBef>
                <a:spcPct val="20000"/>
              </a:spcBef>
              <a:buClrTx/>
              <a:buSzTx/>
              <a:buFontTx/>
              <a:buChar char="•"/>
              <a:tabLst/>
              <a:defRPr/>
            </a:pPr>
            <a:r>
              <a:rPr lang="ko-KR" altLang="en-US" sz="11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계획서 작성시 포함 내용</a:t>
            </a:r>
            <a:endParaRPr lang="en-US" altLang="ko-KR" sz="1100" b="1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61950" marR="0" lvl="1" indent="0" defTabSz="914400" eaLnBrk="1" hangingPunct="1">
              <a:lnSpc>
                <a:spcPct val="150000"/>
              </a:lnSpc>
              <a:spcBef>
                <a:spcPct val="20000"/>
              </a:spcBef>
              <a:buClrTx/>
              <a:buSzTx/>
              <a:tabLst/>
              <a:defRPr/>
            </a:pPr>
            <a: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kumimoji="1" lang="ko-KR" altLang="en-US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테스트 절차</a:t>
            </a:r>
            <a: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테스트 조직</a:t>
            </a:r>
            <a:endParaRPr lang="en-US" altLang="ko-KR" sz="1100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61950" marR="0" lvl="1" indent="0" defTabSz="914400" eaLnBrk="1" hangingPunct="1">
              <a:lnSpc>
                <a:spcPct val="150000"/>
              </a:lnSpc>
              <a:spcBef>
                <a:spcPct val="20000"/>
              </a:spcBef>
              <a:buClrTx/>
              <a:buSzTx/>
              <a:tabLst/>
              <a:defRPr/>
            </a:pPr>
            <a: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kumimoji="1" lang="ko-KR" altLang="en-US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테스트 조직</a:t>
            </a:r>
            <a:endParaRPr lang="en-US" altLang="ko-KR" sz="1100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61950" marR="0" lvl="1" indent="0" defTabSz="914400" eaLnBrk="1" hangingPunct="1">
              <a:lnSpc>
                <a:spcPct val="150000"/>
              </a:lnSpc>
              <a:spcBef>
                <a:spcPct val="20000"/>
              </a:spcBef>
              <a:buClrTx/>
              <a:buSzTx/>
              <a:tabLst/>
              <a:defRPr/>
            </a:pPr>
            <a:r>
              <a:rPr kumimoji="1" lang="en-US" altLang="ko-KR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r>
              <a:rPr lang="ko-KR" altLang="en-US" sz="1100" spc="-10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kumimoji="1" lang="ko-KR" altLang="en-US" sz="1100" b="0" i="0" u="none" strike="noStrike" kern="1200" cap="none" spc="-100" normalizeH="0" baseline="0" noProof="0" dirty="0">
                <a:ln>
                  <a:solidFill>
                    <a:srgbClr val="0C376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테스트 결과</a:t>
            </a:r>
            <a:endParaRPr lang="en-US" altLang="ko-KR" sz="1100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61950" marR="0" lvl="1" indent="0" defTabSz="914400" eaLnBrk="1" hangingPunct="1">
              <a:lnSpc>
                <a:spcPct val="150000"/>
              </a:lnSpc>
              <a:spcBef>
                <a:spcPct val="20000"/>
              </a:spcBef>
              <a:buClrTx/>
              <a:buSzTx/>
              <a:tabLst/>
              <a:defRPr/>
            </a:pPr>
            <a:endParaRPr lang="en-US" altLang="ko-KR" sz="1100" spc="-100" dirty="0">
              <a:ln>
                <a:solidFill>
                  <a:srgbClr val="0C376A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74118C-A731-E3E0-18D1-BE37DE916426}"/>
              </a:ext>
            </a:extLst>
          </p:cNvPr>
          <p:cNvSpPr/>
          <p:nvPr/>
        </p:nvSpPr>
        <p:spPr>
          <a:xfrm>
            <a:off x="415924" y="764704"/>
            <a:ext cx="9069287" cy="576064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E00E4-B0A8-DDAC-A2B9-8B5F208AB12D}"/>
              </a:ext>
            </a:extLst>
          </p:cNvPr>
          <p:cNvSpPr txBox="1"/>
          <p:nvPr/>
        </p:nvSpPr>
        <p:spPr>
          <a:xfrm>
            <a:off x="5529065" y="872494"/>
            <a:ext cx="3916560" cy="1159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sz="1200" b="1" spc="-100" dirty="0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■ 관련 산출물</a:t>
            </a:r>
            <a:endParaRPr lang="en-US" altLang="ko-KR" sz="1200" b="1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58775" lvl="1" indent="-174625" eaLnBrk="1" hangingPunct="1">
              <a:lnSpc>
                <a:spcPct val="110000"/>
              </a:lnSpc>
              <a:spcBef>
                <a:spcPct val="20000"/>
              </a:spcBef>
              <a:buFontTx/>
              <a:buChar char="•"/>
            </a:pPr>
            <a:r>
              <a:rPr lang="ko-KR" altLang="en-US" sz="1100" spc="-100" dirty="0" err="1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총괄테스트계획서</a:t>
            </a:r>
            <a:endParaRPr lang="en-US" altLang="ko-KR" sz="1100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58775" lvl="1" indent="-174625" eaLnBrk="1" hangingPunct="1">
              <a:lnSpc>
                <a:spcPct val="110000"/>
              </a:lnSpc>
              <a:spcBef>
                <a:spcPct val="20000"/>
              </a:spcBef>
              <a:buFontTx/>
              <a:buChar char="•"/>
            </a:pPr>
            <a:r>
              <a:rPr lang="ko-KR" altLang="en-US" sz="1100" spc="-100" dirty="0" err="1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단위테스트시나리오</a:t>
            </a:r>
            <a:endParaRPr lang="en-US" altLang="ko-KR" sz="1100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58775" lvl="1" indent="-174625" eaLnBrk="1" hangingPunct="1">
              <a:lnSpc>
                <a:spcPct val="110000"/>
              </a:lnSpc>
              <a:spcBef>
                <a:spcPct val="20000"/>
              </a:spcBef>
              <a:buFontTx/>
              <a:buChar char="•"/>
            </a:pPr>
            <a:r>
              <a:rPr lang="ko-KR" altLang="en-US" sz="1100" spc="-100" dirty="0" err="1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단위테스트결과서</a:t>
            </a:r>
            <a:endParaRPr lang="en-US" altLang="ko-KR" sz="1100" spc="-100" dirty="0">
              <a:ln>
                <a:solidFill>
                  <a:srgbClr val="0C376A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58775" lvl="1" indent="-174625" eaLnBrk="1" hangingPunct="1">
              <a:lnSpc>
                <a:spcPct val="110000"/>
              </a:lnSpc>
              <a:spcBef>
                <a:spcPct val="20000"/>
              </a:spcBef>
              <a:buFontTx/>
              <a:buChar char="•"/>
            </a:pPr>
            <a:r>
              <a:rPr lang="ko-KR" altLang="en-US" sz="1100" spc="-100" dirty="0" err="1">
                <a:ln>
                  <a:solidFill>
                    <a:srgbClr val="0C376A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단위테스트증빙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480728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3DC77A828EE2C4D81AF024F460569B5" ma:contentTypeVersion="1" ma:contentTypeDescription="새 문서를 만듭니다." ma:contentTypeScope="" ma:versionID="cc9d5630a70d8196d048ee69f0fc4281">
  <xsd:schema xmlns:xsd="http://www.w3.org/2001/XMLSchema" xmlns:xs="http://www.w3.org/2001/XMLSchema" xmlns:p="http://schemas.microsoft.com/office/2006/metadata/properties" xmlns:ns2="38401c30-03ba-420f-896f-36299c68a925" targetNamespace="http://schemas.microsoft.com/office/2006/metadata/properties" ma:root="true" ma:fieldsID="f52a3d49948d89f7fa0004adad49ab67" ns2:_="">
    <xsd:import namespace="38401c30-03ba-420f-896f-36299c68a92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401c30-03ba-420f-896f-36299c68a92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문서 ID 값" ma:description="이 항목에 할당된 문서 ID 값입니다." ma:internalName="_dlc_DocId" ma:readOnly="true">
      <xsd:simpleType>
        <xsd:restriction base="dms:Text"/>
      </xsd:simpleType>
    </xsd:element>
    <xsd:element name="_dlc_DocIdUrl" ma:index="9" nillable="true" ma:displayName="문서 ID" ma:description="이 문서에 대한 영구 링크입니다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영구 ID" ma:description="추가 시 ID를 유지합니다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LongProperties xmlns="http://schemas.microsoft.com/office/2006/metadata/longProperties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880D073E-B96D-419D-A08A-BEEB1D2141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401c30-03ba-420f-896f-36299c68a9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C7F5794-410F-4B53-A605-F79AEA507B76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474891BC-C640-43D5-8175-33BC5943071B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1BDA910-AE65-418B-9550-F66A29C61E75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38401c30-03ba-420f-896f-36299c68a925"/>
    <ds:schemaRef ds:uri="http://purl.org/dc/dcmitype/"/>
  </ds:schemaRefs>
</ds:datastoreItem>
</file>

<file path=customXml/itemProps5.xml><?xml version="1.0" encoding="utf-8"?>
<ds:datastoreItem xmlns:ds="http://schemas.openxmlformats.org/officeDocument/2006/customXml" ds:itemID="{F5DA953D-B00F-4D53-B01B-5A1C523FA2C0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e6c9ec09-8430-4a99-bf15-242bc089b409}" enabled="0" method="" siteId="{e6c9ec09-8430-4a99-bf15-242bc089b40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Words>1534</Words>
  <Application>Microsoft Office PowerPoint</Application>
  <PresentationFormat>A4 용지(210x297mm)</PresentationFormat>
  <Paragraphs>396</Paragraphs>
  <Slides>16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7" baseType="lpstr">
      <vt:lpstr>Helvetica Neue Light</vt:lpstr>
      <vt:lpstr>Helvetica Neue Medium</vt:lpstr>
      <vt:lpstr>HY헤드라인M</vt:lpstr>
      <vt:lpstr>KT서체 Medium</vt:lpstr>
      <vt:lpstr>굴림</vt:lpstr>
      <vt:lpstr>나눔고딕 Bold</vt:lpstr>
      <vt:lpstr>맑은 고딕</vt:lpstr>
      <vt:lpstr>Arial</vt:lpstr>
      <vt:lpstr>Times New Roman</vt:lpstr>
      <vt:lpstr>Wingdings</vt:lpstr>
      <vt:lpstr>2_Office 테마</vt:lpstr>
      <vt:lpstr>PowerPoint 프레젠테이션</vt:lpstr>
      <vt:lpstr>개정이력</vt:lpstr>
      <vt:lpstr>목차</vt:lpstr>
      <vt:lpstr>1. 단위 테스트 개요</vt:lpstr>
      <vt:lpstr>1. 단위 테스트 개요</vt:lpstr>
      <vt:lpstr>1. 단위 테스트 개요</vt:lpstr>
      <vt:lpstr>2. 단위 테스트 수행 계획</vt:lpstr>
      <vt:lpstr>2. 단위 테스트 수행계획</vt:lpstr>
      <vt:lpstr>2. 단위 테스트 수행계획</vt:lpstr>
      <vt:lpstr>2. 단위 테스트 수행계획</vt:lpstr>
      <vt:lpstr>3. 단위 테스트 관리</vt:lpstr>
      <vt:lpstr>3. 단위 테스트 관리</vt:lpstr>
      <vt:lpstr>3. 단위 테스트 관리</vt:lpstr>
      <vt:lpstr>별첨. 단위 테스트 검증 내용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Owner</dc:creator>
  <cp:lastModifiedBy>LSW</cp:lastModifiedBy>
  <cp:revision>1054</cp:revision>
  <cp:lastPrinted>2024-06-03T00:43:09Z</cp:lastPrinted>
  <dcterms:created xsi:type="dcterms:W3CDTF">2011-01-04T12:32:05Z</dcterms:created>
  <dcterms:modified xsi:type="dcterms:W3CDTF">2026-03-12T12:09:10Z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">
    <vt:lpwstr>FCNHZ7S6XMZC-6-2714</vt:lpwstr>
  </property>
  <property fmtid="{D5CDD505-2E9C-101B-9397-08002B2CF9AE}" pid="3" name="_dlc_DocIdItemGuid">
    <vt:lpwstr>ab86fa6f-0ef5-4b90-9ff9-987649a96697</vt:lpwstr>
  </property>
  <property fmtid="{D5CDD505-2E9C-101B-9397-08002B2CF9AE}" pid="4" name="_dlc_DocIdUrl">
    <vt:lpwstr>https://ecm.ktds.co.kr/sites/ECM/_layouts/DocIdRedir.aspx?ID=FCNHZ7S6XMZC-6-2714, FCNHZ7S6XMZC-6-2714</vt:lpwstr>
  </property>
  <property fmtid="{D5CDD505-2E9C-101B-9397-08002B2CF9AE}" pid="5" name="MSIP_Label_b367c47c-7c04-4ffb-b460-0af27cc1564d_SiteId">
    <vt:lpwstr>e6c9ec09-8430-4a99-bf15-242bc089b409</vt:lpwstr>
  </property>
  <property fmtid="{D5CDD505-2E9C-101B-9397-08002B2CF9AE}" pid="6" name="MSIP_Label_b367c47c-7c04-4ffb-b460-0af27cc1564d_SetDate">
    <vt:lpwstr>2025-06-17T02:18:48Z</vt:lpwstr>
  </property>
  <property fmtid="{D5CDD505-2E9C-101B-9397-08002B2CF9AE}" pid="7" name="MSIP_Label_b367c47c-7c04-4ffb-b460-0af27cc1564d_Name">
    <vt:lpwstr>KT</vt:lpwstr>
  </property>
  <property fmtid="{D5CDD505-2E9C-101B-9397-08002B2CF9AE}" pid="8" name="MSIP_Label_b367c47c-7c04-4ffb-b460-0af27cc1564d_Method">
    <vt:lpwstr>Privileged</vt:lpwstr>
  </property>
  <property fmtid="{D5CDD505-2E9C-101B-9397-08002B2CF9AE}" pid="9" name="MSIP_Label_b367c47c-7c04-4ffb-b460-0af27cc1564d_Enabled">
    <vt:lpwstr>true</vt:lpwstr>
  </property>
  <property fmtid="{D5CDD505-2E9C-101B-9397-08002B2CF9AE}" pid="10" name="MSIP_Label_b367c47c-7c04-4ffb-b460-0af27cc1564d_ContentBits">
    <vt:lpwstr>8</vt:lpwstr>
  </property>
</Properties>
</file>